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81" r:id="rId1"/>
  </p:sldMasterIdLst>
  <p:notesMasterIdLst>
    <p:notesMasterId r:id="rId32"/>
  </p:notesMasterIdLst>
  <p:sldIdLst>
    <p:sldId id="256" r:id="rId2"/>
    <p:sldId id="258" r:id="rId3"/>
    <p:sldId id="259" r:id="rId4"/>
    <p:sldId id="276" r:id="rId5"/>
    <p:sldId id="260" r:id="rId6"/>
    <p:sldId id="288" r:id="rId7"/>
    <p:sldId id="261" r:id="rId8"/>
    <p:sldId id="277" r:id="rId9"/>
    <p:sldId id="262" r:id="rId10"/>
    <p:sldId id="263" r:id="rId11"/>
    <p:sldId id="264" r:id="rId12"/>
    <p:sldId id="265" r:id="rId13"/>
    <p:sldId id="266" r:id="rId14"/>
    <p:sldId id="267" r:id="rId15"/>
    <p:sldId id="269" r:id="rId16"/>
    <p:sldId id="287" r:id="rId17"/>
    <p:sldId id="270" r:id="rId18"/>
    <p:sldId id="271" r:id="rId19"/>
    <p:sldId id="272" r:id="rId20"/>
    <p:sldId id="274" r:id="rId21"/>
    <p:sldId id="278" r:id="rId22"/>
    <p:sldId id="279" r:id="rId23"/>
    <p:sldId id="280" r:id="rId24"/>
    <p:sldId id="281" r:id="rId25"/>
    <p:sldId id="282" r:id="rId26"/>
    <p:sldId id="289" r:id="rId27"/>
    <p:sldId id="283" r:id="rId28"/>
    <p:sldId id="284" r:id="rId29"/>
    <p:sldId id="285" r:id="rId30"/>
    <p:sldId id="286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40201" autoAdjust="0"/>
    <p:restoredTop sz="94660"/>
  </p:normalViewPr>
  <p:slideViewPr>
    <p:cSldViewPr snapToGrid="0">
      <p:cViewPr varScale="1">
        <p:scale>
          <a:sx n="61" d="100"/>
          <a:sy n="61" d="100"/>
        </p:scale>
        <p:origin x="48" y="5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2B4DE9-81C9-4852-89D9-0E90619A333D}" type="datetimeFigureOut">
              <a:rPr lang="fr-FR" smtClean="0"/>
              <a:t>17/01/2024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B7DC71-013E-484F-ABC5-E88435F8AD8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298226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BFF75-99F3-44B4-8F86-505AA92022B2}" type="datetime1">
              <a:rPr lang="en-US" smtClean="0"/>
              <a:t>1/17/2024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Aérodynamique - Ch1 - Rappels de mathématiques et de mécanique des fluides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‹N°›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8979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26C04-F2E0-4E8D-84AD-20B0C8386BF4}" type="datetime1">
              <a:rPr lang="en-US" smtClean="0"/>
              <a:t>1/17/2024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Aérodynamique - Ch1 - Rappels de mathématiques et de mécanique des fluides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434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8547C-2DF7-4F27-A00D-F423125B6B8F}" type="datetime1">
              <a:rPr lang="en-US" smtClean="0"/>
              <a:t>1/17/2024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Aérodynamique - Ch1 - Rappels de mathématiques et de mécanique des fluides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268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5D89B-FBC5-4444-9864-767F6C323362}" type="datetime1">
              <a:rPr lang="en-US" smtClean="0"/>
              <a:t>1/17/2024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Aérodynamique - Ch1 - Rappels de mathématiques et de mécanique des fluides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429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9AC3F-118E-48C4-9E43-6ADFCC198CC7}" type="datetime1">
              <a:rPr lang="en-US" smtClean="0"/>
              <a:t>1/17/2024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Aérodynamique - Ch1 - Rappels de mathématiques et de mécanique des fluides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0342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2DCEB-5F14-4781-BD9E-86B717CC51D0}" type="datetime1">
              <a:rPr lang="en-US" smtClean="0"/>
              <a:t>1/17/2024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Aérodynamique - Ch1 - Rappels de mathématiques et de mécanique des fluides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6076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FC989-0A48-491A-876F-FF8A239E83D7}" type="datetime1">
              <a:rPr lang="en-US" smtClean="0"/>
              <a:t>1/17/2024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Aérodynamique - Ch1 - Rappels de mathématiques et de mécanique des fluides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986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28546-092C-4536-B9FB-5C38E20AAEB9}" type="datetime1">
              <a:rPr lang="en-US" smtClean="0"/>
              <a:t>1/17/2024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Aérodynamique - Ch1 - Rappels de mathématiques et de mécanique des fluides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421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53328-E130-4B30-9559-F2AC1CF29C5B}" type="datetime1">
              <a:rPr lang="en-US" smtClean="0"/>
              <a:t>1/17/2024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Aérodynamique - Ch1 - Rappels de mathématiques et de mécanique des fluides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554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5E284-B405-45CF-A381-3D866A1A5A72}" type="datetime1">
              <a:rPr lang="en-US" smtClean="0"/>
              <a:t>1/17/2024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Aérodynamique - Ch1 - Rappels de mathématiques et de mécanique des fluides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313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46D54-5DE9-4F6D-B24E-F54BE4B70833}" type="datetime1">
              <a:rPr lang="en-US" smtClean="0"/>
              <a:t>1/17/2024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Aérodynamique - Ch1 - Rappels de mathématiques et de mécanique des fluides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4141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220D3-B1C7-4F68-A599-EB629BB02834}" type="datetime1">
              <a:rPr lang="en-US" smtClean="0"/>
              <a:t>1/17/2024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Aérodynamique - Ch1 - Rappels de mathématiques et de mécanique des fluides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‹N°›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593047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C4AB9-6FA6-4E11-8701-267EEA1CC499}" type="datetime1">
              <a:rPr lang="en-US" smtClean="0"/>
              <a:t>1/17/2024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Aérodynamique - Ch1 - Rappels de mathématiques et de mécanique des fluides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0467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B613E-61FD-4886-A6AE-A3B0CC1CC7D0}" type="datetime1">
              <a:rPr lang="en-US" smtClean="0"/>
              <a:t>1/17/2024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Aérodynamique - Ch1 - Rappels de mathématiques et de mécanique des fluides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‹N°›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653375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8DAD9-1C8F-4FA1-B151-CE5642F7603D}" type="datetime1">
              <a:rPr lang="en-US" smtClean="0"/>
              <a:t>1/17/2024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Aérodynamique - Ch1 - Rappels de mathématiques et de mécanique des fluides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3631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8FE9A-5AFE-4A55-86AE-00BCEBF86C1E}" type="datetime1">
              <a:rPr lang="en-US" smtClean="0"/>
              <a:t>1/17/2024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Aérodynamique - Ch1 - Rappels de mathématiques et de mécanique des fluides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7750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CB090-F2E1-444D-B07F-5C656CC0ACB8}" type="datetime1">
              <a:rPr lang="en-US" smtClean="0"/>
              <a:t>1/17/2024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Aérodynamique - Ch1 - Rappels de mathématiques et de mécanique des fluides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676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2091A5E-B6BF-4E84-ACEB-63AFDDAFBC98}" type="datetime1">
              <a:rPr lang="en-US" smtClean="0"/>
              <a:t>1/17/2024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r>
              <a:rPr lang="fr-FR"/>
              <a:t>Aérodynamique - Ch1 - Rappels de mathématiques et de mécanique des fluides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91F18EF7-BE1E-4ECB-84D4-67C2B4D8F09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76333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82" r:id="rId1"/>
    <p:sldLayoutId id="2147483783" r:id="rId2"/>
    <p:sldLayoutId id="2147483784" r:id="rId3"/>
    <p:sldLayoutId id="2147483785" r:id="rId4"/>
    <p:sldLayoutId id="2147483786" r:id="rId5"/>
    <p:sldLayoutId id="2147483787" r:id="rId6"/>
    <p:sldLayoutId id="2147483788" r:id="rId7"/>
    <p:sldLayoutId id="2147483789" r:id="rId8"/>
    <p:sldLayoutId id="2147483790" r:id="rId9"/>
    <p:sldLayoutId id="2147483791" r:id="rId10"/>
    <p:sldLayoutId id="2147483792" r:id="rId11"/>
    <p:sldLayoutId id="2147483793" r:id="rId12"/>
    <p:sldLayoutId id="2147483794" r:id="rId13"/>
    <p:sldLayoutId id="2147483795" r:id="rId14"/>
    <p:sldLayoutId id="2147483796" r:id="rId15"/>
    <p:sldLayoutId id="2147483797" r:id="rId16"/>
    <p:sldLayoutId id="2147483798" r:id="rId17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0.png"/><Relationship Id="rId4" Type="http://schemas.openxmlformats.org/officeDocument/2006/relationships/image" Target="../media/image13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methodephysique.fr/coordonnees_cartesiennes_cylindriques_spheriques/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0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0.png"/><Relationship Id="rId4" Type="http://schemas.openxmlformats.org/officeDocument/2006/relationships/image" Target="../media/image31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40.png"/><Relationship Id="rId5" Type="http://schemas.openxmlformats.org/officeDocument/2006/relationships/image" Target="../media/image36.png"/><Relationship Id="rId10" Type="http://schemas.openxmlformats.org/officeDocument/2006/relationships/image" Target="../media/image39.png"/><Relationship Id="rId4" Type="http://schemas.openxmlformats.org/officeDocument/2006/relationships/image" Target="../media/image35.png"/><Relationship Id="rId9" Type="http://schemas.openxmlformats.org/officeDocument/2006/relationships/image" Target="../media/image5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2" Type="http://schemas.openxmlformats.org/officeDocument/2006/relationships/image" Target="../media/image6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67.png"/><Relationship Id="rId7" Type="http://schemas.openxmlformats.org/officeDocument/2006/relationships/image" Target="../media/image71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Relationship Id="rId9" Type="http://schemas.openxmlformats.org/officeDocument/2006/relationships/image" Target="../media/image7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3" descr="Mosaïque de formes géométriques colorées">
            <a:extLst>
              <a:ext uri="{FF2B5EF4-FFF2-40B4-BE49-F238E27FC236}">
                <a16:creationId xmlns:a16="http://schemas.microsoft.com/office/drawing/2014/main" id="{8A9F0515-DCAE-C848-504A-44756EB4DA8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15000"/>
          </a:blip>
          <a:srcRect t="17107" b="4222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AD8B6E5E-5D48-75E0-909E-7DD711FF802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fr-FR" dirty="0" err="1"/>
              <a:t>Aerodynamics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095CF61-1933-79B9-340F-819B120CCBE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fr-FR" dirty="0" err="1"/>
              <a:t>Chapter</a:t>
            </a:r>
            <a:r>
              <a:rPr lang="fr-FR" dirty="0"/>
              <a:t> 1 : </a:t>
            </a:r>
            <a:r>
              <a:rPr lang="fr-FR" dirty="0" err="1"/>
              <a:t>Mathematical</a:t>
            </a:r>
            <a:r>
              <a:rPr lang="fr-FR" dirty="0"/>
              <a:t> </a:t>
            </a:r>
            <a:r>
              <a:rPr lang="fr-FR" dirty="0" err="1"/>
              <a:t>tools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52679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nip Diagonal Corner Rectangle 6">
            <a:extLst>
              <a:ext uri="{FF2B5EF4-FFF2-40B4-BE49-F238E27FC236}">
                <a16:creationId xmlns:a16="http://schemas.microsoft.com/office/drawing/2014/main" id="{AD2D45C7-2E37-44FD-AC77-116CD14B9ED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25" y="2"/>
            <a:ext cx="12191075" cy="6857998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002">
            <a:schemeClr val="dk2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30" name="Snip Single Corner Rectangle 17">
            <a:extLst>
              <a:ext uri="{FF2B5EF4-FFF2-40B4-BE49-F238E27FC236}">
                <a16:creationId xmlns:a16="http://schemas.microsoft.com/office/drawing/2014/main" id="{1FF88480-2CF1-4C54-8CE3-2CA9CD9FF89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1"/>
            <a:ext cx="12188825" cy="6857999"/>
          </a:xfrm>
          <a:prstGeom prst="snip1Rect">
            <a:avLst>
              <a:gd name="adj" fmla="val 5000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8AD032B-4A83-065B-9888-6166E18B2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179592"/>
            <a:ext cx="8534400" cy="1507067"/>
          </a:xfrm>
        </p:spPr>
        <p:txBody>
          <a:bodyPr>
            <a:normAutofit/>
          </a:bodyPr>
          <a:lstStyle/>
          <a:p>
            <a:r>
              <a:rPr lang="fr-FR" sz="4000" dirty="0">
                <a:solidFill>
                  <a:schemeClr val="tx2"/>
                </a:solidFill>
              </a:rPr>
              <a:t>Plan</a:t>
            </a:r>
          </a:p>
        </p:txBody>
      </p:sp>
      <p:sp>
        <p:nvSpPr>
          <p:cNvPr id="42" name="Espace réservé du contenu 2">
            <a:extLst>
              <a:ext uri="{FF2B5EF4-FFF2-40B4-BE49-F238E27FC236}">
                <a16:creationId xmlns:a16="http://schemas.microsoft.com/office/drawing/2014/main" id="{CF713C6A-E12E-143D-D76D-D6E050A1F7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1624031"/>
            <a:ext cx="10823577" cy="2245104"/>
          </a:xfrm>
        </p:spPr>
        <p:txBody>
          <a:bodyPr>
            <a:normAutofit/>
          </a:bodyPr>
          <a:lstStyle/>
          <a:p>
            <a:r>
              <a:rPr lang="fr-FR" dirty="0" err="1">
                <a:solidFill>
                  <a:schemeClr val="tx1"/>
                </a:solidFill>
              </a:rPr>
              <a:t>Modelisation</a:t>
            </a:r>
            <a:r>
              <a:rPr lang="fr-FR" dirty="0">
                <a:solidFill>
                  <a:schemeClr val="tx1"/>
                </a:solidFill>
              </a:rPr>
              <a:t> of </a:t>
            </a:r>
            <a:r>
              <a:rPr lang="fr-FR" dirty="0" err="1">
                <a:solidFill>
                  <a:schemeClr val="tx1"/>
                </a:solidFill>
              </a:rPr>
              <a:t>quantities</a:t>
            </a:r>
            <a:endParaRPr lang="fr-FR" dirty="0">
              <a:solidFill>
                <a:schemeClr val="tx1"/>
              </a:solidFill>
            </a:endParaRPr>
          </a:p>
          <a:p>
            <a:r>
              <a:rPr lang="fr-FR" dirty="0" err="1">
                <a:solidFill>
                  <a:schemeClr val="tx1"/>
                </a:solidFill>
              </a:rPr>
              <a:t>Derivatives</a:t>
            </a:r>
            <a:endParaRPr lang="fr-FR" dirty="0">
              <a:solidFill>
                <a:schemeClr val="tx1"/>
              </a:solidFill>
            </a:endParaRPr>
          </a:p>
          <a:p>
            <a:r>
              <a:rPr lang="fr-FR" dirty="0" err="1">
                <a:solidFill>
                  <a:schemeClr val="tx1"/>
                </a:solidFill>
              </a:rPr>
              <a:t>Operators</a:t>
            </a:r>
            <a:endParaRPr lang="fr-FR" dirty="0">
              <a:solidFill>
                <a:schemeClr val="tx1"/>
              </a:solidFill>
            </a:endParaRPr>
          </a:p>
          <a:p>
            <a:r>
              <a:rPr lang="fr-FR" dirty="0" err="1">
                <a:solidFill>
                  <a:schemeClr val="tx1"/>
                </a:solidFill>
              </a:rPr>
              <a:t>Infinitesimal</a:t>
            </a:r>
            <a:r>
              <a:rPr lang="fr-FR" dirty="0">
                <a:solidFill>
                  <a:schemeClr val="tx1"/>
                </a:solidFill>
              </a:rPr>
              <a:t> and </a:t>
            </a:r>
            <a:r>
              <a:rPr lang="fr-FR" dirty="0" err="1">
                <a:solidFill>
                  <a:schemeClr val="tx1"/>
                </a:solidFill>
              </a:rPr>
              <a:t>Integrals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3B03BD6-2501-5717-B1C6-15952A328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2</a:t>
            </a:fld>
            <a:endParaRPr lang="en-US"/>
          </a:p>
        </p:txBody>
      </p:sp>
      <p:sp>
        <p:nvSpPr>
          <p:cNvPr id="8" name="Espace réservé du pied de page 3">
            <a:extLst>
              <a:ext uri="{FF2B5EF4-FFF2-40B4-BE49-F238E27FC236}">
                <a16:creationId xmlns:a16="http://schemas.microsoft.com/office/drawing/2014/main" id="{DE5413C3-A740-272F-FF1E-667AE7900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4212" y="6172200"/>
            <a:ext cx="7543800" cy="365125"/>
          </a:xfrm>
        </p:spPr>
        <p:txBody>
          <a:bodyPr/>
          <a:lstStyle/>
          <a:p>
            <a:r>
              <a:rPr lang="fr-FR" dirty="0" err="1" smtClean="0"/>
              <a:t>Aerodynamics</a:t>
            </a:r>
            <a:r>
              <a:rPr lang="fr-FR" dirty="0" smtClean="0"/>
              <a:t>  </a:t>
            </a:r>
            <a:r>
              <a:rPr lang="fr-FR" dirty="0"/>
              <a:t>- </a:t>
            </a:r>
            <a:r>
              <a:rPr lang="fr-FR" dirty="0" err="1"/>
              <a:t>Chapter</a:t>
            </a:r>
            <a:r>
              <a:rPr lang="fr-FR" dirty="0"/>
              <a:t> 1 – </a:t>
            </a:r>
            <a:r>
              <a:rPr lang="fr-FR" dirty="0" err="1"/>
              <a:t>Mathematical</a:t>
            </a:r>
            <a:r>
              <a:rPr lang="fr-FR" dirty="0"/>
              <a:t> </a:t>
            </a:r>
            <a:r>
              <a:rPr lang="fr-FR" dirty="0" err="1"/>
              <a:t>tools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72252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nip Diagonal Corner Rectangle 6">
            <a:extLst>
              <a:ext uri="{FF2B5EF4-FFF2-40B4-BE49-F238E27FC236}">
                <a16:creationId xmlns:a16="http://schemas.microsoft.com/office/drawing/2014/main" id="{AD2D45C7-2E37-44FD-AC77-116CD14B9ED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25" y="2"/>
            <a:ext cx="12191075" cy="6857998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002">
            <a:schemeClr val="dk2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30" name="Snip Single Corner Rectangle 17">
            <a:extLst>
              <a:ext uri="{FF2B5EF4-FFF2-40B4-BE49-F238E27FC236}">
                <a16:creationId xmlns:a16="http://schemas.microsoft.com/office/drawing/2014/main" id="{1FF88480-2CF1-4C54-8CE3-2CA9CD9FF89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1"/>
            <a:ext cx="12188825" cy="6857999"/>
          </a:xfrm>
          <a:prstGeom prst="snip1Rect">
            <a:avLst>
              <a:gd name="adj" fmla="val 5000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8AD032B-4A83-065B-9888-6166E18B2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179592"/>
            <a:ext cx="10924692" cy="1507067"/>
          </a:xfrm>
        </p:spPr>
        <p:txBody>
          <a:bodyPr>
            <a:normAutofit/>
          </a:bodyPr>
          <a:lstStyle/>
          <a:p>
            <a:r>
              <a:rPr lang="fr-FR" sz="4000" dirty="0" err="1">
                <a:solidFill>
                  <a:schemeClr val="tx2"/>
                </a:solidFill>
              </a:rPr>
              <a:t>Modelisation</a:t>
            </a:r>
            <a:r>
              <a:rPr lang="fr-FR" sz="4000" dirty="0">
                <a:solidFill>
                  <a:schemeClr val="tx2"/>
                </a:solidFill>
              </a:rPr>
              <a:t> of </a:t>
            </a:r>
            <a:r>
              <a:rPr lang="fr-FR" sz="4000" dirty="0" err="1">
                <a:solidFill>
                  <a:schemeClr val="tx2"/>
                </a:solidFill>
              </a:rPr>
              <a:t>quantities</a:t>
            </a:r>
            <a:endParaRPr lang="fr-FR" sz="4000" dirty="0">
              <a:solidFill>
                <a:schemeClr val="tx2"/>
              </a:solidFill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E5413C3-A740-272F-FF1E-667AE7900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 err="1" smtClean="0"/>
              <a:t>Aerodynamics</a:t>
            </a:r>
            <a:r>
              <a:rPr lang="fr-FR" dirty="0" smtClean="0"/>
              <a:t>  </a:t>
            </a:r>
            <a:r>
              <a:rPr lang="fr-FR" dirty="0"/>
              <a:t>- </a:t>
            </a:r>
            <a:r>
              <a:rPr lang="fr-FR" dirty="0" err="1"/>
              <a:t>Chapter</a:t>
            </a:r>
            <a:r>
              <a:rPr lang="fr-FR" dirty="0"/>
              <a:t> 1 – </a:t>
            </a:r>
            <a:r>
              <a:rPr lang="fr-FR" dirty="0" err="1"/>
              <a:t>Mathematical</a:t>
            </a:r>
            <a:r>
              <a:rPr lang="fr-FR" dirty="0"/>
              <a:t> </a:t>
            </a:r>
            <a:r>
              <a:rPr lang="fr-FR" dirty="0" err="1"/>
              <a:t>tools</a:t>
            </a:r>
            <a:endParaRPr lang="en-US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3B03BD6-2501-5717-B1C6-15952A328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4EC5A484-8EDE-2B49-0F29-C6317D3156BC}"/>
                  </a:ext>
                </a:extLst>
              </p:cNvPr>
              <p:cNvSpPr txBox="1"/>
              <p:nvPr/>
            </p:nvSpPr>
            <p:spPr>
              <a:xfrm>
                <a:off x="375787" y="3699018"/>
                <a:ext cx="1112330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fr-FR" sz="2800" dirty="0"/>
                  <a:t> 	</a:t>
                </a:r>
                <a:r>
                  <a:rPr lang="fr-FR" sz="2800" dirty="0" err="1">
                    <a:solidFill>
                      <a:srgbClr val="FF0000"/>
                    </a:solidFill>
                  </a:rPr>
                  <a:t>Scalar</a:t>
                </a:r>
                <a:r>
                  <a:rPr lang="fr-FR" sz="2800" dirty="0">
                    <a:solidFill>
                      <a:srgbClr val="FF0000"/>
                    </a:solidFill>
                  </a:rPr>
                  <a:t>				</a:t>
                </a:r>
                <a14:m>
                  <m:oMath xmlns:m="http://schemas.openxmlformats.org/officeDocument/2006/math">
                    <m:r>
                      <a:rPr lang="fr-FR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	</m:t>
                    </m:r>
                    <m:r>
                      <a:rPr lang="fr-FR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fr-FR" sz="2800" dirty="0">
                    <a:solidFill>
                      <a:srgbClr val="FF0000"/>
                    </a:solidFill>
                  </a:rPr>
                  <a:t>						</a:t>
                </a:r>
                <a14:m>
                  <m:oMath xmlns:m="http://schemas.openxmlformats.org/officeDocument/2006/math">
                    <m:r>
                      <a:rPr lang="fr-FR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fr-FR" sz="2800" dirty="0">
                    <a:solidFill>
                      <a:srgbClr val="FF0000"/>
                    </a:solidFill>
                  </a:rPr>
                  <a:t>						</a:t>
                </a:r>
                <a14:m>
                  <m:oMath xmlns:m="http://schemas.openxmlformats.org/officeDocument/2006/math">
                    <m:r>
                      <a:rPr lang="fr-FR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endParaRPr lang="fr-FR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4EC5A484-8EDE-2B49-0F29-C6317D3156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787" y="3699018"/>
                <a:ext cx="11123308" cy="523220"/>
              </a:xfrm>
              <a:prstGeom prst="rect">
                <a:avLst/>
              </a:prstGeom>
              <a:blipFill>
                <a:blip r:embed="rId2"/>
                <a:stretch>
                  <a:fillRect l="-987" t="-12791" b="-3139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BA6B2813-1670-48F9-D043-6688583E2215}"/>
                  </a:ext>
                </a:extLst>
              </p:cNvPr>
              <p:cNvSpPr txBox="1"/>
              <p:nvPr/>
            </p:nvSpPr>
            <p:spPr>
              <a:xfrm>
                <a:off x="375787" y="4518168"/>
                <a:ext cx="1112330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fr-FR" sz="2800" dirty="0"/>
                  <a:t> 	</a:t>
                </a:r>
                <a:r>
                  <a:rPr lang="fr-FR" sz="2800" dirty="0" err="1">
                    <a:solidFill>
                      <a:srgbClr val="00B050"/>
                    </a:solidFill>
                  </a:rPr>
                  <a:t>Vector</a:t>
                </a:r>
                <a:r>
                  <a:rPr lang="fr-FR" sz="2800" dirty="0">
                    <a:solidFill>
                      <a:srgbClr val="00B050"/>
                    </a:solidFill>
                  </a:rPr>
                  <a:t>				</a:t>
                </a:r>
                <a14:m>
                  <m:oMath xmlns:m="http://schemas.openxmlformats.org/officeDocument/2006/math">
                    <m:r>
                      <a:rPr lang="fr-FR" sz="28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	</m:t>
                    </m:r>
                    <m:sSup>
                      <m:sSupPr>
                        <m:ctrlPr>
                          <a:rPr lang="fr-FR" sz="28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28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fr-FR" sz="28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fr-FR" sz="2800" dirty="0">
                    <a:solidFill>
                      <a:srgbClr val="00B050"/>
                    </a:solidFill>
                  </a:rPr>
                  <a:t>					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sz="28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28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lang="fr-FR" sz="2800" dirty="0">
                    <a:solidFill>
                      <a:srgbClr val="00B050"/>
                    </a:solidFill>
                  </a:rPr>
                  <a:t>			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8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8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fr-FR" sz="28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fr-FR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BA6B2813-1670-48F9-D043-6688583E22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787" y="4518168"/>
                <a:ext cx="11123308" cy="523220"/>
              </a:xfrm>
              <a:prstGeom prst="rect">
                <a:avLst/>
              </a:prstGeom>
              <a:blipFill>
                <a:blip r:embed="rId3"/>
                <a:stretch>
                  <a:fillRect l="-987" t="-11628" b="-3139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ZoneTexte 7">
                <a:extLst>
                  <a:ext uri="{FF2B5EF4-FFF2-40B4-BE49-F238E27FC236}">
                    <a16:creationId xmlns:a16="http://schemas.microsoft.com/office/drawing/2014/main" id="{4D3CA20C-436B-1417-EF62-E5F1208DDE91}"/>
                  </a:ext>
                </a:extLst>
              </p:cNvPr>
              <p:cNvSpPr txBox="1"/>
              <p:nvPr/>
            </p:nvSpPr>
            <p:spPr>
              <a:xfrm>
                <a:off x="375787" y="5210905"/>
                <a:ext cx="11123308" cy="691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fr-FR" sz="2800" dirty="0"/>
                  <a:t> 	</a:t>
                </a:r>
                <a:r>
                  <a:rPr lang="fr-FR" sz="2800" dirty="0">
                    <a:solidFill>
                      <a:srgbClr val="0070C0"/>
                    </a:solidFill>
                  </a:rPr>
                  <a:t>Matrix			</a:t>
                </a:r>
                <a14:m>
                  <m:oMath xmlns:m="http://schemas.openxmlformats.org/officeDocument/2006/math">
                    <m:r>
                      <a:rPr lang="fr-FR" sz="28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	</m:t>
                    </m:r>
                    <m:sSub>
                      <m:sSubPr>
                        <m:ctrlPr>
                          <a:rPr lang="fr-FR" sz="28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8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fr-FR" sz="28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fr-FR" sz="28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FR" sz="28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fr-FR" sz="28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fr-FR" sz="28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ℝ</m:t>
                    </m:r>
                    <m:r>
                      <a:rPr lang="fr-FR" sz="28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fr-FR" sz="2800" dirty="0">
                    <a:solidFill>
                      <a:srgbClr val="0070C0"/>
                    </a:solidFill>
                  </a:rPr>
                  <a:t>				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sz="28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acc>
                          <m:accPr>
                            <m:chr m:val="⃗"/>
                            <m:ctrlPr>
                              <a:rPr lang="fr-FR" sz="28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sz="28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</m:acc>
                    <m:r>
                      <a:rPr lang="fr-FR" sz="2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2800" dirty="0">
                    <a:solidFill>
                      <a:srgbClr val="0070C0"/>
                    </a:solidFill>
                  </a:rPr>
                  <a:t>			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8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8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fr-FR" sz="28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fr-FR" sz="28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FR" sz="28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fr-FR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ZoneTexte 7">
                <a:extLst>
                  <a:ext uri="{FF2B5EF4-FFF2-40B4-BE49-F238E27FC236}">
                    <a16:creationId xmlns:a16="http://schemas.microsoft.com/office/drawing/2014/main" id="{4D3CA20C-436B-1417-EF62-E5F1208DDE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787" y="5210905"/>
                <a:ext cx="11123308" cy="691664"/>
              </a:xfrm>
              <a:prstGeom prst="rect">
                <a:avLst/>
              </a:prstGeom>
              <a:blipFill>
                <a:blip r:embed="rId4"/>
                <a:stretch>
                  <a:fillRect l="-987" b="-1858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ZoneTexte 10">
            <a:extLst>
              <a:ext uri="{FF2B5EF4-FFF2-40B4-BE49-F238E27FC236}">
                <a16:creationId xmlns:a16="http://schemas.microsoft.com/office/drawing/2014/main" id="{BBC5D3C3-2DBE-452D-C494-283A32689B56}"/>
              </a:ext>
            </a:extLst>
          </p:cNvPr>
          <p:cNvSpPr txBox="1"/>
          <p:nvPr/>
        </p:nvSpPr>
        <p:spPr>
          <a:xfrm>
            <a:off x="378962" y="1488161"/>
            <a:ext cx="1017984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2800" dirty="0"/>
              <a:t> Physical </a:t>
            </a:r>
            <a:r>
              <a:rPr lang="fr-FR" sz="2800" dirty="0" err="1"/>
              <a:t>quantities</a:t>
            </a:r>
            <a:r>
              <a:rPr lang="fr-FR" sz="2800" dirty="0"/>
              <a:t> </a:t>
            </a:r>
            <a:r>
              <a:rPr lang="fr-FR" sz="2800" dirty="0" err="1"/>
              <a:t>can</a:t>
            </a:r>
            <a:r>
              <a:rPr lang="fr-FR" sz="2800" dirty="0"/>
              <a:t> </a:t>
            </a:r>
            <a:r>
              <a:rPr lang="fr-FR" sz="2800" dirty="0" err="1"/>
              <a:t>be</a:t>
            </a:r>
            <a:r>
              <a:rPr lang="fr-FR" sz="2800" dirty="0"/>
              <a:t> </a:t>
            </a:r>
            <a:r>
              <a:rPr lang="fr-FR" sz="2800" dirty="0" err="1"/>
              <a:t>modelled</a:t>
            </a:r>
            <a:r>
              <a:rPr lang="fr-FR" sz="2800" dirty="0"/>
              <a:t> by constants, </a:t>
            </a:r>
            <a:r>
              <a:rPr lang="fr-FR" sz="2800" b="1" dirty="0"/>
              <a:t>variables</a:t>
            </a:r>
            <a:r>
              <a:rPr lang="fr-FR" sz="2800" dirty="0"/>
              <a:t> or </a:t>
            </a:r>
            <a:r>
              <a:rPr lang="fr-FR" sz="2800" i="1" dirty="0" err="1"/>
              <a:t>functions</a:t>
            </a:r>
            <a:r>
              <a:rPr lang="fr-FR" sz="2800" dirty="0"/>
              <a:t>. </a:t>
            </a:r>
            <a:r>
              <a:rPr lang="fr-FR" sz="2800" dirty="0" err="1"/>
              <a:t>They</a:t>
            </a:r>
            <a:r>
              <a:rPr lang="fr-FR" sz="2800" dirty="0"/>
              <a:t> </a:t>
            </a:r>
            <a:r>
              <a:rPr lang="fr-FR" sz="2800" dirty="0" err="1"/>
              <a:t>can</a:t>
            </a:r>
            <a:r>
              <a:rPr lang="fr-FR" sz="2800" dirty="0"/>
              <a:t> </a:t>
            </a:r>
            <a:r>
              <a:rPr lang="fr-FR" sz="2800" dirty="0" err="1"/>
              <a:t>be</a:t>
            </a:r>
            <a:r>
              <a:rPr lang="fr-FR" sz="2800" dirty="0"/>
              <a:t> </a:t>
            </a:r>
            <a:r>
              <a:rPr lang="fr-FR" sz="2800" dirty="0" err="1">
                <a:solidFill>
                  <a:srgbClr val="FF0000"/>
                </a:solidFill>
              </a:rPr>
              <a:t>scalars</a:t>
            </a:r>
            <a:r>
              <a:rPr lang="fr-FR" sz="2800" dirty="0"/>
              <a:t>, </a:t>
            </a:r>
            <a:r>
              <a:rPr lang="fr-FR" sz="2800" dirty="0" err="1">
                <a:solidFill>
                  <a:srgbClr val="00B050"/>
                </a:solidFill>
              </a:rPr>
              <a:t>vectors</a:t>
            </a:r>
            <a:r>
              <a:rPr lang="fr-FR" sz="2800" dirty="0"/>
              <a:t> or </a:t>
            </a:r>
            <a:r>
              <a:rPr lang="fr-FR" sz="2800" dirty="0">
                <a:solidFill>
                  <a:srgbClr val="0070C0"/>
                </a:solidFill>
              </a:rPr>
              <a:t>matrices</a:t>
            </a:r>
            <a:r>
              <a:rPr lang="fr-FR" sz="2800" dirty="0"/>
              <a:t>. </a:t>
            </a:r>
            <a:endParaRPr lang="fr-FR" sz="2800" dirty="0">
              <a:solidFill>
                <a:schemeClr val="tx1"/>
              </a:solidFill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5316FBE5-DEA0-B7F9-0C21-044C32441953}"/>
              </a:ext>
            </a:extLst>
          </p:cNvPr>
          <p:cNvSpPr txBox="1"/>
          <p:nvPr/>
        </p:nvSpPr>
        <p:spPr>
          <a:xfrm>
            <a:off x="375787" y="2995228"/>
            <a:ext cx="114277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/>
              <a:t>						</a:t>
            </a:r>
            <a:r>
              <a:rPr lang="fr-FR" sz="2800" b="1" dirty="0" smtClean="0"/>
              <a:t>	Set</a:t>
            </a:r>
            <a:r>
              <a:rPr lang="fr-FR" sz="2800" b="1" dirty="0"/>
              <a:t>			</a:t>
            </a:r>
            <a:r>
              <a:rPr lang="fr-FR" sz="2800" b="1" dirty="0" smtClean="0"/>
              <a:t>	Notation</a:t>
            </a:r>
            <a:r>
              <a:rPr lang="fr-FR" sz="2800" b="1" dirty="0"/>
              <a:t>	 </a:t>
            </a:r>
            <a:r>
              <a:rPr lang="fr-FR" sz="2800" b="1" dirty="0" smtClean="0"/>
              <a:t> Einstein </a:t>
            </a:r>
            <a:r>
              <a:rPr lang="fr-FR" sz="2800" b="1" dirty="0"/>
              <a:t>notation</a:t>
            </a:r>
          </a:p>
        </p:txBody>
      </p:sp>
    </p:spTree>
    <p:extLst>
      <p:ext uri="{BB962C8B-B14F-4D97-AF65-F5344CB8AC3E}">
        <p14:creationId xmlns:p14="http://schemas.microsoft.com/office/powerpoint/2010/main" val="27614090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8" grpId="0"/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nip Diagonal Corner Rectangle 6">
            <a:extLst>
              <a:ext uri="{FF2B5EF4-FFF2-40B4-BE49-F238E27FC236}">
                <a16:creationId xmlns:a16="http://schemas.microsoft.com/office/drawing/2014/main" id="{AD2D45C7-2E37-44FD-AC77-116CD14B9ED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25" y="2"/>
            <a:ext cx="12191075" cy="6857998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002">
            <a:schemeClr val="dk2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30" name="Snip Single Corner Rectangle 17">
            <a:extLst>
              <a:ext uri="{FF2B5EF4-FFF2-40B4-BE49-F238E27FC236}">
                <a16:creationId xmlns:a16="http://schemas.microsoft.com/office/drawing/2014/main" id="{1FF88480-2CF1-4C54-8CE3-2CA9CD9FF89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1"/>
            <a:ext cx="12188825" cy="6857999"/>
          </a:xfrm>
          <a:prstGeom prst="snip1Rect">
            <a:avLst>
              <a:gd name="adj" fmla="val 5000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8AD032B-4A83-065B-9888-6166E18B2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179592"/>
            <a:ext cx="10924692" cy="1507067"/>
          </a:xfrm>
        </p:spPr>
        <p:txBody>
          <a:bodyPr>
            <a:normAutofit/>
          </a:bodyPr>
          <a:lstStyle/>
          <a:p>
            <a:r>
              <a:rPr lang="fr-FR" sz="4000" dirty="0" smtClean="0">
                <a:solidFill>
                  <a:schemeClr val="tx2"/>
                </a:solidFill>
              </a:rPr>
              <a:t>Einstein notation</a:t>
            </a:r>
            <a:endParaRPr lang="fr-FR" sz="4000" dirty="0">
              <a:solidFill>
                <a:schemeClr val="tx2"/>
              </a:solidFill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E5413C3-A740-272F-FF1E-667AE7900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 err="1" smtClean="0"/>
              <a:t>Aerodynamics</a:t>
            </a:r>
            <a:r>
              <a:rPr lang="fr-FR" dirty="0" smtClean="0"/>
              <a:t>  </a:t>
            </a:r>
            <a:r>
              <a:rPr lang="fr-FR" dirty="0"/>
              <a:t>- </a:t>
            </a:r>
            <a:r>
              <a:rPr lang="fr-FR" dirty="0" err="1"/>
              <a:t>Chapter</a:t>
            </a:r>
            <a:r>
              <a:rPr lang="fr-FR" dirty="0"/>
              <a:t> 1 – </a:t>
            </a:r>
            <a:r>
              <a:rPr lang="fr-FR" dirty="0" err="1"/>
              <a:t>Mathematical</a:t>
            </a:r>
            <a:r>
              <a:rPr lang="fr-FR" dirty="0"/>
              <a:t> </a:t>
            </a:r>
            <a:r>
              <a:rPr lang="fr-FR" dirty="0" err="1"/>
              <a:t>tools</a:t>
            </a:r>
            <a:endParaRPr lang="en-US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3B03BD6-2501-5717-B1C6-15952A328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4</a:t>
            </a:fld>
            <a:endParaRPr lang="en-US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BC5D3C3-2DBE-452D-C494-283A32689B56}"/>
              </a:ext>
            </a:extLst>
          </p:cNvPr>
          <p:cNvSpPr txBox="1"/>
          <p:nvPr/>
        </p:nvSpPr>
        <p:spPr>
          <a:xfrm>
            <a:off x="378962" y="1488161"/>
            <a:ext cx="10179846" cy="2759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2800" dirty="0" smtClean="0"/>
              <a:t> Notation </a:t>
            </a:r>
            <a:r>
              <a:rPr lang="fr-FR" sz="2800" dirty="0" err="1" smtClean="0"/>
              <a:t>based</a:t>
            </a:r>
            <a:r>
              <a:rPr lang="fr-FR" sz="2800" dirty="0" smtClean="0"/>
              <a:t> on indices.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fr-FR" sz="28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2800" dirty="0" smtClean="0"/>
              <a:t>If, in a </a:t>
            </a:r>
            <a:r>
              <a:rPr lang="fr-FR" sz="2800" dirty="0" err="1" smtClean="0"/>
              <a:t>term</a:t>
            </a:r>
            <a:r>
              <a:rPr lang="fr-FR" sz="2800" dirty="0" smtClean="0"/>
              <a:t>, the </a:t>
            </a:r>
            <a:r>
              <a:rPr lang="fr-FR" sz="2800" dirty="0" err="1" smtClean="0"/>
              <a:t>same</a:t>
            </a:r>
            <a:r>
              <a:rPr lang="fr-FR" sz="2800" dirty="0"/>
              <a:t> </a:t>
            </a:r>
            <a:r>
              <a:rPr lang="fr-FR" sz="2800" dirty="0" smtClean="0"/>
              <a:t>index </a:t>
            </a:r>
            <a:r>
              <a:rPr lang="fr-FR" sz="2800" dirty="0" err="1" smtClean="0"/>
              <a:t>is</a:t>
            </a:r>
            <a:r>
              <a:rPr lang="fr-FR" sz="2800" dirty="0" smtClean="0"/>
              <a:t> </a:t>
            </a:r>
            <a:r>
              <a:rPr lang="fr-FR" sz="2800" dirty="0" err="1" smtClean="0"/>
              <a:t>used</a:t>
            </a:r>
            <a:r>
              <a:rPr lang="fr-FR" sz="2800" dirty="0"/>
              <a:t> </a:t>
            </a:r>
            <a:r>
              <a:rPr lang="fr-FR" sz="2800" dirty="0" err="1" smtClean="0"/>
              <a:t>several</a:t>
            </a:r>
            <a:r>
              <a:rPr lang="fr-FR" sz="2800" dirty="0" smtClean="0"/>
              <a:t> times </a:t>
            </a:r>
            <a:r>
              <a:rPr lang="fr-FR" sz="2800" dirty="0" smtClean="0">
                <a:sym typeface="Wingdings" panose="05000000000000000000" pitchFamily="2" charset="2"/>
              </a:rPr>
              <a:t> </a:t>
            </a:r>
            <a:r>
              <a:rPr lang="fr-FR" sz="2800" dirty="0" err="1" smtClean="0">
                <a:sym typeface="Wingdings" panose="05000000000000000000" pitchFamily="2" charset="2"/>
              </a:rPr>
              <a:t>Summation</a:t>
            </a:r>
            <a:r>
              <a:rPr lang="fr-FR" sz="2800" dirty="0" smtClean="0">
                <a:sym typeface="Wingdings" panose="05000000000000000000" pitchFamily="2" charset="2"/>
              </a:rPr>
              <a:t> on </a:t>
            </a:r>
            <a:r>
              <a:rPr lang="fr-FR" sz="2800" dirty="0" err="1" smtClean="0">
                <a:sym typeface="Wingdings" panose="05000000000000000000" pitchFamily="2" charset="2"/>
              </a:rPr>
              <a:t>this</a:t>
            </a:r>
            <a:r>
              <a:rPr lang="fr-FR" sz="2800" dirty="0" smtClean="0">
                <a:sym typeface="Wingdings" panose="05000000000000000000" pitchFamily="2" charset="2"/>
              </a:rPr>
              <a:t> index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fr-FR" sz="2800" dirty="0">
              <a:sym typeface="Wingdings" panose="05000000000000000000" pitchFamily="2" charset="2"/>
            </a:endParaRPr>
          </a:p>
          <a:p>
            <a:r>
              <a:rPr lang="fr-FR" sz="2800" b="1" dirty="0" smtClean="0">
                <a:sym typeface="Wingdings" panose="05000000000000000000" pitchFamily="2" charset="2"/>
              </a:rPr>
              <a:t>Ex :</a:t>
            </a:r>
            <a:endParaRPr lang="fr-FR" sz="2800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ZoneTexte 8"/>
              <p:cNvSpPr txBox="1"/>
              <p:nvPr/>
            </p:nvSpPr>
            <p:spPr>
              <a:xfrm>
                <a:off x="378962" y="4430909"/>
                <a:ext cx="120045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800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fr-FR" sz="2800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𝑎</m:t>
                          </m:r>
                        </m:e>
                        <m:sub>
                          <m:r>
                            <a:rPr lang="fr-FR" sz="2800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fr-FR" sz="2800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fr-FR" sz="2800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𝑏</m:t>
                          </m:r>
                        </m:e>
                        <m:sub>
                          <m:r>
                            <a:rPr lang="fr-FR" sz="2800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9" name="ZoneTexte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962" y="4430909"/>
                <a:ext cx="1200456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1514763" y="4430910"/>
                <a:ext cx="2037994" cy="54867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fr-FR" sz="2800" dirty="0" smtClean="0">
                    <a:sym typeface="Wingdings" panose="05000000000000000000" pitchFamily="2" charset="2"/>
                  </a:rPr>
                  <a:t>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fr-FR" sz="28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fr-FR" sz="28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𝑖</m:t>
                        </m:r>
                        <m:r>
                          <a:rPr lang="fr-FR" sz="28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=1</m:t>
                        </m:r>
                      </m:sub>
                      <m:sup>
                        <m:r>
                          <a:rPr lang="fr-FR" sz="28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3</m:t>
                        </m:r>
                      </m:sup>
                      <m:e>
                        <m:sSub>
                          <m:sSubPr>
                            <m:ctrlPr>
                              <a:rPr lang="fr-FR" sz="28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fr-FR" sz="28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𝑎</m:t>
                            </m:r>
                          </m:e>
                          <m:sub>
                            <m:r>
                              <a:rPr lang="fr-FR" sz="28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fr-FR" sz="28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fr-FR" sz="28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𝑏</m:t>
                            </m:r>
                          </m:e>
                          <m:sub>
                            <m:r>
                              <a:rPr lang="fr-FR" sz="28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fr-FR" sz="2800" dirty="0"/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4763" y="4430910"/>
                <a:ext cx="2037994" cy="548676"/>
              </a:xfrm>
              <a:prstGeom prst="rect">
                <a:avLst/>
              </a:prstGeom>
              <a:blipFill>
                <a:blip r:embed="rId3"/>
                <a:stretch>
                  <a:fillRect l="-5970" t="-10000" b="-2777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/>
          <p:cNvSpPr/>
          <p:nvPr/>
        </p:nvSpPr>
        <p:spPr>
          <a:xfrm>
            <a:off x="3552885" y="4489709"/>
            <a:ext cx="164981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 smtClean="0">
                <a:solidFill>
                  <a:srgbClr val="FF0000"/>
                </a:solidFill>
                <a:sym typeface="Wingdings" panose="05000000000000000000" pitchFamily="2" charset="2"/>
              </a:rPr>
              <a:t></a:t>
            </a:r>
            <a:r>
              <a:rPr lang="fr-FR" sz="2800" dirty="0" err="1" smtClean="0">
                <a:solidFill>
                  <a:srgbClr val="FF0000"/>
                </a:solidFill>
                <a:sym typeface="Wingdings" panose="05000000000000000000" pitchFamily="2" charset="2"/>
              </a:rPr>
              <a:t>Scalar</a:t>
            </a:r>
            <a:endParaRPr lang="fr-FR" sz="28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ZoneTexte 15"/>
              <p:cNvSpPr txBox="1"/>
              <p:nvPr/>
            </p:nvSpPr>
            <p:spPr>
              <a:xfrm>
                <a:off x="443617" y="5137146"/>
                <a:ext cx="1200456" cy="5579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80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fr-FR" sz="2800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𝑎</m:t>
                          </m:r>
                        </m:e>
                        <m:sub>
                          <m:r>
                            <a:rPr lang="fr-FR" sz="2800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fr-FR" sz="2800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fr-FR" sz="2800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𝑏</m:t>
                          </m:r>
                        </m:e>
                        <m:sub>
                          <m:r>
                            <a:rPr lang="fr-FR" sz="28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6" name="ZoneTexte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617" y="5137146"/>
                <a:ext cx="1200456" cy="5579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17"/>
          <p:cNvSpPr/>
          <p:nvPr/>
        </p:nvSpPr>
        <p:spPr>
          <a:xfrm>
            <a:off x="1514763" y="5167539"/>
            <a:ext cx="161775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 smtClean="0">
                <a:solidFill>
                  <a:srgbClr val="00B050"/>
                </a:solidFill>
                <a:sym typeface="Wingdings" panose="05000000000000000000" pitchFamily="2" charset="2"/>
              </a:rPr>
              <a:t>Matrix</a:t>
            </a:r>
            <a:endParaRPr lang="fr-FR" sz="28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46704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5" grpId="0"/>
      <p:bldP spid="16" grpId="0"/>
      <p:bldP spid="1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nip Diagonal Corner Rectangle 6">
            <a:extLst>
              <a:ext uri="{FF2B5EF4-FFF2-40B4-BE49-F238E27FC236}">
                <a16:creationId xmlns:a16="http://schemas.microsoft.com/office/drawing/2014/main" id="{AD2D45C7-2E37-44FD-AC77-116CD14B9ED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25" y="2"/>
            <a:ext cx="12191075" cy="6857998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002">
            <a:schemeClr val="dk2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30" name="Snip Single Corner Rectangle 17">
            <a:extLst>
              <a:ext uri="{FF2B5EF4-FFF2-40B4-BE49-F238E27FC236}">
                <a16:creationId xmlns:a16="http://schemas.microsoft.com/office/drawing/2014/main" id="{1FF88480-2CF1-4C54-8CE3-2CA9CD9FF89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1"/>
            <a:ext cx="12188825" cy="6857999"/>
          </a:xfrm>
          <a:prstGeom prst="snip1Rect">
            <a:avLst>
              <a:gd name="adj" fmla="val 5000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8AD032B-4A83-065B-9888-6166E18B2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179592"/>
            <a:ext cx="10924692" cy="1507067"/>
          </a:xfrm>
        </p:spPr>
        <p:txBody>
          <a:bodyPr>
            <a:normAutofit/>
          </a:bodyPr>
          <a:lstStyle/>
          <a:p>
            <a:r>
              <a:rPr lang="fr-FR" sz="4000" dirty="0" err="1">
                <a:solidFill>
                  <a:schemeClr val="tx2"/>
                </a:solidFill>
              </a:rPr>
              <a:t>Derivatives</a:t>
            </a:r>
            <a:endParaRPr lang="fr-FR" sz="4000" dirty="0">
              <a:solidFill>
                <a:schemeClr val="tx2"/>
              </a:solidFill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3B03BD6-2501-5717-B1C6-15952A328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06E9F4CE-BB25-6548-40D4-F586151E4E68}"/>
                  </a:ext>
                </a:extLst>
              </p:cNvPr>
              <p:cNvSpPr txBox="1"/>
              <p:nvPr/>
            </p:nvSpPr>
            <p:spPr>
              <a:xfrm>
                <a:off x="397564" y="1686659"/>
                <a:ext cx="1169137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fr-FR" dirty="0"/>
                  <a:t> For a </a:t>
                </a:r>
                <a:r>
                  <a:rPr lang="fr-FR" dirty="0" err="1">
                    <a:solidFill>
                      <a:srgbClr val="FF0000"/>
                    </a:solidFill>
                  </a:rPr>
                  <a:t>scalar</a:t>
                </a:r>
                <a:r>
                  <a:rPr lang="fr-FR" dirty="0"/>
                  <a:t> </a:t>
                </a:r>
                <a:r>
                  <a:rPr lang="fr-FR" i="1" dirty="0" err="1"/>
                  <a:t>function</a:t>
                </a:r>
                <a:r>
                  <a:rPr lang="fr-FR" dirty="0"/>
                  <a:t>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fr-FR" dirty="0"/>
                  <a:t> </a:t>
                </a:r>
                <a:r>
                  <a:rPr lang="fr-FR" dirty="0" err="1"/>
                  <a:t>depending</a:t>
                </a:r>
                <a:r>
                  <a:rPr lang="fr-FR" dirty="0"/>
                  <a:t> of a variable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fr-FR" b="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dirty="0"/>
                  <a:t>( ex : </a:t>
                </a:r>
                <a:r>
                  <a:rPr lang="fr-FR" dirty="0" err="1"/>
                  <a:t>physical</a:t>
                </a:r>
                <a:r>
                  <a:rPr lang="fr-FR" dirty="0"/>
                  <a:t> </a:t>
                </a:r>
                <a:r>
                  <a:rPr lang="fr-FR" dirty="0" err="1"/>
                  <a:t>quantity</a:t>
                </a:r>
                <a:r>
                  <a:rPr lang="fr-FR" dirty="0"/>
                  <a:t> </a:t>
                </a:r>
                <a:r>
                  <a:rPr lang="fr-FR" dirty="0" err="1"/>
                  <a:t>depending</a:t>
                </a:r>
                <a:r>
                  <a:rPr lang="fr-FR" dirty="0"/>
                  <a:t> </a:t>
                </a:r>
                <a:r>
                  <a:rPr lang="fr-FR" dirty="0" err="1"/>
                  <a:t>only</a:t>
                </a:r>
                <a:r>
                  <a:rPr lang="fr-FR" dirty="0"/>
                  <a:t> of the time).</a:t>
                </a:r>
              </a:p>
            </p:txBody>
          </p:sp>
        </mc:Choice>
        <mc:Fallback xmlns="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06E9F4CE-BB25-6548-40D4-F586151E4E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564" y="1686659"/>
                <a:ext cx="11691371" cy="369332"/>
              </a:xfrm>
              <a:prstGeom prst="rect">
                <a:avLst/>
              </a:prstGeom>
              <a:blipFill>
                <a:blip r:embed="rId2"/>
                <a:stretch>
                  <a:fillRect l="-313" t="-10000" r="-469" b="-2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5D42A5FC-6C79-F24E-5186-1B5960D917CA}"/>
                  </a:ext>
                </a:extLst>
              </p:cNvPr>
              <p:cNvSpPr txBox="1"/>
              <p:nvPr/>
            </p:nvSpPr>
            <p:spPr>
              <a:xfrm>
                <a:off x="397565" y="2504661"/>
                <a:ext cx="10924692" cy="6819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fr-FR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</m:e>
                      </m:func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fr-FR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lang="fr-FR" b="0" i="0" smtClean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fr-FR" b="0" i="0" smtClean="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fr-FR" b="0" i="0" smtClean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den>
                          </m:f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unc>
                            <m:func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>
                                      <a:latin typeface="Cambria Math" panose="02040503050406030204" pitchFamily="18" charset="0"/>
                                    </a:rPr>
                                    <m:t>lim</m:t>
                                  </m:r>
                                </m:e>
                                <m:lim>
                                  <m:r>
                                    <m:rPr>
                                      <m:sty m:val="p"/>
                                    </m:rPr>
                                    <a:rPr lang="fr-FR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→0</m:t>
                                  </m:r>
                                </m:lim>
                              </m:limLow>
                            </m:fName>
                            <m:e>
                              <m:f>
                                <m:f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fr-FR" b="0" i="0" smtClean="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lang="fr-FR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den>
                              </m:f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fr-F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i="1" smtClean="0">
                                      <a:latin typeface="Cambria Math" panose="02040503050406030204" pitchFamily="18" charset="0"/>
                                    </a:rPr>
                                    <m:t>ⅆ</m:t>
                                  </m:r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num>
                                <m:den>
                                  <m:r>
                                    <a:rPr lang="fr-FR" i="1" smtClean="0">
                                      <a:latin typeface="Cambria Math" panose="02040503050406030204" pitchFamily="18" charset="0"/>
                                    </a:rPr>
                                    <m:t>ⅆ</m:t>
                                  </m:r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den>
                              </m:f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e>
                      </m:func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5D42A5FC-6C79-F24E-5186-1B5960D917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565" y="2504661"/>
                <a:ext cx="10924692" cy="68191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CA7AB7B9-F411-00F1-D521-207784292FDF}"/>
                  </a:ext>
                </a:extLst>
              </p:cNvPr>
              <p:cNvSpPr txBox="1"/>
              <p:nvPr/>
            </p:nvSpPr>
            <p:spPr>
              <a:xfrm>
                <a:off x="397565" y="3294394"/>
                <a:ext cx="11489635" cy="17543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fr-FR" dirty="0" smtClean="0"/>
                  <a:t>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fr-FR" dirty="0"/>
                  <a:t> </a:t>
                </a:r>
                <a:r>
                  <a:rPr lang="fr-FR" dirty="0" err="1"/>
                  <a:t>represents</a:t>
                </a:r>
                <a:r>
                  <a:rPr lang="fr-FR" dirty="0"/>
                  <a:t> the variations of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fr-FR" dirty="0"/>
                  <a:t> with respect to </a:t>
                </a:r>
                <a:r>
                  <a:rPr lang="fr-FR" dirty="0" smtClean="0"/>
                  <a:t>𝑡.</a:t>
                </a:r>
                <a:endParaRPr lang="fr-FR" dirty="0"/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endParaRPr lang="fr-FR" dirty="0"/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fr-FR" dirty="0" err="1"/>
                  <a:t>Differential</a:t>
                </a:r>
                <a:r>
                  <a:rPr lang="fr-FR" dirty="0"/>
                  <a:t> « </a:t>
                </a:r>
                <a14:m>
                  <m:oMath xmlns:m="http://schemas.openxmlformats.org/officeDocument/2006/math">
                    <m:r>
                      <a:rPr lang="fr-FR" i="1" smtClean="0">
                        <a:latin typeface="Cambria Math" panose="02040503050406030204" pitchFamily="18" charset="0"/>
                      </a:rPr>
                      <m:t>ⅆ</m:t>
                    </m:r>
                  </m:oMath>
                </a14:m>
                <a:r>
                  <a:rPr lang="fr-FR" dirty="0"/>
                  <a:t> » </a:t>
                </a:r>
                <a:r>
                  <a:rPr lang="fr-FR" dirty="0" err="1"/>
                  <a:t>is</a:t>
                </a:r>
                <a:r>
                  <a:rPr lang="fr-FR" dirty="0"/>
                  <a:t> </a:t>
                </a:r>
                <a:r>
                  <a:rPr lang="fr-FR" dirty="0" err="1"/>
                  <a:t>frequently</a:t>
                </a:r>
                <a:r>
                  <a:rPr lang="fr-FR" dirty="0"/>
                  <a:t> </a:t>
                </a:r>
                <a:r>
                  <a:rPr lang="fr-FR" dirty="0" err="1"/>
                  <a:t>used</a:t>
                </a:r>
                <a:r>
                  <a:rPr lang="fr-FR" dirty="0"/>
                  <a:t> in </a:t>
                </a:r>
                <a:r>
                  <a:rPr lang="fr-FR" dirty="0" err="1"/>
                  <a:t>pyshics</a:t>
                </a:r>
                <a:r>
                  <a:rPr lang="fr-FR" dirty="0"/>
                  <a:t> and </a:t>
                </a:r>
                <a:r>
                  <a:rPr lang="fr-FR" dirty="0" err="1"/>
                  <a:t>represents</a:t>
                </a:r>
                <a:r>
                  <a:rPr lang="fr-FR" dirty="0"/>
                  <a:t> </a:t>
                </a:r>
                <a:r>
                  <a:rPr lang="fr-FR" dirty="0" err="1"/>
                  <a:t>infinitesimal</a:t>
                </a:r>
                <a:r>
                  <a:rPr lang="fr-FR" dirty="0"/>
                  <a:t> variations, </a:t>
                </a:r>
                <a:r>
                  <a:rPr lang="fr-FR" dirty="0" err="1"/>
                  <a:t>linked</a:t>
                </a:r>
                <a:r>
                  <a:rPr lang="fr-FR" dirty="0"/>
                  <a:t> to the </a:t>
                </a:r>
              </a:p>
              <a:p>
                <a:r>
                  <a:rPr lang="fr-FR" dirty="0" err="1"/>
                  <a:t>Mathematical</a:t>
                </a:r>
                <a:r>
                  <a:rPr lang="fr-FR" dirty="0"/>
                  <a:t> notion of </a:t>
                </a:r>
                <a:r>
                  <a:rPr lang="fr-FR" dirty="0" err="1" smtClean="0"/>
                  <a:t>limit</a:t>
                </a:r>
                <a:r>
                  <a:rPr lang="fr-FR" dirty="0" smtClean="0"/>
                  <a:t>. It </a:t>
                </a:r>
                <a:r>
                  <a:rPr lang="fr-FR" dirty="0" err="1" smtClean="0"/>
                  <a:t>models</a:t>
                </a:r>
                <a:r>
                  <a:rPr lang="fr-FR" dirty="0" smtClean="0"/>
                  <a:t> </a:t>
                </a:r>
                <a:r>
                  <a:rPr lang="fr-FR" dirty="0"/>
                  <a:t>the </a:t>
                </a:r>
                <a:r>
                  <a:rPr lang="fr-FR" dirty="0" err="1"/>
                  <a:t>infinitely</a:t>
                </a:r>
                <a:r>
                  <a:rPr lang="fr-FR" dirty="0"/>
                  <a:t> </a:t>
                </a:r>
                <a:r>
                  <a:rPr lang="fr-FR" dirty="0" err="1"/>
                  <a:t>small</a:t>
                </a:r>
                <a:r>
                  <a:rPr lang="fr-FR" dirty="0"/>
                  <a:t> (</a:t>
                </a:r>
                <a:r>
                  <a:rPr lang="fr-FR" dirty="0" smtClean="0"/>
                  <a:t>more on </a:t>
                </a:r>
                <a:r>
                  <a:rPr lang="fr-FR" dirty="0" err="1"/>
                  <a:t>that</a:t>
                </a:r>
                <a:r>
                  <a:rPr lang="fr-FR" dirty="0"/>
                  <a:t> </a:t>
                </a:r>
                <a:r>
                  <a:rPr lang="fr-FR" dirty="0" err="1"/>
                  <a:t>later</a:t>
                </a:r>
                <a:r>
                  <a:rPr lang="fr-FR" dirty="0"/>
                  <a:t>).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endParaRPr lang="fr-FR" dirty="0"/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fr-FR" b="1" dirty="0" err="1"/>
                  <a:t>Examples</a:t>
                </a:r>
                <a:r>
                  <a:rPr lang="fr-FR" b="1" dirty="0"/>
                  <a:t> : </a:t>
                </a:r>
              </a:p>
            </p:txBody>
          </p:sp>
        </mc:Choice>
        <mc:Fallback xmlns=""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CA7AB7B9-F411-00F1-D521-207784292F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565" y="3294394"/>
                <a:ext cx="11489635" cy="1754326"/>
              </a:xfrm>
              <a:prstGeom prst="rect">
                <a:avLst/>
              </a:prstGeom>
              <a:blipFill>
                <a:blip r:embed="rId4"/>
                <a:stretch>
                  <a:fillRect l="-424" t="-1736" b="-451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ZoneTexte 6">
            <a:extLst>
              <a:ext uri="{FF2B5EF4-FFF2-40B4-BE49-F238E27FC236}">
                <a16:creationId xmlns:a16="http://schemas.microsoft.com/office/drawing/2014/main" id="{B2B9BDDA-832E-743B-64BD-6A337C429F6C}"/>
              </a:ext>
            </a:extLst>
          </p:cNvPr>
          <p:cNvSpPr txBox="1"/>
          <p:nvPr/>
        </p:nvSpPr>
        <p:spPr>
          <a:xfrm>
            <a:off x="931465" y="5024392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dirty="0" err="1"/>
              <a:t>Velocity</a:t>
            </a:r>
            <a:r>
              <a:rPr lang="fr-FR" dirty="0"/>
              <a:t> : 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E235269C-C4A5-ACCF-5EC0-F24E27249B31}"/>
              </a:ext>
            </a:extLst>
          </p:cNvPr>
          <p:cNvSpPr txBox="1"/>
          <p:nvPr/>
        </p:nvSpPr>
        <p:spPr>
          <a:xfrm>
            <a:off x="931465" y="5482193"/>
            <a:ext cx="25237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dirty="0" err="1"/>
              <a:t>Acceleration</a:t>
            </a:r>
            <a:r>
              <a:rPr lang="fr-FR" dirty="0"/>
              <a:t> : 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8D7F4157-51B5-9360-2F60-DEF3A6624DEC}"/>
              </a:ext>
            </a:extLst>
          </p:cNvPr>
          <p:cNvSpPr txBox="1"/>
          <p:nvPr/>
        </p:nvSpPr>
        <p:spPr>
          <a:xfrm>
            <a:off x="2477767" y="5024391"/>
            <a:ext cx="6181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dirty="0"/>
              <a:t>time </a:t>
            </a:r>
            <a:r>
              <a:rPr lang="fr-FR" dirty="0" err="1"/>
              <a:t>derivative</a:t>
            </a:r>
            <a:r>
              <a:rPr lang="fr-FR" dirty="0"/>
              <a:t> of position 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8238942C-A846-EEAD-5C61-D36429A6093D}"/>
              </a:ext>
            </a:extLst>
          </p:cNvPr>
          <p:cNvSpPr txBox="1"/>
          <p:nvPr/>
        </p:nvSpPr>
        <p:spPr>
          <a:xfrm>
            <a:off x="2918428" y="5496458"/>
            <a:ext cx="6181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dirty="0"/>
              <a:t>time </a:t>
            </a:r>
            <a:r>
              <a:rPr lang="fr-FR" dirty="0" err="1"/>
              <a:t>derivative</a:t>
            </a:r>
            <a:r>
              <a:rPr lang="fr-FR" dirty="0"/>
              <a:t> of </a:t>
            </a:r>
            <a:r>
              <a:rPr lang="fr-FR" dirty="0" err="1"/>
              <a:t>velocity</a:t>
            </a:r>
            <a:endParaRPr lang="fr-FR" dirty="0"/>
          </a:p>
        </p:txBody>
      </p:sp>
      <p:sp>
        <p:nvSpPr>
          <p:cNvPr id="14" name="Espace réservé du pied de page 3">
            <a:extLst>
              <a:ext uri="{FF2B5EF4-FFF2-40B4-BE49-F238E27FC236}">
                <a16:creationId xmlns:a16="http://schemas.microsoft.com/office/drawing/2014/main" id="{DE5413C3-A740-272F-FF1E-667AE7900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4212" y="6172200"/>
            <a:ext cx="7543800" cy="365125"/>
          </a:xfrm>
        </p:spPr>
        <p:txBody>
          <a:bodyPr/>
          <a:lstStyle/>
          <a:p>
            <a:r>
              <a:rPr lang="fr-FR" dirty="0" err="1" smtClean="0"/>
              <a:t>Aerodynamics</a:t>
            </a:r>
            <a:r>
              <a:rPr lang="fr-FR" dirty="0" smtClean="0"/>
              <a:t>  </a:t>
            </a:r>
            <a:r>
              <a:rPr lang="fr-FR" dirty="0"/>
              <a:t>- </a:t>
            </a:r>
            <a:r>
              <a:rPr lang="fr-FR" dirty="0" err="1"/>
              <a:t>Chapter</a:t>
            </a:r>
            <a:r>
              <a:rPr lang="fr-FR" dirty="0"/>
              <a:t> 1 – </a:t>
            </a:r>
            <a:r>
              <a:rPr lang="fr-FR" dirty="0" err="1"/>
              <a:t>Mathematical</a:t>
            </a:r>
            <a:r>
              <a:rPr lang="fr-FR" dirty="0"/>
              <a:t> </a:t>
            </a:r>
            <a:r>
              <a:rPr lang="fr-FR" dirty="0" err="1"/>
              <a:t>tools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49291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nip Diagonal Corner Rectangle 6">
            <a:extLst>
              <a:ext uri="{FF2B5EF4-FFF2-40B4-BE49-F238E27FC236}">
                <a16:creationId xmlns:a16="http://schemas.microsoft.com/office/drawing/2014/main" id="{AD2D45C7-2E37-44FD-AC77-116CD14B9ED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25" y="2"/>
            <a:ext cx="12191075" cy="6857998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002">
            <a:schemeClr val="dk2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30" name="Snip Single Corner Rectangle 17">
            <a:extLst>
              <a:ext uri="{FF2B5EF4-FFF2-40B4-BE49-F238E27FC236}">
                <a16:creationId xmlns:a16="http://schemas.microsoft.com/office/drawing/2014/main" id="{1FF88480-2CF1-4C54-8CE3-2CA9CD9FF89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1"/>
            <a:ext cx="12188825" cy="6857999"/>
          </a:xfrm>
          <a:prstGeom prst="snip1Rect">
            <a:avLst>
              <a:gd name="adj" fmla="val 5000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8AD032B-4A83-065B-9888-6166E18B2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179592"/>
            <a:ext cx="10924692" cy="1507067"/>
          </a:xfrm>
        </p:spPr>
        <p:txBody>
          <a:bodyPr>
            <a:normAutofit/>
          </a:bodyPr>
          <a:lstStyle/>
          <a:p>
            <a:r>
              <a:rPr lang="fr-FR" sz="4000" dirty="0" err="1">
                <a:solidFill>
                  <a:schemeClr val="tx2"/>
                </a:solidFill>
              </a:rPr>
              <a:t>Derivatives</a:t>
            </a:r>
            <a:endParaRPr lang="fr-FR" sz="4000" dirty="0">
              <a:solidFill>
                <a:schemeClr val="tx2"/>
              </a:solidFill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3B03BD6-2501-5717-B1C6-15952A328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06E9F4CE-BB25-6548-40D4-F586151E4E68}"/>
                  </a:ext>
                </a:extLst>
              </p:cNvPr>
              <p:cNvSpPr txBox="1"/>
              <p:nvPr/>
            </p:nvSpPr>
            <p:spPr>
              <a:xfrm>
                <a:off x="397564" y="1686659"/>
                <a:ext cx="1169137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fr-FR" dirty="0" smtClean="0"/>
                  <a:t> Chain </a:t>
                </a:r>
                <a:r>
                  <a:rPr lang="fr-FR" dirty="0" err="1" smtClean="0"/>
                  <a:t>derivative</a:t>
                </a:r>
                <a:r>
                  <a:rPr lang="fr-FR" dirty="0" smtClean="0"/>
                  <a:t> : if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fr-FR" dirty="0" smtClean="0"/>
                  <a:t> </a:t>
                </a:r>
                <a:r>
                  <a:rPr lang="fr-FR" dirty="0" err="1" smtClean="0"/>
                  <a:t>depends</a:t>
                </a:r>
                <a:r>
                  <a:rPr lang="fr-FR" dirty="0" smtClean="0"/>
                  <a:t> on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fr-FR" dirty="0" smtClean="0"/>
                  <a:t> </a:t>
                </a:r>
                <a:r>
                  <a:rPr lang="fr-FR" dirty="0" err="1" smtClean="0"/>
                  <a:t>which</a:t>
                </a:r>
                <a:r>
                  <a:rPr lang="fr-FR" dirty="0" smtClean="0"/>
                  <a:t> </a:t>
                </a:r>
                <a:r>
                  <a:rPr lang="fr-FR" dirty="0" err="1" smtClean="0"/>
                  <a:t>itself</a:t>
                </a:r>
                <a:r>
                  <a:rPr lang="fr-FR" dirty="0" smtClean="0"/>
                  <a:t> </a:t>
                </a:r>
                <a:r>
                  <a:rPr lang="fr-FR" dirty="0" err="1" smtClean="0"/>
                  <a:t>depends</a:t>
                </a:r>
                <a:r>
                  <a:rPr lang="fr-FR" dirty="0" smtClean="0"/>
                  <a:t> on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fr-FR" dirty="0"/>
              </a:p>
            </p:txBody>
          </p:sp>
        </mc:Choice>
        <mc:Fallback xmlns="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06E9F4CE-BB25-6548-40D4-F586151E4E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564" y="1686659"/>
                <a:ext cx="11691371" cy="369332"/>
              </a:xfrm>
              <a:prstGeom prst="rect">
                <a:avLst/>
              </a:prstGeom>
              <a:blipFill>
                <a:blip r:embed="rId2"/>
                <a:stretch>
                  <a:fillRect l="-313" t="-10000" b="-2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5D42A5FC-6C79-F24E-5186-1B5960D917CA}"/>
                  </a:ext>
                </a:extLst>
              </p:cNvPr>
              <p:cNvSpPr txBox="1"/>
              <p:nvPr/>
            </p:nvSpPr>
            <p:spPr>
              <a:xfrm>
                <a:off x="397565" y="2504661"/>
                <a:ext cx="10924692" cy="618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𝑑𝑓</m:t>
                          </m:r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𝑑𝑓</m:t>
                          </m:r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den>
                      </m:f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5D42A5FC-6C79-F24E-5186-1B5960D917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565" y="2504661"/>
                <a:ext cx="10924692" cy="618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CA7AB7B9-F411-00F1-D521-207784292FDF}"/>
                  </a:ext>
                </a:extLst>
              </p:cNvPr>
              <p:cNvSpPr txBox="1"/>
              <p:nvPr/>
            </p:nvSpPr>
            <p:spPr>
              <a:xfrm>
                <a:off x="397565" y="3294394"/>
                <a:ext cx="1148963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fr-FR" b="1" dirty="0" smtClean="0"/>
                  <a:t>Ex :</a:t>
                </a:r>
                <a:r>
                  <a:rPr lang="fr-FR" dirty="0" smtClean="0"/>
                  <a:t>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fr-FR" b="0" i="0" smtClean="0">
                        <a:latin typeface="Cambria Math" panose="02040503050406030204" pitchFamily="18" charset="0"/>
                      </a:rPr>
                      <m:t>sin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fr-FR" dirty="0" smtClean="0"/>
                  <a:t> et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fr-FR" b="0" i="0" smtClean="0">
                            <a:latin typeface="Cambria Math" panose="02040503050406030204" pitchFamily="18" charset="0"/>
                          </a:rPr>
                          <m:t>at</m:t>
                        </m:r>
                      </m:e>
                      <m:sup>
                        <m:r>
                          <a:rPr lang="fr-FR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fr-FR" dirty="0" smtClean="0"/>
                  <a:t>.  </a:t>
                </a:r>
                <a:endParaRPr lang="fr-FR" b="1" dirty="0"/>
              </a:p>
            </p:txBody>
          </p:sp>
        </mc:Choice>
        <mc:Fallback xmlns=""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CA7AB7B9-F411-00F1-D521-207784292F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565" y="3294394"/>
                <a:ext cx="11489635" cy="369332"/>
              </a:xfrm>
              <a:prstGeom prst="rect">
                <a:avLst/>
              </a:prstGeom>
              <a:blipFill>
                <a:blip r:embed="rId4"/>
                <a:stretch>
                  <a:fillRect l="-318" t="-8197" b="-2459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Espace réservé du pied de page 3">
            <a:extLst>
              <a:ext uri="{FF2B5EF4-FFF2-40B4-BE49-F238E27FC236}">
                <a16:creationId xmlns:a16="http://schemas.microsoft.com/office/drawing/2014/main" id="{DE5413C3-A740-272F-FF1E-667AE7900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4212" y="6172200"/>
            <a:ext cx="7543800" cy="365125"/>
          </a:xfrm>
        </p:spPr>
        <p:txBody>
          <a:bodyPr/>
          <a:lstStyle/>
          <a:p>
            <a:r>
              <a:rPr lang="fr-FR" dirty="0" err="1" smtClean="0"/>
              <a:t>Aerodynamics</a:t>
            </a:r>
            <a:r>
              <a:rPr lang="fr-FR" dirty="0" smtClean="0"/>
              <a:t>  </a:t>
            </a:r>
            <a:r>
              <a:rPr lang="fr-FR" dirty="0"/>
              <a:t>- </a:t>
            </a:r>
            <a:r>
              <a:rPr lang="fr-FR" dirty="0" err="1"/>
              <a:t>Chapter</a:t>
            </a:r>
            <a:r>
              <a:rPr lang="fr-FR" dirty="0"/>
              <a:t> 1 – </a:t>
            </a:r>
            <a:r>
              <a:rPr lang="fr-FR" dirty="0" err="1"/>
              <a:t>Mathematical</a:t>
            </a:r>
            <a:r>
              <a:rPr lang="fr-FR" dirty="0"/>
              <a:t> </a:t>
            </a:r>
            <a:r>
              <a:rPr lang="fr-FR" dirty="0" err="1"/>
              <a:t>tools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ZoneTexte 15">
                <a:extLst>
                  <a:ext uri="{FF2B5EF4-FFF2-40B4-BE49-F238E27FC236}">
                    <a16:creationId xmlns:a16="http://schemas.microsoft.com/office/drawing/2014/main" id="{CA7AB7B9-F411-00F1-D521-207784292FDF}"/>
                  </a:ext>
                </a:extLst>
              </p:cNvPr>
              <p:cNvSpPr txBox="1"/>
              <p:nvPr/>
            </p:nvSpPr>
            <p:spPr>
              <a:xfrm>
                <a:off x="397564" y="3786074"/>
                <a:ext cx="11489635" cy="618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𝑑𝑓</m:t>
                          </m:r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𝑑𝑓</m:t>
                          </m:r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den>
                      </m:f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func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×2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𝑎𝑡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6" name="ZoneTexte 15">
                <a:extLst>
                  <a:ext uri="{FF2B5EF4-FFF2-40B4-BE49-F238E27FC236}">
                    <a16:creationId xmlns:a16="http://schemas.microsoft.com/office/drawing/2014/main" id="{CA7AB7B9-F411-00F1-D521-207784292F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564" y="3786074"/>
                <a:ext cx="11489635" cy="618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265359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nip Diagonal Corner Rectangle 6">
            <a:extLst>
              <a:ext uri="{FF2B5EF4-FFF2-40B4-BE49-F238E27FC236}">
                <a16:creationId xmlns:a16="http://schemas.microsoft.com/office/drawing/2014/main" id="{AD2D45C7-2E37-44FD-AC77-116CD14B9ED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25" y="2"/>
            <a:ext cx="12191075" cy="6857998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002">
            <a:schemeClr val="dk2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30" name="Snip Single Corner Rectangle 17">
            <a:extLst>
              <a:ext uri="{FF2B5EF4-FFF2-40B4-BE49-F238E27FC236}">
                <a16:creationId xmlns:a16="http://schemas.microsoft.com/office/drawing/2014/main" id="{1FF88480-2CF1-4C54-8CE3-2CA9CD9FF89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1"/>
            <a:ext cx="12188825" cy="6857999"/>
          </a:xfrm>
          <a:prstGeom prst="snip1Rect">
            <a:avLst>
              <a:gd name="adj" fmla="val 5000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8AD032B-4A83-065B-9888-6166E18B2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179592"/>
            <a:ext cx="10924692" cy="1507067"/>
          </a:xfrm>
        </p:spPr>
        <p:txBody>
          <a:bodyPr>
            <a:normAutofit/>
          </a:bodyPr>
          <a:lstStyle/>
          <a:p>
            <a:r>
              <a:rPr lang="fr-FR" sz="4000" dirty="0" err="1">
                <a:solidFill>
                  <a:schemeClr val="tx2"/>
                </a:solidFill>
              </a:rPr>
              <a:t>Derivatives</a:t>
            </a:r>
            <a:r>
              <a:rPr lang="fr-FR" sz="4000" dirty="0">
                <a:solidFill>
                  <a:schemeClr val="tx2"/>
                </a:solidFill>
              </a:rPr>
              <a:t> - Partial </a:t>
            </a:r>
            <a:r>
              <a:rPr lang="fr-FR" sz="4000" dirty="0" err="1">
                <a:solidFill>
                  <a:schemeClr val="tx2"/>
                </a:solidFill>
              </a:rPr>
              <a:t>derivatives</a:t>
            </a:r>
            <a:endParaRPr lang="fr-FR" sz="4000" dirty="0">
              <a:solidFill>
                <a:schemeClr val="tx2"/>
              </a:solidFill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3B03BD6-2501-5717-B1C6-15952A328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06E9F4CE-BB25-6548-40D4-F586151E4E68}"/>
                  </a:ext>
                </a:extLst>
              </p:cNvPr>
              <p:cNvSpPr txBox="1"/>
              <p:nvPr/>
            </p:nvSpPr>
            <p:spPr>
              <a:xfrm>
                <a:off x="397564" y="1703555"/>
                <a:ext cx="1169137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fr-FR" dirty="0"/>
                  <a:t> For a </a:t>
                </a:r>
                <a:r>
                  <a:rPr lang="fr-FR" dirty="0" err="1">
                    <a:solidFill>
                      <a:srgbClr val="FF0000"/>
                    </a:solidFill>
                  </a:rPr>
                  <a:t>scalar</a:t>
                </a:r>
                <a:r>
                  <a:rPr lang="fr-FR" dirty="0"/>
                  <a:t> </a:t>
                </a:r>
                <a:r>
                  <a:rPr lang="fr-FR" i="1" dirty="0" err="1"/>
                  <a:t>function</a:t>
                </a:r>
                <a:r>
                  <a:rPr lang="fr-FR" dirty="0"/>
                  <a:t>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fr-FR" dirty="0"/>
                  <a:t> </a:t>
                </a:r>
                <a:r>
                  <a:rPr lang="fr-FR" dirty="0" err="1"/>
                  <a:t>dépending</a:t>
                </a:r>
                <a:r>
                  <a:rPr lang="fr-FR" dirty="0"/>
                  <a:t> on </a:t>
                </a:r>
                <a:r>
                  <a:rPr lang="fr-FR" dirty="0" err="1"/>
                  <a:t>several</a:t>
                </a:r>
                <a:r>
                  <a:rPr lang="fr-FR" dirty="0"/>
                  <a:t> variables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b="0" i="0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fr-FR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fr-FR" b="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dirty="0"/>
                  <a:t>( ex : </a:t>
                </a:r>
                <a:r>
                  <a:rPr lang="fr-FR" dirty="0" err="1"/>
                  <a:t>physical</a:t>
                </a:r>
                <a:r>
                  <a:rPr lang="fr-FR" dirty="0"/>
                  <a:t> </a:t>
                </a:r>
                <a:r>
                  <a:rPr lang="fr-FR" dirty="0" err="1"/>
                  <a:t>quantities</a:t>
                </a:r>
                <a:r>
                  <a:rPr lang="fr-FR" dirty="0"/>
                  <a:t> </a:t>
                </a:r>
                <a:r>
                  <a:rPr lang="fr-FR" dirty="0" err="1"/>
                  <a:t>dépending</a:t>
                </a:r>
                <a:r>
                  <a:rPr lang="fr-FR" dirty="0"/>
                  <a:t> on time and </a:t>
                </a:r>
                <a:r>
                  <a:rPr lang="fr-FR" dirty="0" err="1"/>
                  <a:t>space</a:t>
                </a:r>
                <a:r>
                  <a:rPr lang="fr-FR" dirty="0"/>
                  <a:t>).</a:t>
                </a:r>
              </a:p>
            </p:txBody>
          </p:sp>
        </mc:Choice>
        <mc:Fallback xmlns="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06E9F4CE-BB25-6548-40D4-F586151E4E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564" y="1703555"/>
                <a:ext cx="11691371" cy="646331"/>
              </a:xfrm>
              <a:prstGeom prst="rect">
                <a:avLst/>
              </a:prstGeom>
              <a:blipFill>
                <a:blip r:embed="rId2"/>
                <a:stretch>
                  <a:fillRect l="-313" t="-3774" r="-782" b="-1415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5D42A5FC-6C79-F24E-5186-1B5960D917CA}"/>
                  </a:ext>
                </a:extLst>
              </p:cNvPr>
              <p:cNvSpPr txBox="1"/>
              <p:nvPr/>
            </p:nvSpPr>
            <p:spPr>
              <a:xfrm>
                <a:off x="397565" y="2504661"/>
                <a:ext cx="10924692" cy="6298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fr-FR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fr-FR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lang="fr-FR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fr-FR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fr-FR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5D42A5FC-6C79-F24E-5186-1B5960D917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565" y="2504661"/>
                <a:ext cx="10924692" cy="62985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CA7AB7B9-F411-00F1-D521-207784292FDF}"/>
                  </a:ext>
                </a:extLst>
              </p:cNvPr>
              <p:cNvSpPr txBox="1"/>
              <p:nvPr/>
            </p:nvSpPr>
            <p:spPr>
              <a:xfrm>
                <a:off x="397565" y="3294394"/>
                <a:ext cx="1148963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fr-FR" dirty="0"/>
                  <a:t> The </a:t>
                </a:r>
                <a:r>
                  <a:rPr lang="fr-FR" dirty="0" err="1"/>
                  <a:t>quantity</a:t>
                </a:r>
                <a:r>
                  <a:rPr lang="fr-FR" dirty="0"/>
                  <a:t>  </a:t>
                </a:r>
                <a:r>
                  <a:rPr lang="fr-FR" dirty="0" err="1"/>
                  <a:t>represents</a:t>
                </a:r>
                <a:r>
                  <a:rPr lang="fr-FR" dirty="0"/>
                  <a:t> variations of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fr-FR" dirty="0"/>
                  <a:t> </a:t>
                </a:r>
                <a:r>
                  <a:rPr lang="fr-FR" dirty="0" err="1"/>
                  <a:t>with</a:t>
                </a:r>
                <a:r>
                  <a:rPr lang="fr-FR" dirty="0"/>
                  <a:t> respect to time </a:t>
                </a:r>
                <a:r>
                  <a:rPr lang="fr-FR" dirty="0" err="1"/>
                  <a:t>only</a:t>
                </a:r>
                <a:r>
                  <a:rPr lang="fr-FR" dirty="0"/>
                  <a:t> (on a </a:t>
                </a:r>
                <a:r>
                  <a:rPr lang="fr-FR" dirty="0" err="1"/>
                  <a:t>fixed</a:t>
                </a:r>
                <a:r>
                  <a:rPr lang="fr-FR" dirty="0"/>
                  <a:t> point in </a:t>
                </a:r>
                <a:r>
                  <a:rPr lang="fr-FR" dirty="0" err="1"/>
                  <a:t>space</a:t>
                </a:r>
                <a:r>
                  <a:rPr lang="fr-FR"/>
                  <a:t>).</a:t>
                </a:r>
                <a:endParaRPr lang="fr-FR" dirty="0"/>
              </a:p>
            </p:txBody>
          </p:sp>
        </mc:Choice>
        <mc:Fallback xmlns=""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CA7AB7B9-F411-00F1-D521-207784292F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565" y="3294394"/>
                <a:ext cx="11489635" cy="369332"/>
              </a:xfrm>
              <a:prstGeom prst="rect">
                <a:avLst/>
              </a:prstGeom>
              <a:blipFill>
                <a:blip r:embed="rId4"/>
                <a:stretch>
                  <a:fillRect l="-318" t="-6557" b="-2459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Espace réservé du pied de page 3">
            <a:extLst>
              <a:ext uri="{FF2B5EF4-FFF2-40B4-BE49-F238E27FC236}">
                <a16:creationId xmlns:a16="http://schemas.microsoft.com/office/drawing/2014/main" id="{DE5413C3-A740-272F-FF1E-667AE7900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4212" y="6172200"/>
            <a:ext cx="7543800" cy="365125"/>
          </a:xfrm>
        </p:spPr>
        <p:txBody>
          <a:bodyPr/>
          <a:lstStyle/>
          <a:p>
            <a:r>
              <a:rPr lang="fr-FR" dirty="0" err="1" smtClean="0"/>
              <a:t>Aerodynamics</a:t>
            </a:r>
            <a:r>
              <a:rPr lang="fr-FR" dirty="0" smtClean="0"/>
              <a:t>  </a:t>
            </a:r>
            <a:r>
              <a:rPr lang="fr-FR" dirty="0"/>
              <a:t>- </a:t>
            </a:r>
            <a:r>
              <a:rPr lang="fr-FR" dirty="0" err="1"/>
              <a:t>Chapter</a:t>
            </a:r>
            <a:r>
              <a:rPr lang="fr-FR" dirty="0"/>
              <a:t> 1 – </a:t>
            </a:r>
            <a:r>
              <a:rPr lang="fr-FR" dirty="0" err="1"/>
              <a:t>Mathematical</a:t>
            </a:r>
            <a:r>
              <a:rPr lang="fr-FR" dirty="0"/>
              <a:t> </a:t>
            </a:r>
            <a:r>
              <a:rPr lang="fr-FR" dirty="0" err="1"/>
              <a:t>tools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44700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nip Diagonal Corner Rectangle 6">
            <a:extLst>
              <a:ext uri="{FF2B5EF4-FFF2-40B4-BE49-F238E27FC236}">
                <a16:creationId xmlns:a16="http://schemas.microsoft.com/office/drawing/2014/main" id="{AD2D45C7-2E37-44FD-AC77-116CD14B9ED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25" y="2"/>
            <a:ext cx="12191075" cy="6857998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002">
            <a:schemeClr val="dk2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30" name="Snip Single Corner Rectangle 17">
            <a:extLst>
              <a:ext uri="{FF2B5EF4-FFF2-40B4-BE49-F238E27FC236}">
                <a16:creationId xmlns:a16="http://schemas.microsoft.com/office/drawing/2014/main" id="{1FF88480-2CF1-4C54-8CE3-2CA9CD9FF89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1"/>
            <a:ext cx="12188825" cy="6857999"/>
          </a:xfrm>
          <a:prstGeom prst="snip1Rect">
            <a:avLst>
              <a:gd name="adj" fmla="val 5000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3B03BD6-2501-5717-B1C6-15952A328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8</a:t>
            </a:fld>
            <a:endParaRPr lang="en-US"/>
          </a:p>
        </p:txBody>
      </p:sp>
      <p:sp>
        <p:nvSpPr>
          <p:cNvPr id="21" name="Titre 1">
            <a:extLst>
              <a:ext uri="{FF2B5EF4-FFF2-40B4-BE49-F238E27FC236}">
                <a16:creationId xmlns:a16="http://schemas.microsoft.com/office/drawing/2014/main" id="{98AD032B-4A83-065B-9888-6166E18B2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179592"/>
            <a:ext cx="10924692" cy="1507067"/>
          </a:xfrm>
        </p:spPr>
        <p:txBody>
          <a:bodyPr>
            <a:normAutofit/>
          </a:bodyPr>
          <a:lstStyle/>
          <a:p>
            <a:r>
              <a:rPr lang="fr-FR" sz="4000" dirty="0" err="1">
                <a:solidFill>
                  <a:schemeClr val="tx2"/>
                </a:solidFill>
              </a:rPr>
              <a:t>Derivatives</a:t>
            </a:r>
            <a:r>
              <a:rPr lang="fr-FR" sz="4000" dirty="0">
                <a:solidFill>
                  <a:schemeClr val="tx2"/>
                </a:solidFill>
              </a:rPr>
              <a:t> - Partial </a:t>
            </a:r>
            <a:r>
              <a:rPr lang="fr-FR" sz="4000" dirty="0" err="1">
                <a:solidFill>
                  <a:schemeClr val="tx2"/>
                </a:solidFill>
              </a:rPr>
              <a:t>derivatives</a:t>
            </a:r>
            <a:endParaRPr lang="fr-FR" sz="4000" dirty="0">
              <a:solidFill>
                <a:schemeClr val="tx2"/>
              </a:solidFill>
            </a:endParaRPr>
          </a:p>
        </p:txBody>
      </p:sp>
      <p:sp>
        <p:nvSpPr>
          <p:cNvPr id="23" name="Espace réservé du numéro de diapositive 4">
            <a:extLst>
              <a:ext uri="{FF2B5EF4-FFF2-40B4-BE49-F238E27FC236}">
                <a16:creationId xmlns:a16="http://schemas.microsoft.com/office/drawing/2014/main" id="{C3B03BD6-2501-5717-B1C6-15952A328877}"/>
              </a:ext>
            </a:extLst>
          </p:cNvPr>
          <p:cNvSpPr txBox="1">
            <a:spLocks/>
          </p:cNvSpPr>
          <p:nvPr/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457200" rtl="0" eaLnBrk="1" latinLnBrk="0" hangingPunct="1">
              <a:defRPr sz="3200" b="0" i="0" kern="1200">
                <a:solidFill>
                  <a:schemeClr val="bg2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1F18EF7-BE1E-4ECB-84D4-67C2B4D8F095}" type="slidenum">
              <a:rPr lang="en-US" smtClean="0"/>
              <a:pPr/>
              <a:t>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ZoneTexte 23">
                <a:extLst>
                  <a:ext uri="{FF2B5EF4-FFF2-40B4-BE49-F238E27FC236}">
                    <a16:creationId xmlns:a16="http://schemas.microsoft.com/office/drawing/2014/main" id="{C1522C50-D6B9-4112-F22D-1E68F3F427C7}"/>
                  </a:ext>
                </a:extLst>
              </p:cNvPr>
              <p:cNvSpPr txBox="1"/>
              <p:nvPr/>
            </p:nvSpPr>
            <p:spPr>
              <a:xfrm>
                <a:off x="515835" y="1708913"/>
                <a:ext cx="11489635" cy="10845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fr-FR" b="1" dirty="0"/>
                  <a:t>Application : </a:t>
                </a:r>
                <a:r>
                  <a:rPr lang="fr-FR" dirty="0"/>
                  <a:t>		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fr-FR" b="0" i="1" smtClean="0">
                        <a:latin typeface="Cambria Math" panose="02040503050406030204" pitchFamily="18" charset="0"/>
                      </a:rPr>
                      <m:t>=2</m:t>
                    </m:r>
                    <m:sSup>
                      <m:sSup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fr-FR" b="0" i="1" smtClean="0">
                        <a:latin typeface="Cambria Math" panose="02040503050406030204" pitchFamily="18" charset="0"/>
                      </a:rPr>
                      <m:t>+3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𝑥𝑦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+4</m:t>
                    </m:r>
                    <m:sSup>
                      <m:sSup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fr-FR" b="0" i="1" smtClean="0">
                        <a:latin typeface="Cambria Math" panose="02040503050406030204" pitchFamily="18" charset="0"/>
                      </a:rPr>
                      <m:t>+ </m:t>
                    </m:r>
                    <m:sSup>
                      <m:sSup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func>
                      <m:func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func>
                  </m:oMath>
                </a14:m>
                <a:endParaRPr lang="fr-FR" b="0" dirty="0"/>
              </a:p>
              <a:p>
                <a:endParaRPr lang="fr-FR" dirty="0"/>
              </a:p>
              <a:p>
                <a:r>
                  <a:rPr lang="fr-FR" dirty="0" err="1"/>
                  <a:t>Calculate</a:t>
                </a:r>
                <a:r>
                  <a:rPr lang="fr-FR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fr-FR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d>
                      <m:d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fr-FR" dirty="0"/>
                  <a:t>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fr-FR" dirty="0"/>
                  <a:t>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d>
                      <m:d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fr-FR" dirty="0"/>
                  <a:t> and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d>
                      <m:d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endParaRPr lang="fr-FR" dirty="0"/>
              </a:p>
            </p:txBody>
          </p:sp>
        </mc:Choice>
        <mc:Fallback xmlns="">
          <p:sp>
            <p:nvSpPr>
              <p:cNvPr id="24" name="ZoneTexte 23">
                <a:extLst>
                  <a:ext uri="{FF2B5EF4-FFF2-40B4-BE49-F238E27FC236}">
                    <a16:creationId xmlns:a16="http://schemas.microsoft.com/office/drawing/2014/main" id="{C1522C50-D6B9-4112-F22D-1E68F3F427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835" y="1708913"/>
                <a:ext cx="11489635" cy="1084528"/>
              </a:xfrm>
              <a:prstGeom prst="rect">
                <a:avLst/>
              </a:prstGeom>
              <a:blipFill>
                <a:blip r:embed="rId2"/>
                <a:stretch>
                  <a:fillRect l="-478" t="-2809" b="-56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ZoneTexte 24">
                <a:extLst>
                  <a:ext uri="{FF2B5EF4-FFF2-40B4-BE49-F238E27FC236}">
                    <a16:creationId xmlns:a16="http://schemas.microsoft.com/office/drawing/2014/main" id="{E997AD5A-D1DC-4DAF-0C5B-C419C13A4BEB}"/>
                  </a:ext>
                </a:extLst>
              </p:cNvPr>
              <p:cNvSpPr txBox="1"/>
              <p:nvPr/>
            </p:nvSpPr>
            <p:spPr>
              <a:xfrm>
                <a:off x="-791144" y="3119492"/>
                <a:ext cx="6103602" cy="6190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800" b="0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r>
                            <a:rPr lang="fr-FR" sz="1800" b="0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fr-FR" sz="1800" b="0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r>
                            <a:rPr lang="fr-FR" sz="1800" b="0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den>
                      </m:f>
                      <m:r>
                        <a:rPr lang="fr-FR" sz="1800" b="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=4</m:t>
                      </m:r>
                      <m:r>
                        <a:rPr lang="fr-FR" sz="1800" b="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𝑡</m:t>
                      </m:r>
                      <m:r>
                        <a:rPr lang="fr-FR" sz="1800" b="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 −</m:t>
                      </m:r>
                      <m:r>
                        <a:rPr lang="fr-FR" sz="1800" b="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𝑒𝑥𝑝</m:t>
                      </m:r>
                      <m:d>
                        <m:dPr>
                          <m:ctrlPr>
                            <a:rPr lang="fr-FR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800" b="0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fr-FR" sz="1800" b="0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800" b="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∗</m:t>
                      </m:r>
                      <m:r>
                        <a:rPr lang="fr-FR" sz="1800" b="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𝑐𝑜𝑠</m:t>
                      </m:r>
                      <m:r>
                        <a:rPr lang="fr-FR" sz="1800" b="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fr-FR" sz="1800" b="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𝑧</m:t>
                      </m:r>
                      <m:r>
                        <a:rPr lang="fr-FR" sz="1800" b="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5" name="ZoneTexte 24">
                <a:extLst>
                  <a:ext uri="{FF2B5EF4-FFF2-40B4-BE49-F238E27FC236}">
                    <a16:creationId xmlns:a16="http://schemas.microsoft.com/office/drawing/2014/main" id="{E997AD5A-D1DC-4DAF-0C5B-C419C13A4B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91144" y="3119492"/>
                <a:ext cx="6103602" cy="61901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ZoneTexte 25">
                <a:extLst>
                  <a:ext uri="{FF2B5EF4-FFF2-40B4-BE49-F238E27FC236}">
                    <a16:creationId xmlns:a16="http://schemas.microsoft.com/office/drawing/2014/main" id="{DCF22C4B-74F7-B172-D022-E7F75A17C0C6}"/>
                  </a:ext>
                </a:extLst>
              </p:cNvPr>
              <p:cNvSpPr txBox="1"/>
              <p:nvPr/>
            </p:nvSpPr>
            <p:spPr>
              <a:xfrm>
                <a:off x="2845673" y="3119492"/>
                <a:ext cx="6500654" cy="6190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800" b="0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r>
                            <a:rPr lang="fr-FR" sz="1800" b="0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fr-FR" sz="1800" b="0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r>
                            <a:rPr lang="fr-FR" sz="1800" b="0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den>
                      </m:f>
                      <m:r>
                        <a:rPr lang="fr-FR" sz="1800" b="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=3</m:t>
                      </m:r>
                      <m:r>
                        <a:rPr lang="fr-FR" sz="1800" b="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𝑦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6" name="ZoneTexte 25">
                <a:extLst>
                  <a:ext uri="{FF2B5EF4-FFF2-40B4-BE49-F238E27FC236}">
                    <a16:creationId xmlns:a16="http://schemas.microsoft.com/office/drawing/2014/main" id="{DCF22C4B-74F7-B172-D022-E7F75A17C0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5673" y="3119492"/>
                <a:ext cx="6500654" cy="61901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ZoneTexte 26">
                <a:extLst>
                  <a:ext uri="{FF2B5EF4-FFF2-40B4-BE49-F238E27FC236}">
                    <a16:creationId xmlns:a16="http://schemas.microsoft.com/office/drawing/2014/main" id="{6BB546F0-214E-113B-81B3-1F495332900D}"/>
                  </a:ext>
                </a:extLst>
              </p:cNvPr>
              <p:cNvSpPr txBox="1"/>
              <p:nvPr/>
            </p:nvSpPr>
            <p:spPr>
              <a:xfrm>
                <a:off x="-1673950" y="4185546"/>
                <a:ext cx="6500654" cy="6664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800" b="0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r>
                            <a:rPr lang="fr-FR" sz="1800" b="0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fr-FR" sz="1800" b="0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r>
                            <a:rPr lang="fr-FR" sz="1800" b="0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den>
                      </m:f>
                      <m:r>
                        <a:rPr lang="fr-FR" sz="1800" b="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=3</m:t>
                      </m:r>
                      <m:r>
                        <a:rPr lang="fr-FR" sz="1800" b="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fr-FR" sz="1800" b="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+12</m:t>
                      </m:r>
                      <m:r>
                        <a:rPr lang="fr-FR" sz="1800" b="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fr-FR" sz="1800" b="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²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7" name="ZoneTexte 26">
                <a:extLst>
                  <a:ext uri="{FF2B5EF4-FFF2-40B4-BE49-F238E27FC236}">
                    <a16:creationId xmlns:a16="http://schemas.microsoft.com/office/drawing/2014/main" id="{6BB546F0-214E-113B-81B3-1F49533290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673950" y="4185546"/>
                <a:ext cx="6500654" cy="66646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ZoneTexte 28">
                <a:extLst>
                  <a:ext uri="{FF2B5EF4-FFF2-40B4-BE49-F238E27FC236}">
                    <a16:creationId xmlns:a16="http://schemas.microsoft.com/office/drawing/2014/main" id="{B054E52A-6066-FAD9-841D-32FD926F62B7}"/>
                  </a:ext>
                </a:extLst>
              </p:cNvPr>
              <p:cNvSpPr txBox="1"/>
              <p:nvPr/>
            </p:nvSpPr>
            <p:spPr>
              <a:xfrm>
                <a:off x="3423256" y="4120351"/>
                <a:ext cx="6939944" cy="6190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800" b="0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r>
                            <a:rPr lang="fr-FR" sz="1800" b="0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fr-FR" sz="1800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r>
                            <a:rPr lang="fr-FR" sz="1800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den>
                      </m:f>
                      <m:r>
                        <a:rPr lang="fr-FR" sz="180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=−</m:t>
                      </m:r>
                      <m:r>
                        <a:rPr lang="fr-FR" sz="180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𝑒𝑥𝑝</m:t>
                      </m:r>
                      <m:d>
                        <m:dPr>
                          <m:ctrlPr>
                            <a:rPr lang="fr-FR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800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fr-FR" sz="1800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80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∗</m:t>
                      </m:r>
                      <m:r>
                        <a:rPr lang="fr-FR" sz="180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𝑠𝑖𝑛</m:t>
                      </m:r>
                      <m:r>
                        <a:rPr lang="fr-FR" sz="180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fr-FR" sz="180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𝑧</m:t>
                      </m:r>
                      <m:r>
                        <a:rPr lang="fr-FR" sz="1800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fr-FR" i="1" dirty="0"/>
              </a:p>
            </p:txBody>
          </p:sp>
        </mc:Choice>
        <mc:Fallback xmlns="">
          <p:sp>
            <p:nvSpPr>
              <p:cNvPr id="29" name="ZoneTexte 28">
                <a:extLst>
                  <a:ext uri="{FF2B5EF4-FFF2-40B4-BE49-F238E27FC236}">
                    <a16:creationId xmlns:a16="http://schemas.microsoft.com/office/drawing/2014/main" id="{B054E52A-6066-FAD9-841D-32FD926F62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3256" y="4120351"/>
                <a:ext cx="6939944" cy="61901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Espace réservé du pied de page 3">
            <a:extLst>
              <a:ext uri="{FF2B5EF4-FFF2-40B4-BE49-F238E27FC236}">
                <a16:creationId xmlns:a16="http://schemas.microsoft.com/office/drawing/2014/main" id="{DE5413C3-A740-272F-FF1E-667AE7900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4212" y="6172200"/>
            <a:ext cx="7543800" cy="365125"/>
          </a:xfrm>
        </p:spPr>
        <p:txBody>
          <a:bodyPr/>
          <a:lstStyle/>
          <a:p>
            <a:r>
              <a:rPr lang="fr-FR" dirty="0" err="1" smtClean="0"/>
              <a:t>Aerodynamics</a:t>
            </a:r>
            <a:r>
              <a:rPr lang="fr-FR" dirty="0" smtClean="0"/>
              <a:t>  </a:t>
            </a:r>
            <a:r>
              <a:rPr lang="fr-FR" dirty="0"/>
              <a:t>- </a:t>
            </a:r>
            <a:r>
              <a:rPr lang="fr-FR" dirty="0" err="1"/>
              <a:t>Chapter</a:t>
            </a:r>
            <a:r>
              <a:rPr lang="fr-FR" dirty="0"/>
              <a:t> 1 – </a:t>
            </a:r>
            <a:r>
              <a:rPr lang="fr-FR" dirty="0" err="1"/>
              <a:t>Mathematical</a:t>
            </a:r>
            <a:r>
              <a:rPr lang="fr-FR" dirty="0"/>
              <a:t> </a:t>
            </a:r>
            <a:r>
              <a:rPr lang="fr-FR" dirty="0" err="1"/>
              <a:t>tools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13516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7" grpId="0"/>
      <p:bldP spid="2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nip Diagonal Corner Rectangle 6">
            <a:extLst>
              <a:ext uri="{FF2B5EF4-FFF2-40B4-BE49-F238E27FC236}">
                <a16:creationId xmlns:a16="http://schemas.microsoft.com/office/drawing/2014/main" id="{AD2D45C7-2E37-44FD-AC77-116CD14B9ED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25" y="2"/>
            <a:ext cx="12191075" cy="6857998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002">
            <a:schemeClr val="dk2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30" name="Snip Single Corner Rectangle 17">
            <a:extLst>
              <a:ext uri="{FF2B5EF4-FFF2-40B4-BE49-F238E27FC236}">
                <a16:creationId xmlns:a16="http://schemas.microsoft.com/office/drawing/2014/main" id="{1FF88480-2CF1-4C54-8CE3-2CA9CD9FF89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1"/>
            <a:ext cx="12188825" cy="6857999"/>
          </a:xfrm>
          <a:prstGeom prst="snip1Rect">
            <a:avLst>
              <a:gd name="adj" fmla="val 5000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8AD032B-4A83-065B-9888-6166E18B2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179592"/>
            <a:ext cx="10924692" cy="1507067"/>
          </a:xfrm>
        </p:spPr>
        <p:txBody>
          <a:bodyPr>
            <a:normAutofit/>
          </a:bodyPr>
          <a:lstStyle/>
          <a:p>
            <a:r>
              <a:rPr lang="fr-FR" sz="4000" dirty="0">
                <a:solidFill>
                  <a:schemeClr val="tx2"/>
                </a:solidFill>
              </a:rPr>
              <a:t>DERIVATIVES - DIFFERENTIAL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3B03BD6-2501-5717-B1C6-15952A328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9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06E9F4CE-BB25-6548-40D4-F586151E4E68}"/>
                  </a:ext>
                </a:extLst>
              </p:cNvPr>
              <p:cNvSpPr txBox="1"/>
              <p:nvPr/>
            </p:nvSpPr>
            <p:spPr>
              <a:xfrm>
                <a:off x="397565" y="1686659"/>
                <a:ext cx="11211339" cy="12203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fr-FR" dirty="0"/>
                  <a:t> </a:t>
                </a:r>
                <a:r>
                  <a:rPr lang="fr-FR" dirty="0" err="1"/>
                  <a:t>Differential</a:t>
                </a:r>
                <a:r>
                  <a:rPr lang="fr-FR" dirty="0"/>
                  <a:t>, </a:t>
                </a:r>
                <a:r>
                  <a:rPr lang="fr-FR" dirty="0" err="1"/>
                  <a:t>representing</a:t>
                </a:r>
                <a:r>
                  <a:rPr lang="fr-FR" dirty="0"/>
                  <a:t> </a:t>
                </a:r>
                <a:r>
                  <a:rPr lang="fr-FR" dirty="0" err="1"/>
                  <a:t>infinitesimal</a:t>
                </a:r>
                <a:r>
                  <a:rPr lang="fr-FR" dirty="0"/>
                  <a:t> variations of </a:t>
                </a:r>
                <a14:m>
                  <m:oMath xmlns:m="http://schemas.openxmlformats.org/officeDocument/2006/math">
                    <m:r>
                      <a:rPr lang="fr-FR" sz="1800" b="0" i="1" kern="10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fr-FR" sz="1800" b="0" i="1" kern="10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fr-FR" dirty="0"/>
                  <a:t> </a:t>
                </a:r>
                <a:r>
                  <a:rPr lang="fr-FR" dirty="0" err="1"/>
                  <a:t>is</a:t>
                </a:r>
                <a:r>
                  <a:rPr lang="fr-FR" dirty="0"/>
                  <a:t> </a:t>
                </a:r>
                <a:r>
                  <a:rPr lang="fr-FR" dirty="0" err="1"/>
                  <a:t>linked</a:t>
                </a:r>
                <a:r>
                  <a:rPr lang="fr-FR" dirty="0"/>
                  <a:t> </a:t>
                </a:r>
                <a:r>
                  <a:rPr lang="fr-FR" dirty="0" err="1"/>
                  <a:t>with</a:t>
                </a:r>
                <a:r>
                  <a:rPr lang="fr-FR" dirty="0"/>
                  <a:t> partial </a:t>
                </a:r>
                <a:r>
                  <a:rPr lang="fr-FR" dirty="0" err="1" smtClean="0"/>
                  <a:t>derivatives</a:t>
                </a:r>
                <a:r>
                  <a:rPr lang="fr-FR" dirty="0" smtClean="0"/>
                  <a:t> by </a:t>
                </a:r>
                <a:r>
                  <a:rPr lang="fr-FR" dirty="0"/>
                  <a:t>: 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endParaRPr lang="fr-FR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fr-FR" i="1" smtClean="0">
                          <a:latin typeface="Cambria Math" panose="02040503050406030204" pitchFamily="18" charset="0"/>
                        </a:rPr>
                        <m:t>ⅆ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fr-FR" i="1">
                          <a:latin typeface="Cambria Math" panose="02040503050406030204" pitchFamily="18" charset="0"/>
                        </a:rPr>
                        <m:t>𝑑𝑡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r>
                        <a:rPr lang="fr-FR" i="1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nor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fr-FR" dirty="0"/>
                        <m:t>+ </m:t>
                      </m:r>
                      <m:f>
                        <m:f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den>
                      </m:f>
                      <m:r>
                        <a:rPr lang="fr-FR" i="1">
                          <a:latin typeface="Cambria Math" panose="02040503050406030204" pitchFamily="18" charset="0"/>
                        </a:rPr>
                        <m:t>𝑑</m:t>
                      </m:r>
                      <m:r>
                        <m:rPr>
                          <m:nor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z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06E9F4CE-BB25-6548-40D4-F586151E4E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565" y="1686659"/>
                <a:ext cx="11211339" cy="1220334"/>
              </a:xfrm>
              <a:prstGeom prst="rect">
                <a:avLst/>
              </a:prstGeom>
              <a:blipFill>
                <a:blip r:embed="rId2"/>
                <a:stretch>
                  <a:fillRect l="-326" t="-30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Espace réservé du pied de page 3">
            <a:extLst>
              <a:ext uri="{FF2B5EF4-FFF2-40B4-BE49-F238E27FC236}">
                <a16:creationId xmlns:a16="http://schemas.microsoft.com/office/drawing/2014/main" id="{DE5413C3-A740-272F-FF1E-667AE7900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4212" y="6172200"/>
            <a:ext cx="7543800" cy="365125"/>
          </a:xfrm>
        </p:spPr>
        <p:txBody>
          <a:bodyPr/>
          <a:lstStyle/>
          <a:p>
            <a:r>
              <a:rPr lang="fr-FR" dirty="0" err="1" smtClean="0"/>
              <a:t>Aerodynamics</a:t>
            </a:r>
            <a:r>
              <a:rPr lang="fr-FR" dirty="0" smtClean="0"/>
              <a:t>  </a:t>
            </a:r>
            <a:r>
              <a:rPr lang="fr-FR" dirty="0"/>
              <a:t>- </a:t>
            </a:r>
            <a:r>
              <a:rPr lang="fr-FR" dirty="0" err="1"/>
              <a:t>Chapter</a:t>
            </a:r>
            <a:r>
              <a:rPr lang="fr-FR" dirty="0"/>
              <a:t> 1 – </a:t>
            </a:r>
            <a:r>
              <a:rPr lang="fr-FR" dirty="0" err="1"/>
              <a:t>Mathematical</a:t>
            </a:r>
            <a:r>
              <a:rPr lang="fr-FR" dirty="0"/>
              <a:t> </a:t>
            </a:r>
            <a:r>
              <a:rPr lang="fr-FR" dirty="0" err="1"/>
              <a:t>tools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66304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nip Diagonal Corner Rectangle 6">
            <a:extLst>
              <a:ext uri="{FF2B5EF4-FFF2-40B4-BE49-F238E27FC236}">
                <a16:creationId xmlns:a16="http://schemas.microsoft.com/office/drawing/2014/main" id="{AD2D45C7-2E37-44FD-AC77-116CD14B9ED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25" y="2"/>
            <a:ext cx="12191075" cy="6857998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002">
            <a:schemeClr val="dk2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30" name="Snip Single Corner Rectangle 17">
            <a:extLst>
              <a:ext uri="{FF2B5EF4-FFF2-40B4-BE49-F238E27FC236}">
                <a16:creationId xmlns:a16="http://schemas.microsoft.com/office/drawing/2014/main" id="{1FF88480-2CF1-4C54-8CE3-2CA9CD9FF89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1"/>
            <a:ext cx="12188825" cy="6857999"/>
          </a:xfrm>
          <a:prstGeom prst="snip1Rect">
            <a:avLst>
              <a:gd name="adj" fmla="val 5000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8AD032B-4A83-065B-9888-6166E18B2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179592"/>
            <a:ext cx="10924692" cy="1507067"/>
          </a:xfrm>
        </p:spPr>
        <p:txBody>
          <a:bodyPr>
            <a:normAutofit/>
          </a:bodyPr>
          <a:lstStyle/>
          <a:p>
            <a:r>
              <a:rPr lang="fr-FR" sz="4000" dirty="0" err="1">
                <a:solidFill>
                  <a:schemeClr val="tx2"/>
                </a:solidFill>
              </a:rPr>
              <a:t>Derivatives</a:t>
            </a:r>
            <a:r>
              <a:rPr lang="fr-FR" sz="4000" dirty="0">
                <a:solidFill>
                  <a:schemeClr val="tx2"/>
                </a:solidFill>
              </a:rPr>
              <a:t> – </a:t>
            </a:r>
            <a:r>
              <a:rPr lang="fr-FR" sz="4000" dirty="0" err="1">
                <a:solidFill>
                  <a:schemeClr val="tx2"/>
                </a:solidFill>
              </a:rPr>
              <a:t>Vectorial</a:t>
            </a:r>
            <a:r>
              <a:rPr lang="fr-FR" sz="4000" dirty="0">
                <a:solidFill>
                  <a:schemeClr val="tx2"/>
                </a:solidFill>
              </a:rPr>
              <a:t> </a:t>
            </a:r>
            <a:r>
              <a:rPr lang="fr-FR" sz="4000" dirty="0" err="1">
                <a:solidFill>
                  <a:schemeClr val="tx2"/>
                </a:solidFill>
              </a:rPr>
              <a:t>functions</a:t>
            </a:r>
            <a:endParaRPr lang="fr-FR" sz="4000" dirty="0">
              <a:solidFill>
                <a:schemeClr val="tx2"/>
              </a:solidFill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3B03BD6-2501-5717-B1C6-15952A328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10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06E9F4CE-BB25-6548-40D4-F586151E4E68}"/>
                  </a:ext>
                </a:extLst>
              </p:cNvPr>
              <p:cNvSpPr txBox="1"/>
              <p:nvPr/>
            </p:nvSpPr>
            <p:spPr>
              <a:xfrm>
                <a:off x="397565" y="1686659"/>
                <a:ext cx="11211339" cy="27138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fr-FR" dirty="0"/>
                  <a:t> For a </a:t>
                </a:r>
                <a:r>
                  <a:rPr lang="fr-FR" dirty="0" err="1">
                    <a:solidFill>
                      <a:srgbClr val="00B050"/>
                    </a:solidFill>
                  </a:rPr>
                  <a:t>vector</a:t>
                </a:r>
                <a:r>
                  <a:rPr lang="fr-FR" dirty="0">
                    <a:solidFill>
                      <a:srgbClr val="00B050"/>
                    </a:solidFill>
                  </a:rPr>
                  <a:t> </a:t>
                </a:r>
                <a:r>
                  <a:rPr lang="fr-FR" i="1" dirty="0" err="1"/>
                  <a:t>function</a:t>
                </a:r>
                <a:r>
                  <a:rPr lang="fr-FR" dirty="0">
                    <a:solidFill>
                      <a:srgbClr val="00B050"/>
                    </a:solidFill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lang="fr-FR" dirty="0">
                    <a:solidFill>
                      <a:srgbClr val="00B050"/>
                    </a:solidFill>
                  </a:rPr>
                  <a:t> </a:t>
                </a:r>
                <a:r>
                  <a:rPr lang="fr-FR" dirty="0"/>
                  <a:t>: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endParaRPr lang="fr-FR" dirty="0">
                  <a:solidFill>
                    <a:srgbClr val="00B050"/>
                  </a:solidFill>
                </a:endParaRP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endParaRPr lang="fr-FR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⃗"/>
                              <m:ctrlPr>
                                <a:rPr lang="fr-F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</m:num>
                        <m:den>
                          <m:r>
                            <a:rPr lang="fr-FR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fr-F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ctrlPr>
                            <a:rPr lang="fr-F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fr-F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fr-F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</m:e>
                            </m:mr>
                            <m:mr>
                              <m:e>
                                <m:r>
                                  <a:rPr lang="fr-F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</m:e>
                            </m:mr>
                            <m:mr>
                              <m:e>
                                <m:r>
                                  <a:rPr lang="fr-F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  <m:r>
                        <a:rPr lang="fr-F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fr-F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06E9F4CE-BB25-6548-40D4-F586151E4E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565" y="1686659"/>
                <a:ext cx="11211339" cy="2713884"/>
              </a:xfrm>
              <a:prstGeom prst="rect">
                <a:avLst/>
              </a:prstGeom>
              <a:blipFill>
                <a:blip r:embed="rId2"/>
                <a:stretch>
                  <a:fillRect l="-326" t="-112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Espace réservé du pied de page 3">
            <a:extLst>
              <a:ext uri="{FF2B5EF4-FFF2-40B4-BE49-F238E27FC236}">
                <a16:creationId xmlns:a16="http://schemas.microsoft.com/office/drawing/2014/main" id="{DE5413C3-A740-272F-FF1E-667AE7900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4212" y="6172200"/>
            <a:ext cx="7543800" cy="365125"/>
          </a:xfrm>
        </p:spPr>
        <p:txBody>
          <a:bodyPr/>
          <a:lstStyle/>
          <a:p>
            <a:r>
              <a:rPr lang="fr-FR" dirty="0" err="1" smtClean="0"/>
              <a:t>Aerodynamics</a:t>
            </a:r>
            <a:r>
              <a:rPr lang="fr-FR" dirty="0" smtClean="0"/>
              <a:t>  </a:t>
            </a:r>
            <a:r>
              <a:rPr lang="fr-FR" dirty="0"/>
              <a:t>- </a:t>
            </a:r>
            <a:r>
              <a:rPr lang="fr-FR" dirty="0" err="1"/>
              <a:t>Chapter</a:t>
            </a:r>
            <a:r>
              <a:rPr lang="fr-FR" dirty="0"/>
              <a:t> 1 – </a:t>
            </a:r>
            <a:r>
              <a:rPr lang="fr-FR" dirty="0" err="1"/>
              <a:t>Mathematical</a:t>
            </a:r>
            <a:r>
              <a:rPr lang="fr-FR" dirty="0"/>
              <a:t> </a:t>
            </a:r>
            <a:r>
              <a:rPr lang="fr-FR" dirty="0" err="1"/>
              <a:t>tools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16581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nip Diagonal Corner Rectangle 6">
            <a:extLst>
              <a:ext uri="{FF2B5EF4-FFF2-40B4-BE49-F238E27FC236}">
                <a16:creationId xmlns:a16="http://schemas.microsoft.com/office/drawing/2014/main" id="{AD2D45C7-2E37-44FD-AC77-116CD14B9ED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25" y="2"/>
            <a:ext cx="12191075" cy="6857998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002">
            <a:schemeClr val="dk2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30" name="Snip Single Corner Rectangle 17">
            <a:extLst>
              <a:ext uri="{FF2B5EF4-FFF2-40B4-BE49-F238E27FC236}">
                <a16:creationId xmlns:a16="http://schemas.microsoft.com/office/drawing/2014/main" id="{1FF88480-2CF1-4C54-8CE3-2CA9CD9FF89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1"/>
            <a:ext cx="12188825" cy="6857999"/>
          </a:xfrm>
          <a:prstGeom prst="snip1Rect">
            <a:avLst>
              <a:gd name="adj" fmla="val 5000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8AD032B-4A83-065B-9888-6166E18B2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179592"/>
            <a:ext cx="10924692" cy="1507067"/>
          </a:xfrm>
        </p:spPr>
        <p:txBody>
          <a:bodyPr>
            <a:normAutofit/>
          </a:bodyPr>
          <a:lstStyle/>
          <a:p>
            <a:r>
              <a:rPr lang="fr-FR" sz="4000" dirty="0" err="1">
                <a:solidFill>
                  <a:schemeClr val="tx2"/>
                </a:solidFill>
              </a:rPr>
              <a:t>Derivatives</a:t>
            </a:r>
            <a:r>
              <a:rPr lang="fr-FR" sz="4000" dirty="0">
                <a:solidFill>
                  <a:schemeClr val="tx2"/>
                </a:solidFill>
              </a:rPr>
              <a:t> – Matrix </a:t>
            </a:r>
            <a:r>
              <a:rPr lang="fr-FR" sz="4000" dirty="0" err="1">
                <a:solidFill>
                  <a:schemeClr val="tx2"/>
                </a:solidFill>
              </a:rPr>
              <a:t>function</a:t>
            </a:r>
            <a:endParaRPr lang="fr-FR" sz="4000" dirty="0">
              <a:solidFill>
                <a:schemeClr val="tx2"/>
              </a:solidFill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3B03BD6-2501-5717-B1C6-15952A328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11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06E9F4CE-BB25-6548-40D4-F586151E4E68}"/>
                  </a:ext>
                </a:extLst>
              </p:cNvPr>
              <p:cNvSpPr txBox="1"/>
              <p:nvPr/>
            </p:nvSpPr>
            <p:spPr>
              <a:xfrm>
                <a:off x="397565" y="1686659"/>
                <a:ext cx="11211339" cy="27856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fr-FR" dirty="0"/>
                  <a:t> For  a </a:t>
                </a:r>
                <a:r>
                  <a:rPr lang="fr-FR" dirty="0">
                    <a:solidFill>
                      <a:srgbClr val="0070C0"/>
                    </a:solidFill>
                  </a:rPr>
                  <a:t>matrix </a:t>
                </a:r>
                <a:r>
                  <a:rPr lang="fr-FR" i="1" dirty="0" err="1"/>
                  <a:t>function</a:t>
                </a:r>
                <a:r>
                  <a:rPr lang="fr-FR" dirty="0">
                    <a:solidFill>
                      <a:srgbClr val="00B050"/>
                    </a:solidFill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acc>
                          <m:accPr>
                            <m:chr m:val="⃗"/>
                            <m:ctrlPr>
                              <a:rPr lang="fr-F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</m:acc>
                  </m:oMath>
                </a14:m>
                <a:r>
                  <a:rPr lang="fr-FR" dirty="0"/>
                  <a:t>: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endParaRPr lang="fr-FR" dirty="0">
                  <a:solidFill>
                    <a:srgbClr val="00B050"/>
                  </a:solidFill>
                </a:endParaRP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endParaRPr lang="fr-FR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⃗"/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acc>
                                <m:accPr>
                                  <m:chr m:val="⃗"/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acc>
                            </m:e>
                          </m:acc>
                        </m:num>
                        <m:den>
                          <m:r>
                            <a:rPr lang="fr-FR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fr-F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ctrlPr>
                            <a:rPr lang="fr-F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fr-F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  <m:sub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1,1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  <m:sub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fr-F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</m:e>
                              <m:e>
                                <m:r>
                                  <a:rPr lang="fr-F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  <m:e>
                                <m:r>
                                  <a:rPr lang="fr-F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</m:e>
                            </m:mr>
                            <m:mr>
                              <m:e>
                                <m:r>
                                  <a:rPr lang="fr-F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</m:e>
                              <m:e>
                                <m:r>
                                  <a:rPr lang="fr-F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  <m:e>
                                <m:r>
                                  <a:rPr lang="fr-F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</m:e>
                            </m:mr>
                            <m:mr>
                              <m:e>
                                <m:r>
                                  <a:rPr lang="fr-F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</m:e>
                              <m:e>
                                <m:r>
                                  <a:rPr lang="fr-F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  <m:e>
                                <m:r>
                                  <a:rPr lang="fr-FR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  <m:sub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,1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  <m:sub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  <m:r>
                        <a:rPr lang="fr-F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fr-F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06E9F4CE-BB25-6548-40D4-F586151E4E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565" y="1686659"/>
                <a:ext cx="11211339" cy="2785699"/>
              </a:xfrm>
              <a:prstGeom prst="rect">
                <a:avLst/>
              </a:prstGeom>
              <a:blipFill>
                <a:blip r:embed="rId2"/>
                <a:stretch>
                  <a:fillRect l="-32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Espace réservé du pied de page 3">
            <a:extLst>
              <a:ext uri="{FF2B5EF4-FFF2-40B4-BE49-F238E27FC236}">
                <a16:creationId xmlns:a16="http://schemas.microsoft.com/office/drawing/2014/main" id="{DE5413C3-A740-272F-FF1E-667AE7900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4212" y="6172200"/>
            <a:ext cx="7543800" cy="365125"/>
          </a:xfrm>
        </p:spPr>
        <p:txBody>
          <a:bodyPr/>
          <a:lstStyle/>
          <a:p>
            <a:r>
              <a:rPr lang="fr-FR" dirty="0" err="1" smtClean="0"/>
              <a:t>Aerodynamics</a:t>
            </a:r>
            <a:r>
              <a:rPr lang="fr-FR" dirty="0" smtClean="0"/>
              <a:t>  </a:t>
            </a:r>
            <a:r>
              <a:rPr lang="fr-FR" dirty="0"/>
              <a:t>- </a:t>
            </a:r>
            <a:r>
              <a:rPr lang="fr-FR" dirty="0" err="1"/>
              <a:t>Chapter</a:t>
            </a:r>
            <a:r>
              <a:rPr lang="fr-FR" dirty="0"/>
              <a:t> 1 – </a:t>
            </a:r>
            <a:r>
              <a:rPr lang="fr-FR" dirty="0" err="1"/>
              <a:t>Mathematical</a:t>
            </a:r>
            <a:r>
              <a:rPr lang="fr-FR" dirty="0"/>
              <a:t> </a:t>
            </a:r>
            <a:r>
              <a:rPr lang="fr-FR" dirty="0" err="1"/>
              <a:t>tools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1419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nip Diagonal Corner Rectangle 6">
            <a:extLst>
              <a:ext uri="{FF2B5EF4-FFF2-40B4-BE49-F238E27FC236}">
                <a16:creationId xmlns:a16="http://schemas.microsoft.com/office/drawing/2014/main" id="{AD2D45C7-2E37-44FD-AC77-116CD14B9ED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25" y="2"/>
            <a:ext cx="12191075" cy="6857998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002">
            <a:schemeClr val="dk2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30" name="Snip Single Corner Rectangle 17">
            <a:extLst>
              <a:ext uri="{FF2B5EF4-FFF2-40B4-BE49-F238E27FC236}">
                <a16:creationId xmlns:a16="http://schemas.microsoft.com/office/drawing/2014/main" id="{1FF88480-2CF1-4C54-8CE3-2CA9CD9FF89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1"/>
            <a:ext cx="12188825" cy="6857999"/>
          </a:xfrm>
          <a:prstGeom prst="snip1Rect">
            <a:avLst>
              <a:gd name="adj" fmla="val 5000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8AD032B-4A83-065B-9888-6166E18B2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179592"/>
            <a:ext cx="10924692" cy="1507067"/>
          </a:xfrm>
        </p:spPr>
        <p:txBody>
          <a:bodyPr>
            <a:normAutofit/>
          </a:bodyPr>
          <a:lstStyle/>
          <a:p>
            <a:r>
              <a:rPr lang="fr-FR" sz="4000" dirty="0" err="1">
                <a:solidFill>
                  <a:schemeClr val="tx2"/>
                </a:solidFill>
              </a:rPr>
              <a:t>Operators</a:t>
            </a:r>
            <a:endParaRPr lang="fr-FR" sz="4000" dirty="0">
              <a:solidFill>
                <a:schemeClr val="tx2"/>
              </a:solidFill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3B03BD6-2501-5717-B1C6-15952A328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12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06E9F4CE-BB25-6548-40D4-F586151E4E68}"/>
                  </a:ext>
                </a:extLst>
              </p:cNvPr>
              <p:cNvSpPr txBox="1"/>
              <p:nvPr/>
            </p:nvSpPr>
            <p:spPr>
              <a:xfrm>
                <a:off x="397565" y="1447086"/>
                <a:ext cx="11211339" cy="48013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fr-FR" dirty="0" err="1"/>
                  <a:t>Operators</a:t>
                </a:r>
                <a:r>
                  <a:rPr lang="fr-FR" dirty="0"/>
                  <a:t> </a:t>
                </a:r>
                <a:r>
                  <a:rPr lang="fr-FR" dirty="0" err="1"/>
                  <a:t>applies</a:t>
                </a:r>
                <a:r>
                  <a:rPr lang="fr-FR" dirty="0"/>
                  <a:t> to </a:t>
                </a:r>
                <a:r>
                  <a:rPr lang="fr-FR" dirty="0" err="1"/>
                  <a:t>physical</a:t>
                </a:r>
                <a:r>
                  <a:rPr lang="fr-FR" dirty="0"/>
                  <a:t> </a:t>
                </a:r>
                <a:r>
                  <a:rPr lang="fr-FR" dirty="0" err="1"/>
                  <a:t>quantities</a:t>
                </a:r>
                <a:r>
                  <a:rPr lang="fr-FR" dirty="0"/>
                  <a:t> </a:t>
                </a:r>
                <a:r>
                  <a:rPr lang="fr-FR" dirty="0" err="1"/>
                  <a:t>depending</a:t>
                </a:r>
                <a:r>
                  <a:rPr lang="fr-FR" dirty="0"/>
                  <a:t> on spatial variables, and </a:t>
                </a:r>
                <a:r>
                  <a:rPr lang="fr-FR" dirty="0" err="1"/>
                  <a:t>will</a:t>
                </a:r>
                <a:r>
                  <a:rPr lang="fr-FR" dirty="0"/>
                  <a:t> </a:t>
                </a:r>
                <a:r>
                  <a:rPr lang="fr-FR" dirty="0" err="1"/>
                  <a:t>depend</a:t>
                </a:r>
                <a:r>
                  <a:rPr lang="fr-FR" dirty="0"/>
                  <a:t> on the partial </a:t>
                </a:r>
                <a:r>
                  <a:rPr lang="fr-FR" dirty="0" err="1"/>
                  <a:t>derivatives</a:t>
                </a:r>
                <a:r>
                  <a:rPr lang="fr-FR" dirty="0"/>
                  <a:t> of the </a:t>
                </a:r>
                <a:r>
                  <a:rPr lang="fr-FR" dirty="0" err="1"/>
                  <a:t>function</a:t>
                </a:r>
                <a:r>
                  <a:rPr lang="fr-FR" dirty="0"/>
                  <a:t> on </a:t>
                </a:r>
                <a:r>
                  <a:rPr lang="fr-FR" dirty="0" err="1"/>
                  <a:t>these</a:t>
                </a:r>
                <a:r>
                  <a:rPr lang="fr-FR" dirty="0"/>
                  <a:t> spatial variables : 	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fr-FR" b="1" dirty="0" err="1" smtClean="0"/>
                  <a:t>Cartesian</a:t>
                </a:r>
                <a:r>
                  <a:rPr lang="fr-FR" b="1" dirty="0" smtClean="0"/>
                  <a:t> </a:t>
                </a:r>
                <a:r>
                  <a:rPr lang="fr-FR" b="1" dirty="0"/>
                  <a:t>: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fr-FR" dirty="0">
                    <a:solidFill>
                      <a:schemeClr val="tx1"/>
                    </a:solidFill>
                  </a:rPr>
                  <a:t> </a:t>
                </a:r>
                <a:endParaRPr lang="fr-FR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fr-FR" b="1" dirty="0" err="1" smtClean="0">
                    <a:solidFill>
                      <a:schemeClr val="tx1"/>
                    </a:solidFill>
                  </a:rPr>
                  <a:t>Cylindrical</a:t>
                </a:r>
                <a:r>
                  <a:rPr lang="fr-FR" b="1" dirty="0" smtClean="0">
                    <a:solidFill>
                      <a:schemeClr val="tx1"/>
                    </a:solidFill>
                  </a:rPr>
                  <a:t> </a:t>
                </a:r>
                <a:r>
                  <a:rPr lang="fr-FR" b="1" dirty="0">
                    <a:solidFill>
                      <a:schemeClr val="tx1"/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a:rPr lang="fr-F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fr-F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fr-F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𝜃</m:t>
                    </m:r>
                    <m:r>
                      <a:rPr lang="fr-F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fr-F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endParaRPr lang="fr-FR" b="0" dirty="0">
                  <a:solidFill>
                    <a:schemeClr val="tx1"/>
                  </a:solidFill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fr-FR" b="1" i="1" dirty="0" err="1" smtClean="0">
                    <a:solidFill>
                      <a:schemeClr val="bg1">
                        <a:lumMod val="50000"/>
                      </a:schemeClr>
                    </a:solidFill>
                  </a:rPr>
                  <a:t>Spherical</a:t>
                </a:r>
                <a:r>
                  <a:rPr lang="fr-FR" b="1" i="1" dirty="0" smtClean="0">
                    <a:solidFill>
                      <a:schemeClr val="bg1">
                        <a:lumMod val="50000"/>
                      </a:schemeClr>
                    </a:solidFill>
                  </a:rPr>
                  <a:t> </a:t>
                </a:r>
                <a:r>
                  <a:rPr lang="fr-FR" b="1" i="1" dirty="0">
                    <a:solidFill>
                      <a:schemeClr val="bg1">
                        <a:lumMod val="50000"/>
                      </a:schemeClr>
                    </a:solidFill>
                  </a:rPr>
                  <a:t>:</a:t>
                </a:r>
                <a:r>
                  <a:rPr lang="fr-FR" i="1" dirty="0">
                    <a:solidFill>
                      <a:schemeClr val="bg1">
                        <a:lumMod val="5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fr-FR" b="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fr-FR" b="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fr-FR" b="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𝜃</m:t>
                    </m:r>
                    <m:r>
                      <a:rPr lang="fr-FR" b="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fr-FR" b="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endParaRPr lang="fr-FR" b="1" i="1" dirty="0">
                  <a:solidFill>
                    <a:schemeClr val="tx1"/>
                  </a:solidFill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fr-FR" b="1" dirty="0"/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endParaRPr lang="fr-FR" dirty="0"/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endParaRPr lang="fr-FR" dirty="0"/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endParaRPr lang="fr-FR" dirty="0"/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endParaRPr lang="fr-FR" dirty="0"/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endParaRPr lang="fr-FR" dirty="0"/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endParaRPr lang="fr-FR" dirty="0"/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endParaRPr lang="fr-FR" dirty="0"/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endParaRPr lang="fr-FR" dirty="0"/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endParaRPr lang="fr-FR" dirty="0">
                  <a:solidFill>
                    <a:schemeClr val="tx1"/>
                  </a:solidFill>
                </a:endParaRP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fr-FR" dirty="0" err="1"/>
                  <a:t>Some</a:t>
                </a:r>
                <a:r>
                  <a:rPr lang="fr-FR" dirty="0"/>
                  <a:t> </a:t>
                </a:r>
                <a:r>
                  <a:rPr lang="fr-FR" dirty="0" err="1"/>
                  <a:t>operators</a:t>
                </a:r>
                <a:r>
                  <a:rPr lang="fr-FR" dirty="0"/>
                  <a:t> </a:t>
                </a:r>
                <a:r>
                  <a:rPr lang="fr-FR" dirty="0" err="1"/>
                  <a:t>apply</a:t>
                </a:r>
                <a:r>
                  <a:rPr lang="fr-FR" dirty="0"/>
                  <a:t> to </a:t>
                </a:r>
                <a:r>
                  <a:rPr lang="fr-FR" dirty="0" err="1">
                    <a:solidFill>
                      <a:srgbClr val="FF0000"/>
                    </a:solidFill>
                  </a:rPr>
                  <a:t>scalars</a:t>
                </a:r>
                <a:r>
                  <a:rPr lang="fr-FR" dirty="0"/>
                  <a:t>, </a:t>
                </a:r>
                <a:r>
                  <a:rPr lang="fr-FR" dirty="0" err="1"/>
                  <a:t>some</a:t>
                </a:r>
                <a:r>
                  <a:rPr lang="fr-FR" dirty="0"/>
                  <a:t> to </a:t>
                </a:r>
                <a:r>
                  <a:rPr lang="fr-FR" dirty="0" err="1">
                    <a:solidFill>
                      <a:srgbClr val="00B050"/>
                    </a:solidFill>
                  </a:rPr>
                  <a:t>vectors</a:t>
                </a:r>
                <a:r>
                  <a:rPr lang="fr-FR" dirty="0"/>
                  <a:t> and </a:t>
                </a:r>
                <a:r>
                  <a:rPr lang="fr-FR" dirty="0" err="1"/>
                  <a:t>others</a:t>
                </a:r>
                <a:r>
                  <a:rPr lang="fr-FR" dirty="0"/>
                  <a:t> to </a:t>
                </a:r>
                <a:r>
                  <a:rPr lang="fr-FR" dirty="0">
                    <a:solidFill>
                      <a:srgbClr val="00B0F0"/>
                    </a:solidFill>
                  </a:rPr>
                  <a:t>matrices</a:t>
                </a:r>
                <a:r>
                  <a:rPr lang="fr-FR" dirty="0"/>
                  <a:t> and </a:t>
                </a:r>
              </a:p>
              <a:p>
                <a:r>
                  <a:rPr lang="fr-FR" dirty="0"/>
                  <a:t>return a </a:t>
                </a:r>
                <a:r>
                  <a:rPr lang="fr-FR" dirty="0" err="1"/>
                  <a:t>scalar</a:t>
                </a:r>
                <a:r>
                  <a:rPr lang="fr-FR" dirty="0"/>
                  <a:t>, a </a:t>
                </a:r>
                <a:r>
                  <a:rPr lang="fr-FR" dirty="0" err="1"/>
                  <a:t>vector</a:t>
                </a:r>
                <a:r>
                  <a:rPr lang="fr-FR" dirty="0"/>
                  <a:t> or a matrix.</a:t>
                </a:r>
                <a:endParaRPr lang="fr-FR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06E9F4CE-BB25-6548-40D4-F586151E4E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565" y="1447086"/>
                <a:ext cx="11211339" cy="4801314"/>
              </a:xfrm>
              <a:prstGeom prst="rect">
                <a:avLst/>
              </a:prstGeom>
              <a:blipFill>
                <a:blip r:embed="rId2"/>
                <a:stretch>
                  <a:fillRect l="-435" t="-635" b="-101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e 9">
            <a:extLst>
              <a:ext uri="{FF2B5EF4-FFF2-40B4-BE49-F238E27FC236}">
                <a16:creationId xmlns:a16="http://schemas.microsoft.com/office/drawing/2014/main" id="{B5552FCE-9C30-2899-727B-735534D4FC17}"/>
              </a:ext>
            </a:extLst>
          </p:cNvPr>
          <p:cNvGrpSpPr/>
          <p:nvPr/>
        </p:nvGrpSpPr>
        <p:grpSpPr>
          <a:xfrm>
            <a:off x="3821503" y="2045478"/>
            <a:ext cx="2837832" cy="3134587"/>
            <a:chOff x="3874512" y="2388024"/>
            <a:chExt cx="2837832" cy="3134587"/>
          </a:xfrm>
        </p:grpSpPr>
        <p:pic>
          <p:nvPicPr>
            <p:cNvPr id="7" name="Image 6" descr="Une image contenant diagramme, ligne, cercle, Tracé&#10;&#10;Description générée automatiquement">
              <a:extLst>
                <a:ext uri="{FF2B5EF4-FFF2-40B4-BE49-F238E27FC236}">
                  <a16:creationId xmlns:a16="http://schemas.microsoft.com/office/drawing/2014/main" id="{2E2018BA-2096-6067-0B8F-D496A18939E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77687" y="2388024"/>
              <a:ext cx="2834657" cy="2789583"/>
            </a:xfrm>
            <a:prstGeom prst="rect">
              <a:avLst/>
            </a:prstGeom>
          </p:spPr>
        </p:pic>
        <p:sp>
          <p:nvSpPr>
            <p:cNvPr id="9" name="ZoneTexte 8">
              <a:extLst>
                <a:ext uri="{FF2B5EF4-FFF2-40B4-BE49-F238E27FC236}">
                  <a16:creationId xmlns:a16="http://schemas.microsoft.com/office/drawing/2014/main" id="{46BB49CE-A124-A2F9-A8D0-14894C7497FC}"/>
                </a:ext>
              </a:extLst>
            </p:cNvPr>
            <p:cNvSpPr txBox="1"/>
            <p:nvPr/>
          </p:nvSpPr>
          <p:spPr>
            <a:xfrm>
              <a:off x="3874512" y="5153279"/>
              <a:ext cx="283783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b="0" i="0" u="none" strike="noStrike" dirty="0">
                  <a:solidFill>
                    <a:srgbClr val="BBBBBB"/>
                  </a:solidFill>
                  <a:effectLst/>
                  <a:latin typeface="Inter"/>
                  <a:hlinkClick r:id="rId4"/>
                </a:rPr>
                <a:t>www.methodephysique.fr</a:t>
              </a:r>
            </a:p>
          </p:txBody>
        </p:sp>
      </p:grpSp>
      <p:sp>
        <p:nvSpPr>
          <p:cNvPr id="11" name="Espace réservé du pied de page 3">
            <a:extLst>
              <a:ext uri="{FF2B5EF4-FFF2-40B4-BE49-F238E27FC236}">
                <a16:creationId xmlns:a16="http://schemas.microsoft.com/office/drawing/2014/main" id="{DE5413C3-A740-272F-FF1E-667AE7900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4212" y="6172200"/>
            <a:ext cx="7543800" cy="365125"/>
          </a:xfrm>
        </p:spPr>
        <p:txBody>
          <a:bodyPr/>
          <a:lstStyle/>
          <a:p>
            <a:r>
              <a:rPr lang="fr-FR" dirty="0" err="1" smtClean="0"/>
              <a:t>Aerodynamics</a:t>
            </a:r>
            <a:r>
              <a:rPr lang="fr-FR" dirty="0" smtClean="0"/>
              <a:t>  </a:t>
            </a:r>
            <a:r>
              <a:rPr lang="fr-FR" dirty="0"/>
              <a:t>- </a:t>
            </a:r>
            <a:r>
              <a:rPr lang="fr-FR" dirty="0" err="1"/>
              <a:t>Chapter</a:t>
            </a:r>
            <a:r>
              <a:rPr lang="fr-FR" dirty="0"/>
              <a:t> 1 – </a:t>
            </a:r>
            <a:r>
              <a:rPr lang="fr-FR" dirty="0" err="1"/>
              <a:t>Mathematical</a:t>
            </a:r>
            <a:r>
              <a:rPr lang="fr-FR" dirty="0"/>
              <a:t> </a:t>
            </a:r>
            <a:r>
              <a:rPr lang="fr-FR" dirty="0" err="1"/>
              <a:t>tools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85861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nip Diagonal Corner Rectangle 6">
            <a:extLst>
              <a:ext uri="{FF2B5EF4-FFF2-40B4-BE49-F238E27FC236}">
                <a16:creationId xmlns:a16="http://schemas.microsoft.com/office/drawing/2014/main" id="{AD2D45C7-2E37-44FD-AC77-116CD14B9ED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25" y="2"/>
            <a:ext cx="12191075" cy="6857998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002">
            <a:schemeClr val="dk2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30" name="Snip Single Corner Rectangle 17">
            <a:extLst>
              <a:ext uri="{FF2B5EF4-FFF2-40B4-BE49-F238E27FC236}">
                <a16:creationId xmlns:a16="http://schemas.microsoft.com/office/drawing/2014/main" id="{1FF88480-2CF1-4C54-8CE3-2CA9CD9FF89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1"/>
            <a:ext cx="12188825" cy="6857999"/>
          </a:xfrm>
          <a:prstGeom prst="snip1Rect">
            <a:avLst>
              <a:gd name="adj" fmla="val 5000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8AD032B-4A83-065B-9888-6166E18B2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179592"/>
            <a:ext cx="10924692" cy="1507067"/>
          </a:xfrm>
        </p:spPr>
        <p:txBody>
          <a:bodyPr>
            <a:normAutofit/>
          </a:bodyPr>
          <a:lstStyle/>
          <a:p>
            <a:r>
              <a:rPr lang="fr-FR" sz="4000" dirty="0" err="1">
                <a:solidFill>
                  <a:schemeClr val="tx2"/>
                </a:solidFill>
              </a:rPr>
              <a:t>Operators</a:t>
            </a:r>
            <a:r>
              <a:rPr lang="fr-FR" sz="4000" dirty="0">
                <a:solidFill>
                  <a:schemeClr val="tx2"/>
                </a:solidFill>
              </a:rPr>
              <a:t> - Nabla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3B03BD6-2501-5717-B1C6-15952A328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13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06E9F4CE-BB25-6548-40D4-F586151E4E68}"/>
                  </a:ext>
                </a:extLst>
              </p:cNvPr>
              <p:cNvSpPr txBox="1"/>
              <p:nvPr/>
            </p:nvSpPr>
            <p:spPr>
              <a:xfrm>
                <a:off x="397565" y="1447086"/>
                <a:ext cx="11211339" cy="4029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fr-FR" dirty="0"/>
                  <a:t> </a:t>
                </a:r>
                <a:r>
                  <a:rPr lang="fr-FR" dirty="0" smtClean="0"/>
                  <a:t>Nabla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>
                            <a:latin typeface="Cambria Math" panose="02040503050406030204" pitchFamily="18" charset="0"/>
                          </a:rPr>
                          <m:t>𝛻</m:t>
                        </m:r>
                      </m:e>
                    </m:acc>
                  </m:oMath>
                </a14:m>
                <a:endParaRPr lang="fr-FR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06E9F4CE-BB25-6548-40D4-F586151E4E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565" y="1447086"/>
                <a:ext cx="11211339" cy="402931"/>
              </a:xfrm>
              <a:prstGeom prst="rect">
                <a:avLst/>
              </a:prstGeom>
              <a:blipFill>
                <a:blip r:embed="rId2"/>
                <a:stretch>
                  <a:fillRect l="-326" b="-2272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2CF68895-4530-B5A8-27BE-8F96FA2F2CC9}"/>
                  </a:ext>
                </a:extLst>
              </p:cNvPr>
              <p:cNvSpPr txBox="1"/>
              <p:nvPr/>
            </p:nvSpPr>
            <p:spPr>
              <a:xfrm>
                <a:off x="397565" y="2169994"/>
                <a:ext cx="4010662" cy="3350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endParaRPr lang="fr-FR" b="1" dirty="0">
                  <a:latin typeface="Cambria Math" panose="02040503050406030204" pitchFamily="18" charset="0"/>
                </a:endParaRPr>
              </a:p>
              <a:p>
                <a:pPr algn="ctr"/>
                <a:r>
                  <a:rPr lang="fr-FR" b="1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Cartesian</a:t>
                </a:r>
                <a:endParaRPr lang="fr-FR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endParaRPr lang="fr-FR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>
                              <a:latin typeface="Cambria Math" panose="02040503050406030204" pitchFamily="18" charset="0"/>
                            </a:rPr>
                            <m:t>𝛻</m:t>
                          </m:r>
                        </m:e>
                      </m:acc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</m:num>
                                  <m:den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</m:num>
                                  <m:den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</m:num>
                                  <m:den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fr-FR" b="0" dirty="0"/>
              </a:p>
              <a:p>
                <a:pPr algn="ctr"/>
                <a:endParaRPr lang="fr-FR" dirty="0"/>
              </a:p>
              <a:p>
                <a:pPr algn="ctr"/>
                <a:r>
                  <a:rPr lang="fr-FR" dirty="0"/>
                  <a:t>Einstein notation 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i="1">
                            <a:latin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𝜕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fr-FR" dirty="0"/>
              </a:p>
            </p:txBody>
          </p:sp>
        </mc:Choice>
        <mc:Fallback xmlns="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2CF68895-4530-B5A8-27BE-8F96FA2F2C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565" y="2169994"/>
                <a:ext cx="4010662" cy="335078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F0390C66-680F-18AE-90E5-8A931147F10E}"/>
                  </a:ext>
                </a:extLst>
              </p:cNvPr>
              <p:cNvSpPr txBox="1"/>
              <p:nvPr/>
            </p:nvSpPr>
            <p:spPr>
              <a:xfrm>
                <a:off x="6293195" y="2137460"/>
                <a:ext cx="4010662" cy="25830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endParaRPr lang="fr-FR" b="1" dirty="0">
                  <a:latin typeface="Cambria Math" panose="02040503050406030204" pitchFamily="18" charset="0"/>
                </a:endParaRPr>
              </a:p>
              <a:p>
                <a:pPr algn="ctr"/>
                <a:r>
                  <a:rPr lang="fr-FR" b="1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Cylindrical</a:t>
                </a:r>
                <a:endParaRPr lang="fr-FR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endParaRPr lang="fr-FR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>
                              <a:latin typeface="Cambria Math" panose="02040503050406030204" pitchFamily="18" charset="0"/>
                            </a:rPr>
                            <m:t>𝛻</m:t>
                          </m:r>
                        </m:e>
                      </m:acc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</m:num>
                                  <m:den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den>
                                </m:f>
                                <m:f>
                                  <m:f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</m:num>
                                  <m:den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</m:num>
                                  <m:den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F0390C66-680F-18AE-90E5-8A931147F1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3195" y="2137460"/>
                <a:ext cx="4010662" cy="258307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Espace réservé du pied de page 3">
            <a:extLst>
              <a:ext uri="{FF2B5EF4-FFF2-40B4-BE49-F238E27FC236}">
                <a16:creationId xmlns:a16="http://schemas.microsoft.com/office/drawing/2014/main" id="{DE5413C3-A740-272F-FF1E-667AE7900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4212" y="6172200"/>
            <a:ext cx="7543800" cy="365125"/>
          </a:xfrm>
        </p:spPr>
        <p:txBody>
          <a:bodyPr/>
          <a:lstStyle/>
          <a:p>
            <a:r>
              <a:rPr lang="fr-FR" dirty="0" err="1" smtClean="0"/>
              <a:t>Aerodynamics</a:t>
            </a:r>
            <a:r>
              <a:rPr lang="fr-FR" dirty="0" smtClean="0"/>
              <a:t>  </a:t>
            </a:r>
            <a:r>
              <a:rPr lang="fr-FR" dirty="0"/>
              <a:t>- </a:t>
            </a:r>
            <a:r>
              <a:rPr lang="fr-FR" dirty="0" err="1"/>
              <a:t>Chapter</a:t>
            </a:r>
            <a:r>
              <a:rPr lang="fr-FR" dirty="0"/>
              <a:t> 1 – </a:t>
            </a:r>
            <a:r>
              <a:rPr lang="fr-FR" dirty="0" err="1"/>
              <a:t>Mathematical</a:t>
            </a:r>
            <a:r>
              <a:rPr lang="fr-FR" dirty="0"/>
              <a:t> </a:t>
            </a:r>
            <a:r>
              <a:rPr lang="fr-FR" dirty="0" err="1"/>
              <a:t>tools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09059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nip Diagonal Corner Rectangle 6">
            <a:extLst>
              <a:ext uri="{FF2B5EF4-FFF2-40B4-BE49-F238E27FC236}">
                <a16:creationId xmlns:a16="http://schemas.microsoft.com/office/drawing/2014/main" id="{AD2D45C7-2E37-44FD-AC77-116CD14B9ED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25" y="2"/>
            <a:ext cx="12191075" cy="6857998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002">
            <a:schemeClr val="dk2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30" name="Snip Single Corner Rectangle 17">
            <a:extLst>
              <a:ext uri="{FF2B5EF4-FFF2-40B4-BE49-F238E27FC236}">
                <a16:creationId xmlns:a16="http://schemas.microsoft.com/office/drawing/2014/main" id="{1FF88480-2CF1-4C54-8CE3-2CA9CD9FF89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1"/>
            <a:ext cx="12188825" cy="6857999"/>
          </a:xfrm>
          <a:prstGeom prst="snip1Rect">
            <a:avLst>
              <a:gd name="adj" fmla="val 5000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8AD032B-4A83-065B-9888-6166E18B2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179592"/>
            <a:ext cx="10924692" cy="1507067"/>
          </a:xfrm>
        </p:spPr>
        <p:txBody>
          <a:bodyPr>
            <a:normAutofit/>
          </a:bodyPr>
          <a:lstStyle/>
          <a:p>
            <a:r>
              <a:rPr lang="fr-FR" sz="4000" dirty="0" err="1">
                <a:solidFill>
                  <a:schemeClr val="tx2"/>
                </a:solidFill>
              </a:rPr>
              <a:t>Operators</a:t>
            </a:r>
            <a:r>
              <a:rPr lang="fr-FR" sz="4000" dirty="0">
                <a:solidFill>
                  <a:schemeClr val="tx2"/>
                </a:solidFill>
              </a:rPr>
              <a:t> - Gradient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3B03BD6-2501-5717-B1C6-15952A328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14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06E9F4CE-BB25-6548-40D4-F586151E4E68}"/>
                  </a:ext>
                </a:extLst>
              </p:cNvPr>
              <p:cNvSpPr txBox="1"/>
              <p:nvPr/>
            </p:nvSpPr>
            <p:spPr>
              <a:xfrm>
                <a:off x="397565" y="1447086"/>
                <a:ext cx="11211339" cy="4103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fr-FR" dirty="0"/>
                  <a:t> </a:t>
                </a:r>
                <a:r>
                  <a:rPr lang="fr-FR" dirty="0" smtClean="0"/>
                  <a:t>Gradient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𝑔𝑟𝑎𝑑</m:t>
                        </m:r>
                      </m:e>
                    </m:acc>
                    <m:d>
                      <m:dPr>
                        <m:ctrlPr>
                          <a:rPr lang="fr-FR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fr-FR" b="0" i="1" dirty="0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>
                            <a:latin typeface="Cambria Math" panose="02040503050406030204" pitchFamily="18" charset="0"/>
                          </a:rPr>
                          <m:t>𝛻</m:t>
                        </m:r>
                      </m:e>
                    </m:acc>
                    <m:r>
                      <a:rPr lang="fr-FR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fr-FR" dirty="0">
                    <a:solidFill>
                      <a:schemeClr val="tx1"/>
                    </a:solidFill>
                  </a:rPr>
                  <a:t> </a:t>
                </a:r>
                <a:r>
                  <a:rPr lang="fr-FR" dirty="0"/>
                  <a:t>	[</a:t>
                </a:r>
                <a:r>
                  <a:rPr lang="fr-FR" dirty="0" err="1">
                    <a:solidFill>
                      <a:srgbClr val="FF0000"/>
                    </a:solidFill>
                  </a:rPr>
                  <a:t>scalar</a:t>
                </a:r>
                <a:r>
                  <a:rPr lang="fr-FR" dirty="0"/>
                  <a:t> </a:t>
                </a:r>
                <a:r>
                  <a:rPr lang="fr-FR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 </a:t>
                </a:r>
                <a:r>
                  <a:rPr lang="fr-FR" dirty="0" err="1">
                    <a:solidFill>
                      <a:srgbClr val="00B050"/>
                    </a:solidFill>
                  </a:rPr>
                  <a:t>vector</a:t>
                </a:r>
                <a:r>
                  <a:rPr lang="fr-FR" dirty="0"/>
                  <a:t>]</a:t>
                </a:r>
                <a:r>
                  <a:rPr lang="fr-FR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 </a:t>
                </a:r>
                <a:endParaRPr lang="fr-FR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06E9F4CE-BB25-6548-40D4-F586151E4E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565" y="1447086"/>
                <a:ext cx="11211339" cy="410305"/>
              </a:xfrm>
              <a:prstGeom prst="rect">
                <a:avLst/>
              </a:prstGeom>
              <a:blipFill>
                <a:blip r:embed="rId2"/>
                <a:stretch>
                  <a:fillRect l="-326" b="-2205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2CF68895-4530-B5A8-27BE-8F96FA2F2CC9}"/>
                  </a:ext>
                </a:extLst>
              </p:cNvPr>
              <p:cNvSpPr txBox="1"/>
              <p:nvPr/>
            </p:nvSpPr>
            <p:spPr>
              <a:xfrm>
                <a:off x="397565" y="2169994"/>
                <a:ext cx="4010662" cy="3350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endParaRPr lang="fr-FR" b="1" dirty="0">
                  <a:latin typeface="Cambria Math" panose="02040503050406030204" pitchFamily="18" charset="0"/>
                </a:endParaRPr>
              </a:p>
              <a:p>
                <a:pPr algn="ctr"/>
                <a:r>
                  <a:rPr lang="fr-FR" b="1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Cartesian</a:t>
                </a:r>
                <a:endParaRPr lang="fr-FR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endParaRPr lang="fr-FR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>
                              <a:latin typeface="Cambria Math" panose="02040503050406030204" pitchFamily="18" charset="0"/>
                            </a:rPr>
                            <m:t>𝛻</m:t>
                          </m:r>
                        </m:e>
                      </m:acc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num>
                                  <m:den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num>
                                  <m:den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num>
                                  <m:den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fr-FR" b="0" dirty="0"/>
              </a:p>
              <a:p>
                <a:pPr algn="ctr"/>
                <a:endParaRPr lang="fr-FR" dirty="0"/>
              </a:p>
              <a:p>
                <a:pPr algn="ctr"/>
                <a:r>
                  <a:rPr lang="fr-FR" dirty="0"/>
                  <a:t>Einstein notation 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𝜕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endParaRPr lang="fr-FR" dirty="0"/>
              </a:p>
            </p:txBody>
          </p:sp>
        </mc:Choice>
        <mc:Fallback xmlns="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2CF68895-4530-B5A8-27BE-8F96FA2F2C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565" y="2169994"/>
                <a:ext cx="4010662" cy="335078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F0390C66-680F-18AE-90E5-8A931147F10E}"/>
                  </a:ext>
                </a:extLst>
              </p:cNvPr>
              <p:cNvSpPr txBox="1"/>
              <p:nvPr/>
            </p:nvSpPr>
            <p:spPr>
              <a:xfrm>
                <a:off x="6094412" y="2137460"/>
                <a:ext cx="4010662" cy="25830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endParaRPr lang="fr-FR" b="1" dirty="0">
                  <a:latin typeface="Cambria Math" panose="02040503050406030204" pitchFamily="18" charset="0"/>
                </a:endParaRPr>
              </a:p>
              <a:p>
                <a:pPr algn="ctr"/>
                <a:r>
                  <a:rPr lang="fr-FR" b="1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Cylindrical</a:t>
                </a:r>
                <a:endParaRPr lang="fr-FR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endParaRPr lang="fr-FR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>
                              <a:latin typeface="Cambria Math" panose="02040503050406030204" pitchFamily="18" charset="0"/>
                            </a:rPr>
                            <m:t>𝛻</m:t>
                          </m:r>
                        </m:e>
                      </m:acc>
                      <m:r>
                        <a:rPr lang="fr-FR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num>
                                  <m:den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den>
                                </m:f>
                                <m:f>
                                  <m:f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num>
                                  <m:den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num>
                                  <m:den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F0390C66-680F-18AE-90E5-8A931147F1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4412" y="2137460"/>
                <a:ext cx="4010662" cy="258307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Espace réservé du pied de page 3">
            <a:extLst>
              <a:ext uri="{FF2B5EF4-FFF2-40B4-BE49-F238E27FC236}">
                <a16:creationId xmlns:a16="http://schemas.microsoft.com/office/drawing/2014/main" id="{DE5413C3-A740-272F-FF1E-667AE7900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4212" y="6172200"/>
            <a:ext cx="7543800" cy="365125"/>
          </a:xfrm>
        </p:spPr>
        <p:txBody>
          <a:bodyPr/>
          <a:lstStyle/>
          <a:p>
            <a:r>
              <a:rPr lang="fr-FR" dirty="0" err="1" smtClean="0"/>
              <a:t>Aerodynamics</a:t>
            </a:r>
            <a:r>
              <a:rPr lang="fr-FR" dirty="0" smtClean="0"/>
              <a:t>  </a:t>
            </a:r>
            <a:r>
              <a:rPr lang="fr-FR" dirty="0"/>
              <a:t>- </a:t>
            </a:r>
            <a:r>
              <a:rPr lang="fr-FR" dirty="0" err="1"/>
              <a:t>Chapter</a:t>
            </a:r>
            <a:r>
              <a:rPr lang="fr-FR" dirty="0"/>
              <a:t> 1 – </a:t>
            </a:r>
            <a:r>
              <a:rPr lang="fr-FR" dirty="0" err="1"/>
              <a:t>Mathematical</a:t>
            </a:r>
            <a:r>
              <a:rPr lang="fr-FR" dirty="0"/>
              <a:t> </a:t>
            </a:r>
            <a:r>
              <a:rPr lang="fr-FR" dirty="0" err="1"/>
              <a:t>tools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80172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nip Diagonal Corner Rectangle 6">
            <a:extLst>
              <a:ext uri="{FF2B5EF4-FFF2-40B4-BE49-F238E27FC236}">
                <a16:creationId xmlns:a16="http://schemas.microsoft.com/office/drawing/2014/main" id="{AD2D45C7-2E37-44FD-AC77-116CD14B9ED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25" y="2"/>
            <a:ext cx="12191075" cy="6857998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002">
            <a:schemeClr val="dk2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30" name="Snip Single Corner Rectangle 17">
            <a:extLst>
              <a:ext uri="{FF2B5EF4-FFF2-40B4-BE49-F238E27FC236}">
                <a16:creationId xmlns:a16="http://schemas.microsoft.com/office/drawing/2014/main" id="{1FF88480-2CF1-4C54-8CE3-2CA9CD9FF89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1"/>
            <a:ext cx="12188825" cy="6857999"/>
          </a:xfrm>
          <a:prstGeom prst="snip1Rect">
            <a:avLst>
              <a:gd name="adj" fmla="val 5000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8AD032B-4A83-065B-9888-6166E18B2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179592"/>
            <a:ext cx="10924692" cy="1507067"/>
          </a:xfrm>
        </p:spPr>
        <p:txBody>
          <a:bodyPr>
            <a:normAutofit/>
          </a:bodyPr>
          <a:lstStyle/>
          <a:p>
            <a:r>
              <a:rPr lang="fr-FR" sz="4000" dirty="0" err="1" smtClean="0">
                <a:solidFill>
                  <a:schemeClr val="tx2"/>
                </a:solidFill>
              </a:rPr>
              <a:t>Operators</a:t>
            </a:r>
            <a:r>
              <a:rPr lang="fr-FR" sz="4000" dirty="0" smtClean="0">
                <a:solidFill>
                  <a:schemeClr val="tx2"/>
                </a:solidFill>
              </a:rPr>
              <a:t> - Gradient</a:t>
            </a:r>
            <a:endParaRPr lang="fr-FR" sz="4000" dirty="0">
              <a:solidFill>
                <a:schemeClr val="tx2"/>
              </a:solidFill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3B03BD6-2501-5717-B1C6-15952A328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15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06E9F4CE-BB25-6548-40D4-F586151E4E68}"/>
                  </a:ext>
                </a:extLst>
              </p:cNvPr>
              <p:cNvSpPr txBox="1"/>
              <p:nvPr/>
            </p:nvSpPr>
            <p:spPr>
              <a:xfrm>
                <a:off x="397565" y="1447086"/>
                <a:ext cx="11211339" cy="15921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fr-FR" dirty="0" smtClean="0"/>
                  <a:t>The gradient </a:t>
                </a:r>
                <a:r>
                  <a:rPr lang="fr-FR" dirty="0" err="1" smtClean="0"/>
                  <a:t>is</a:t>
                </a:r>
                <a:r>
                  <a:rPr lang="fr-FR" dirty="0" smtClean="0"/>
                  <a:t> a </a:t>
                </a:r>
                <a:r>
                  <a:rPr lang="fr-FR" dirty="0" err="1" smtClean="0"/>
                  <a:t>vector</a:t>
                </a:r>
                <a:r>
                  <a:rPr lang="fr-FR" dirty="0" smtClean="0"/>
                  <a:t> of dimension [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num>
                      <m:den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  <m:r>
                      <a:rPr lang="fr-FR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fr-FR" dirty="0" smtClean="0"/>
                  <a:t> </a:t>
                </a:r>
                <a:r>
                  <a:rPr lang="fr-FR" dirty="0" err="1" smtClean="0"/>
                  <a:t>where</a:t>
                </a:r>
                <a:r>
                  <a:rPr lang="fr-FR" dirty="0" smtClean="0"/>
                  <a:t>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fr-FR" dirty="0" smtClean="0"/>
                  <a:t> </a:t>
                </a:r>
                <a:r>
                  <a:rPr lang="fr-FR" dirty="0" err="1" smtClean="0"/>
                  <a:t>is</a:t>
                </a:r>
                <a:r>
                  <a:rPr lang="fr-FR" dirty="0" smtClean="0"/>
                  <a:t> the dimension of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fr-FR" dirty="0" smtClean="0"/>
                  <a:t> and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fr-FR" dirty="0" smtClean="0"/>
                  <a:t> </a:t>
                </a:r>
                <a:r>
                  <a:rPr lang="fr-FR" dirty="0" err="1" smtClean="0"/>
                  <a:t>is</a:t>
                </a:r>
                <a:r>
                  <a:rPr lang="fr-FR" dirty="0" smtClean="0"/>
                  <a:t> the spatial dimension.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endParaRPr lang="fr-FR" dirty="0" smtClean="0"/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fr-FR" dirty="0" smtClean="0"/>
                  <a:t>The gradient points at the location in </a:t>
                </a:r>
                <a:r>
                  <a:rPr lang="fr-FR" dirty="0" err="1" smtClean="0"/>
                  <a:t>space</a:t>
                </a:r>
                <a:r>
                  <a:rPr lang="fr-FR" dirty="0" smtClean="0"/>
                  <a:t> </a:t>
                </a:r>
                <a:r>
                  <a:rPr lang="fr-FR" dirty="0" err="1" smtClean="0"/>
                  <a:t>where</a:t>
                </a:r>
                <a:r>
                  <a:rPr lang="fr-FR" dirty="0" smtClean="0"/>
                  <a:t>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fr-FR" dirty="0" smtClean="0"/>
                  <a:t> grows. The </a:t>
                </a:r>
                <a:r>
                  <a:rPr lang="fr-FR" dirty="0" err="1" smtClean="0"/>
                  <a:t>higher</a:t>
                </a:r>
                <a:r>
                  <a:rPr lang="fr-FR" dirty="0" smtClean="0"/>
                  <a:t> the variation of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fr-FR" dirty="0" smtClean="0"/>
                  <a:t> </a:t>
                </a:r>
                <a:r>
                  <a:rPr lang="fr-FR" dirty="0" err="1" smtClean="0"/>
                  <a:t>is</a:t>
                </a:r>
                <a:r>
                  <a:rPr lang="fr-FR" dirty="0" smtClean="0"/>
                  <a:t>, the </a:t>
                </a:r>
                <a:r>
                  <a:rPr lang="fr-FR" dirty="0" err="1" smtClean="0"/>
                  <a:t>higher</a:t>
                </a:r>
                <a:r>
                  <a:rPr lang="fr-FR" dirty="0" smtClean="0"/>
                  <a:t> the value of </a:t>
                </a:r>
                <a:r>
                  <a:rPr lang="fr-FR" dirty="0" err="1" smtClean="0"/>
                  <a:t>its</a:t>
                </a:r>
                <a:r>
                  <a:rPr lang="fr-FR" dirty="0" smtClean="0"/>
                  <a:t> </a:t>
                </a:r>
                <a:r>
                  <a:rPr lang="fr-FR" dirty="0" err="1" smtClean="0"/>
                  <a:t>norm</a:t>
                </a:r>
                <a:r>
                  <a:rPr lang="fr-FR" dirty="0"/>
                  <a:t> </a:t>
                </a:r>
                <a:r>
                  <a:rPr lang="fr-FR" dirty="0" err="1" smtClean="0"/>
                  <a:t>is</a:t>
                </a:r>
                <a:r>
                  <a:rPr lang="fr-FR" dirty="0" smtClean="0"/>
                  <a:t>.</a:t>
                </a:r>
                <a:endParaRPr lang="fr-FR" dirty="0"/>
              </a:p>
            </p:txBody>
          </p:sp>
        </mc:Choice>
        <mc:Fallback xmlns="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06E9F4CE-BB25-6548-40D4-F586151E4E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565" y="1447086"/>
                <a:ext cx="11211339" cy="1592167"/>
              </a:xfrm>
              <a:prstGeom prst="rect">
                <a:avLst/>
              </a:prstGeom>
              <a:blipFill>
                <a:blip r:embed="rId2"/>
                <a:stretch>
                  <a:fillRect l="-326" b="-458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Espace réservé du pied de page 3">
            <a:extLst>
              <a:ext uri="{FF2B5EF4-FFF2-40B4-BE49-F238E27FC236}">
                <a16:creationId xmlns:a16="http://schemas.microsoft.com/office/drawing/2014/main" id="{DE5413C3-A740-272F-FF1E-667AE7900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4212" y="6172200"/>
            <a:ext cx="7543800" cy="365125"/>
          </a:xfrm>
        </p:spPr>
        <p:txBody>
          <a:bodyPr/>
          <a:lstStyle/>
          <a:p>
            <a:r>
              <a:rPr lang="fr-FR" dirty="0" err="1" smtClean="0"/>
              <a:t>Aerodynamics</a:t>
            </a:r>
            <a:r>
              <a:rPr lang="fr-FR" dirty="0" smtClean="0"/>
              <a:t>  </a:t>
            </a:r>
            <a:r>
              <a:rPr lang="fr-FR" dirty="0"/>
              <a:t>- </a:t>
            </a:r>
            <a:r>
              <a:rPr lang="fr-FR" dirty="0" err="1"/>
              <a:t>Chapter</a:t>
            </a:r>
            <a:r>
              <a:rPr lang="fr-FR" dirty="0"/>
              <a:t> 1 – </a:t>
            </a:r>
            <a:r>
              <a:rPr lang="fr-FR" dirty="0" err="1"/>
              <a:t>Mathematical</a:t>
            </a:r>
            <a:r>
              <a:rPr lang="fr-FR" dirty="0"/>
              <a:t> </a:t>
            </a:r>
            <a:r>
              <a:rPr lang="fr-FR" dirty="0" err="1"/>
              <a:t>tools</a:t>
            </a:r>
            <a:endParaRPr lang="en-US" dirty="0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460" y="3251200"/>
            <a:ext cx="3467100" cy="2600325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1399" y="3199305"/>
            <a:ext cx="3750456" cy="2812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9316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nip Diagonal Corner Rectangle 6">
            <a:extLst>
              <a:ext uri="{FF2B5EF4-FFF2-40B4-BE49-F238E27FC236}">
                <a16:creationId xmlns:a16="http://schemas.microsoft.com/office/drawing/2014/main" id="{AD2D45C7-2E37-44FD-AC77-116CD14B9ED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25" y="2"/>
            <a:ext cx="12191075" cy="6857998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002">
            <a:schemeClr val="dk2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30" name="Snip Single Corner Rectangle 17">
            <a:extLst>
              <a:ext uri="{FF2B5EF4-FFF2-40B4-BE49-F238E27FC236}">
                <a16:creationId xmlns:a16="http://schemas.microsoft.com/office/drawing/2014/main" id="{1FF88480-2CF1-4C54-8CE3-2CA9CD9FF89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1"/>
            <a:ext cx="12188825" cy="6857999"/>
          </a:xfrm>
          <a:prstGeom prst="snip1Rect">
            <a:avLst>
              <a:gd name="adj" fmla="val 5000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8AD032B-4A83-065B-9888-6166E18B2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179592"/>
            <a:ext cx="10924692" cy="1507067"/>
          </a:xfrm>
        </p:spPr>
        <p:txBody>
          <a:bodyPr>
            <a:normAutofit/>
          </a:bodyPr>
          <a:lstStyle/>
          <a:p>
            <a:r>
              <a:rPr lang="fr-FR" sz="4000" dirty="0" err="1">
                <a:solidFill>
                  <a:schemeClr val="tx2"/>
                </a:solidFill>
              </a:rPr>
              <a:t>Operators</a:t>
            </a:r>
            <a:r>
              <a:rPr lang="fr-FR" sz="4000" dirty="0">
                <a:solidFill>
                  <a:schemeClr val="tx2"/>
                </a:solidFill>
              </a:rPr>
              <a:t> - Gradient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3B03BD6-2501-5717-B1C6-15952A328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16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06E9F4CE-BB25-6548-40D4-F586151E4E68}"/>
                  </a:ext>
                </a:extLst>
              </p:cNvPr>
              <p:cNvSpPr txBox="1"/>
              <p:nvPr/>
            </p:nvSpPr>
            <p:spPr>
              <a:xfrm>
                <a:off x="397565" y="1447086"/>
                <a:ext cx="11211339" cy="5740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fr-FR" dirty="0" smtClean="0"/>
                  <a:t> </a:t>
                </a:r>
                <a:r>
                  <a:rPr lang="fr-FR" dirty="0" smtClean="0"/>
                  <a:t>Gradient </a:t>
                </a:r>
                <a:r>
                  <a:rPr lang="fr-FR" dirty="0" smtClean="0"/>
                  <a:t>for </a:t>
                </a:r>
                <a:r>
                  <a:rPr lang="fr-FR" dirty="0" err="1" smtClean="0"/>
                  <a:t>vector</a:t>
                </a:r>
                <a:r>
                  <a:rPr lang="fr-FR" dirty="0" smtClean="0"/>
                  <a:t> : </a:t>
                </a:r>
                <a:r>
                  <a:rPr lang="fr-FR" dirty="0" err="1" smtClean="0"/>
                  <a:t>Jacobian</a:t>
                </a:r>
                <a:r>
                  <a:rPr lang="fr-FR" dirty="0" smtClean="0"/>
                  <a:t> matrix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den>
                    </m:f>
                  </m:oMath>
                </a14:m>
                <a:r>
                  <a:rPr lang="fr-FR" dirty="0"/>
                  <a:t>	</a:t>
                </a:r>
                <a:r>
                  <a:rPr lang="fr-FR" dirty="0" smtClean="0"/>
                  <a:t>[</a:t>
                </a:r>
                <a:r>
                  <a:rPr lang="fr-FR" dirty="0" err="1" smtClean="0">
                    <a:solidFill>
                      <a:srgbClr val="00B050"/>
                    </a:solidFill>
                  </a:rPr>
                  <a:t>Vector</a:t>
                </a:r>
                <a:r>
                  <a:rPr lang="fr-FR" dirty="0" smtClean="0"/>
                  <a:t> </a:t>
                </a:r>
                <a:r>
                  <a:rPr lang="fr-FR" dirty="0" smtClean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 </a:t>
                </a:r>
                <a:r>
                  <a:rPr lang="fr-FR" dirty="0" smtClean="0">
                    <a:solidFill>
                      <a:srgbClr val="00B0F0"/>
                    </a:solidFill>
                    <a:sym typeface="Wingdings" panose="05000000000000000000" pitchFamily="2" charset="2"/>
                  </a:rPr>
                  <a:t>Matrix</a:t>
                </a:r>
                <a:r>
                  <a:rPr lang="fr-FR" dirty="0" smtClean="0"/>
                  <a:t>]</a:t>
                </a:r>
                <a:r>
                  <a:rPr lang="fr-FR" dirty="0" smtClean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 </a:t>
                </a:r>
                <a:endParaRPr lang="fr-FR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06E9F4CE-BB25-6548-40D4-F586151E4E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565" y="1447086"/>
                <a:ext cx="11211339" cy="574068"/>
              </a:xfrm>
              <a:prstGeom prst="rect">
                <a:avLst/>
              </a:prstGeom>
              <a:blipFill>
                <a:blip r:embed="rId2"/>
                <a:stretch>
                  <a:fillRect l="-326" b="-105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2CF68895-4530-B5A8-27BE-8F96FA2F2CC9}"/>
                  </a:ext>
                </a:extLst>
              </p:cNvPr>
              <p:cNvSpPr txBox="1"/>
              <p:nvPr/>
            </p:nvSpPr>
            <p:spPr>
              <a:xfrm>
                <a:off x="397565" y="2169994"/>
                <a:ext cx="4010662" cy="34808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endParaRPr lang="fr-FR" b="1" dirty="0" smtClean="0">
                  <a:latin typeface="Cambria Math" panose="02040503050406030204" pitchFamily="18" charset="0"/>
                </a:endParaRPr>
              </a:p>
              <a:p>
                <a:pPr algn="ctr"/>
                <a:r>
                  <a:rPr lang="fr-FR" b="1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Cartesian</a:t>
                </a:r>
                <a:endParaRPr lang="fr-FR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endParaRPr lang="fr-FR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acc>
                            <m:accPr>
                              <m:chr m:val="⃗"/>
                              <m:ctrlP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b="1" i="1" smtClean="0">
                                  <a:latin typeface="Cambria Math" panose="02040503050406030204" pitchFamily="18" charset="0"/>
                                </a:rPr>
                                <m:t>𝑱</m:t>
                              </m:r>
                            </m:e>
                          </m:acc>
                        </m:e>
                      </m:acc>
                      <m:r>
                        <a:rPr lang="fr-FR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fr-FR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fr-FR" b="0" dirty="0" smtClean="0"/>
              </a:p>
              <a:p>
                <a:pPr algn="ctr"/>
                <a:endParaRPr lang="fr-FR" dirty="0"/>
              </a:p>
              <a:p>
                <a:pPr algn="ctr"/>
                <a:r>
                  <a:rPr lang="fr-FR" dirty="0" smtClean="0"/>
                  <a:t>Einstein notation 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den>
                    </m:f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𝜕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fr-FR" dirty="0"/>
              </a:p>
            </p:txBody>
          </p:sp>
        </mc:Choice>
        <mc:Fallback xmlns="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2CF68895-4530-B5A8-27BE-8F96FA2F2C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565" y="2169994"/>
                <a:ext cx="4010662" cy="34808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F0390C66-680F-18AE-90E5-8A931147F10E}"/>
                  </a:ext>
                </a:extLst>
              </p:cNvPr>
              <p:cNvSpPr txBox="1"/>
              <p:nvPr/>
            </p:nvSpPr>
            <p:spPr>
              <a:xfrm>
                <a:off x="6094412" y="2137460"/>
                <a:ext cx="4010662" cy="28677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endParaRPr lang="fr-FR" b="1" dirty="0" smtClean="0">
                  <a:latin typeface="Cambria Math" panose="02040503050406030204" pitchFamily="18" charset="0"/>
                </a:endParaRPr>
              </a:p>
              <a:p>
                <a:pPr algn="ctr"/>
                <a:r>
                  <a:rPr lang="fr-FR" b="1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Cylindrical</a:t>
                </a:r>
                <a:endParaRPr lang="fr-FR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endParaRPr lang="fr-FR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acc>
                            <m:accPr>
                              <m:chr m:val="⃗"/>
                              <m:ctrlPr>
                                <a:rPr lang="fr-FR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b="1" i="1">
                                  <a:latin typeface="Cambria Math" panose="02040503050406030204" pitchFamily="18" charset="0"/>
                                </a:rPr>
                                <m:t>𝑱</m:t>
                              </m:r>
                            </m:e>
                          </m:acc>
                        </m:e>
                      </m:acc>
                      <m:r>
                        <a:rPr lang="fr-FR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den>
                                </m:f>
                                <m:f>
                                  <m:f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den>
                                </m:f>
                                <m:f>
                                  <m:f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𝜕𝜃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den>
                                </m:f>
                                <m:f>
                                  <m:f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𝜕𝜃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  <m:r>
                        <a:rPr lang="fr-FR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fr-FR" dirty="0"/>
              </a:p>
              <a:p>
                <a:pPr algn="ctr"/>
                <a:endParaRPr lang="fr-FR" dirty="0"/>
              </a:p>
            </p:txBody>
          </p:sp>
        </mc:Choice>
        <mc:Fallback xmlns="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F0390C66-680F-18AE-90E5-8A931147F1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4412" y="2137460"/>
                <a:ext cx="4010662" cy="286777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Espace réservé du pied de page 3">
            <a:extLst>
              <a:ext uri="{FF2B5EF4-FFF2-40B4-BE49-F238E27FC236}">
                <a16:creationId xmlns:a16="http://schemas.microsoft.com/office/drawing/2014/main" id="{DE5413C3-A740-272F-FF1E-667AE7900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4212" y="6172200"/>
            <a:ext cx="7543800" cy="365125"/>
          </a:xfrm>
        </p:spPr>
        <p:txBody>
          <a:bodyPr/>
          <a:lstStyle/>
          <a:p>
            <a:r>
              <a:rPr lang="fr-FR" dirty="0" err="1" smtClean="0"/>
              <a:t>Aerodynamics</a:t>
            </a:r>
            <a:r>
              <a:rPr lang="fr-FR" dirty="0" smtClean="0"/>
              <a:t>  </a:t>
            </a:r>
            <a:r>
              <a:rPr lang="fr-FR" dirty="0"/>
              <a:t>- </a:t>
            </a:r>
            <a:r>
              <a:rPr lang="fr-FR" dirty="0" err="1"/>
              <a:t>Chapter</a:t>
            </a:r>
            <a:r>
              <a:rPr lang="fr-FR" dirty="0"/>
              <a:t> 1 – </a:t>
            </a:r>
            <a:r>
              <a:rPr lang="fr-FR" dirty="0" err="1"/>
              <a:t>Mathematical</a:t>
            </a:r>
            <a:r>
              <a:rPr lang="fr-FR" dirty="0"/>
              <a:t> </a:t>
            </a:r>
            <a:r>
              <a:rPr lang="fr-FR" dirty="0" err="1"/>
              <a:t>tools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81468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nip Diagonal Corner Rectangle 6">
            <a:extLst>
              <a:ext uri="{FF2B5EF4-FFF2-40B4-BE49-F238E27FC236}">
                <a16:creationId xmlns:a16="http://schemas.microsoft.com/office/drawing/2014/main" id="{AD2D45C7-2E37-44FD-AC77-116CD14B9ED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25" y="2"/>
            <a:ext cx="12191075" cy="6857998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002">
            <a:schemeClr val="dk2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30" name="Snip Single Corner Rectangle 17">
            <a:extLst>
              <a:ext uri="{FF2B5EF4-FFF2-40B4-BE49-F238E27FC236}">
                <a16:creationId xmlns:a16="http://schemas.microsoft.com/office/drawing/2014/main" id="{1FF88480-2CF1-4C54-8CE3-2CA9CD9FF89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1"/>
            <a:ext cx="12188825" cy="6857999"/>
          </a:xfrm>
          <a:prstGeom prst="snip1Rect">
            <a:avLst>
              <a:gd name="adj" fmla="val 5000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8AD032B-4A83-065B-9888-6166E18B2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179592"/>
            <a:ext cx="10924692" cy="1507067"/>
          </a:xfrm>
        </p:spPr>
        <p:txBody>
          <a:bodyPr>
            <a:normAutofit/>
          </a:bodyPr>
          <a:lstStyle/>
          <a:p>
            <a:r>
              <a:rPr lang="fr-FR" sz="4000" dirty="0" err="1" smtClean="0">
                <a:solidFill>
                  <a:schemeClr val="tx2"/>
                </a:solidFill>
              </a:rPr>
              <a:t>Operators</a:t>
            </a:r>
            <a:r>
              <a:rPr lang="fr-FR" sz="4000" dirty="0" smtClean="0">
                <a:solidFill>
                  <a:schemeClr val="tx2"/>
                </a:solidFill>
              </a:rPr>
              <a:t> - divergence</a:t>
            </a:r>
            <a:endParaRPr lang="fr-FR" sz="4000" dirty="0">
              <a:solidFill>
                <a:schemeClr val="tx2"/>
              </a:solidFill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3B03BD6-2501-5717-B1C6-15952A328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17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06E9F4CE-BB25-6548-40D4-F586151E4E68}"/>
                  </a:ext>
                </a:extLst>
              </p:cNvPr>
              <p:cNvSpPr txBox="1"/>
              <p:nvPr/>
            </p:nvSpPr>
            <p:spPr>
              <a:xfrm>
                <a:off x="397565" y="1447086"/>
                <a:ext cx="11211339" cy="4029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fr-FR" b="0" dirty="0" smtClean="0"/>
                  <a:t>Divergence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𝑑𝑖𝑣</m:t>
                    </m:r>
                    <m:d>
                      <m:dPr>
                        <m:ctrlPr>
                          <a:rPr lang="fr-FR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fr-FR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b="0" i="1" dirty="0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acc>
                      </m:e>
                    </m:d>
                    <m:r>
                      <a:rPr lang="fr-FR" b="0" i="1" dirty="0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>
                            <a:latin typeface="Cambria Math" panose="02040503050406030204" pitchFamily="18" charset="0"/>
                          </a:rPr>
                          <m:t>𝛻</m:t>
                        </m:r>
                      </m:e>
                    </m:acc>
                    <m:r>
                      <a:rPr lang="fr-FR" b="0" i="1" smtClean="0"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lang="fr-FR" dirty="0">
                    <a:solidFill>
                      <a:schemeClr val="tx1"/>
                    </a:solidFill>
                  </a:rPr>
                  <a:t> </a:t>
                </a:r>
                <a:r>
                  <a:rPr lang="fr-FR" dirty="0"/>
                  <a:t>	[</a:t>
                </a:r>
                <a:r>
                  <a:rPr lang="fr-FR" dirty="0">
                    <a:solidFill>
                      <a:srgbClr val="00B050"/>
                    </a:solidFill>
                  </a:rPr>
                  <a:t>vecteur</a:t>
                </a:r>
                <a:r>
                  <a:rPr lang="fr-FR" dirty="0"/>
                  <a:t> </a:t>
                </a:r>
                <a:r>
                  <a:rPr lang="fr-FR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 </a:t>
                </a:r>
                <a:r>
                  <a:rPr lang="fr-FR" dirty="0">
                    <a:solidFill>
                      <a:srgbClr val="FF0000"/>
                    </a:solidFill>
                  </a:rPr>
                  <a:t>scalaire</a:t>
                </a:r>
                <a:r>
                  <a:rPr lang="fr-FR" dirty="0"/>
                  <a:t>]</a:t>
                </a:r>
                <a:r>
                  <a:rPr lang="fr-FR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 </a:t>
                </a:r>
                <a:endParaRPr lang="fr-FR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06E9F4CE-BB25-6548-40D4-F586151E4E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565" y="1447086"/>
                <a:ext cx="11211339" cy="402931"/>
              </a:xfrm>
              <a:prstGeom prst="rect">
                <a:avLst/>
              </a:prstGeom>
              <a:blipFill>
                <a:blip r:embed="rId2"/>
                <a:stretch>
                  <a:fillRect l="-326" b="-2424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2CF68895-4530-B5A8-27BE-8F96FA2F2CC9}"/>
                  </a:ext>
                </a:extLst>
              </p:cNvPr>
              <p:cNvSpPr txBox="1"/>
              <p:nvPr/>
            </p:nvSpPr>
            <p:spPr>
              <a:xfrm>
                <a:off x="397565" y="2169994"/>
                <a:ext cx="4010662" cy="20588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endParaRPr lang="fr-FR" b="1" dirty="0">
                  <a:latin typeface="Cambria Math" panose="02040503050406030204" pitchFamily="18" charset="0"/>
                </a:endParaRPr>
              </a:p>
              <a:p>
                <a:pPr algn="ctr"/>
                <a:r>
                  <a:rPr lang="fr-FR" b="1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Cartesian</a:t>
                </a:r>
                <a:endParaRPr lang="fr-FR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endParaRPr lang="fr-FR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>
                              <a:latin typeface="Cambria Math" panose="02040503050406030204" pitchFamily="18" charset="0"/>
                            </a:rPr>
                            <m:t>𝛻</m:t>
                          </m:r>
                        </m:e>
                      </m:acc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fr-FR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num>
                        <m:den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num>
                        <m:den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den>
                      </m:f>
                    </m:oMath>
                  </m:oMathPara>
                </a14:m>
                <a:endParaRPr lang="fr-FR" b="0" dirty="0"/>
              </a:p>
              <a:p>
                <a:pPr algn="ctr"/>
                <a:endParaRPr lang="fr-FR" dirty="0"/>
              </a:p>
              <a:p>
                <a:pPr algn="ctr"/>
                <a:endParaRPr lang="fr-FR" dirty="0"/>
              </a:p>
            </p:txBody>
          </p:sp>
        </mc:Choice>
        <mc:Fallback xmlns="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2CF68895-4530-B5A8-27BE-8F96FA2F2C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565" y="2169994"/>
                <a:ext cx="4010662" cy="20588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F0390C66-680F-18AE-90E5-8A931147F10E}"/>
                  </a:ext>
                </a:extLst>
              </p:cNvPr>
              <p:cNvSpPr txBox="1"/>
              <p:nvPr/>
            </p:nvSpPr>
            <p:spPr>
              <a:xfrm>
                <a:off x="6222681" y="2209346"/>
                <a:ext cx="4010662" cy="15048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endParaRPr lang="fr-FR" b="1" dirty="0">
                  <a:latin typeface="Cambria Math" panose="02040503050406030204" pitchFamily="18" charset="0"/>
                </a:endParaRPr>
              </a:p>
              <a:p>
                <a:pPr algn="ctr"/>
                <a:r>
                  <a:rPr lang="fr-FR" b="1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Cylindrical</a:t>
                </a:r>
                <a:endParaRPr lang="fr-FR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endParaRPr lang="fr-FR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>
                              <a:latin typeface="Cambria Math" panose="02040503050406030204" pitchFamily="18" charset="0"/>
                            </a:rPr>
                            <m:t>𝛻</m:t>
                          </m:r>
                        </m:e>
                      </m:acc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fr-FR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f>
                        <m:f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𝑟𝑢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f>
                        <m:f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</m:num>
                        <m:den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den>
                      </m:f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num>
                        <m:den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den>
                      </m:f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F0390C66-680F-18AE-90E5-8A931147F1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2681" y="2209346"/>
                <a:ext cx="4010662" cy="15048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811691" y="3853441"/>
                <a:ext cx="3182410" cy="53578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fr-FR" dirty="0"/>
                  <a:t>Einstein notation 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a:rPr lang="fr-FR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𝜕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fr-FR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691" y="3853441"/>
                <a:ext cx="3182410" cy="535788"/>
              </a:xfrm>
              <a:prstGeom prst="rect">
                <a:avLst/>
              </a:prstGeom>
              <a:blipFill>
                <a:blip r:embed="rId5"/>
                <a:stretch>
                  <a:fillRect l="-1533" b="-113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Espace réservé du pied de page 3">
            <a:extLst>
              <a:ext uri="{FF2B5EF4-FFF2-40B4-BE49-F238E27FC236}">
                <a16:creationId xmlns:a16="http://schemas.microsoft.com/office/drawing/2014/main" id="{DE5413C3-A740-272F-FF1E-667AE7900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4212" y="6172200"/>
            <a:ext cx="7543800" cy="365125"/>
          </a:xfrm>
        </p:spPr>
        <p:txBody>
          <a:bodyPr/>
          <a:lstStyle/>
          <a:p>
            <a:r>
              <a:rPr lang="fr-FR" dirty="0" err="1" smtClean="0"/>
              <a:t>Aerodynamics</a:t>
            </a:r>
            <a:r>
              <a:rPr lang="fr-FR" dirty="0" smtClean="0"/>
              <a:t>  </a:t>
            </a:r>
            <a:r>
              <a:rPr lang="fr-FR" dirty="0"/>
              <a:t>- </a:t>
            </a:r>
            <a:r>
              <a:rPr lang="fr-FR" dirty="0" err="1"/>
              <a:t>Chapter</a:t>
            </a:r>
            <a:r>
              <a:rPr lang="fr-FR" dirty="0"/>
              <a:t> 1 – </a:t>
            </a:r>
            <a:r>
              <a:rPr lang="fr-FR" dirty="0" err="1"/>
              <a:t>Mathematical</a:t>
            </a:r>
            <a:r>
              <a:rPr lang="fr-FR" dirty="0"/>
              <a:t> </a:t>
            </a:r>
            <a:r>
              <a:rPr lang="fr-FR" dirty="0" err="1"/>
              <a:t>tools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12906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nip Diagonal Corner Rectangle 6">
            <a:extLst>
              <a:ext uri="{FF2B5EF4-FFF2-40B4-BE49-F238E27FC236}">
                <a16:creationId xmlns:a16="http://schemas.microsoft.com/office/drawing/2014/main" id="{AD2D45C7-2E37-44FD-AC77-116CD14B9ED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25" y="2"/>
            <a:ext cx="12191075" cy="6857998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002">
            <a:schemeClr val="dk2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30" name="Snip Single Corner Rectangle 17">
            <a:extLst>
              <a:ext uri="{FF2B5EF4-FFF2-40B4-BE49-F238E27FC236}">
                <a16:creationId xmlns:a16="http://schemas.microsoft.com/office/drawing/2014/main" id="{1FF88480-2CF1-4C54-8CE3-2CA9CD9FF89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1"/>
            <a:ext cx="12188825" cy="6857999"/>
          </a:xfrm>
          <a:prstGeom prst="snip1Rect">
            <a:avLst>
              <a:gd name="adj" fmla="val 5000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8AD032B-4A83-065B-9888-6166E18B2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179592"/>
            <a:ext cx="10924692" cy="1507067"/>
          </a:xfrm>
        </p:spPr>
        <p:txBody>
          <a:bodyPr>
            <a:normAutofit/>
          </a:bodyPr>
          <a:lstStyle/>
          <a:p>
            <a:r>
              <a:rPr lang="fr-FR" sz="4000" dirty="0" err="1" smtClean="0">
                <a:solidFill>
                  <a:schemeClr val="tx2"/>
                </a:solidFill>
              </a:rPr>
              <a:t>Operators</a:t>
            </a:r>
            <a:r>
              <a:rPr lang="fr-FR" sz="4000" dirty="0" smtClean="0">
                <a:solidFill>
                  <a:schemeClr val="tx2"/>
                </a:solidFill>
              </a:rPr>
              <a:t> - divergence</a:t>
            </a:r>
            <a:endParaRPr lang="fr-FR" sz="4000" dirty="0">
              <a:solidFill>
                <a:schemeClr val="tx2"/>
              </a:solidFill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3B03BD6-2501-5717-B1C6-15952A328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18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06E9F4CE-BB25-6548-40D4-F586151E4E68}"/>
                  </a:ext>
                </a:extLst>
              </p:cNvPr>
              <p:cNvSpPr txBox="1"/>
              <p:nvPr/>
            </p:nvSpPr>
            <p:spPr>
              <a:xfrm>
                <a:off x="397565" y="1447086"/>
                <a:ext cx="11211339" cy="9569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fr-FR" dirty="0" smtClean="0"/>
                  <a:t>Divergence </a:t>
                </a:r>
                <a:r>
                  <a:rPr lang="fr-FR" dirty="0" err="1" smtClean="0"/>
                  <a:t>operator</a:t>
                </a:r>
                <a:r>
                  <a:rPr lang="fr-FR" dirty="0" smtClean="0"/>
                  <a:t> </a:t>
                </a:r>
                <a:r>
                  <a:rPr lang="fr-FR" dirty="0" err="1" smtClean="0"/>
                  <a:t>traduces</a:t>
                </a:r>
                <a:r>
                  <a:rPr lang="fr-FR" dirty="0" smtClean="0"/>
                  <a:t> variation of flow. </a:t>
                </a:r>
                <a:r>
                  <a:rPr lang="fr-FR" dirty="0" err="1" smtClean="0"/>
                  <a:t>Intuitively</a:t>
                </a:r>
                <a:r>
                  <a:rPr lang="fr-FR" dirty="0" smtClean="0"/>
                  <a:t>, divergence </a:t>
                </a:r>
                <a:r>
                  <a:rPr lang="fr-FR" dirty="0" err="1" smtClean="0"/>
                  <a:t>traduces</a:t>
                </a:r>
                <a:r>
                  <a:rPr lang="fr-FR" dirty="0"/>
                  <a:t> </a:t>
                </a:r>
                <a:r>
                  <a:rPr lang="fr-FR" dirty="0" smtClean="0"/>
                  <a:t>if a </a:t>
                </a:r>
                <a:r>
                  <a:rPr lang="fr-FR" dirty="0" err="1" smtClean="0"/>
                  <a:t>vectorial</a:t>
                </a:r>
                <a:r>
                  <a:rPr lang="fr-FR" dirty="0" smtClean="0"/>
                  <a:t> </a:t>
                </a:r>
                <a:r>
                  <a:rPr lang="fr-FR" dirty="0" err="1" smtClean="0"/>
                  <a:t>field</a:t>
                </a:r>
                <a:r>
                  <a:rPr lang="fr-FR" dirty="0" smtClean="0"/>
                  <a:t> </a:t>
                </a:r>
                <a:r>
                  <a:rPr lang="fr-FR" dirty="0" err="1" smtClean="0"/>
                  <a:t>goes</a:t>
                </a:r>
                <a:r>
                  <a:rPr lang="fr-FR" dirty="0" smtClean="0"/>
                  <a:t> « in » or « out » of a spatial zone at point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fr-FR" dirty="0" smtClean="0"/>
                  <a:t>.</a:t>
                </a:r>
                <a:endParaRPr lang="fr-FR" dirty="0">
                  <a:solidFill>
                    <a:schemeClr val="tx1"/>
                  </a:solidFill>
                </a:endParaRP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fr-FR" dirty="0" smtClean="0"/>
                  <a:t>For a </a:t>
                </a:r>
                <a:r>
                  <a:rPr lang="fr-FR" dirty="0" err="1" smtClean="0">
                    <a:solidFill>
                      <a:srgbClr val="00B050"/>
                    </a:solidFill>
                  </a:rPr>
                  <a:t>vectorial</a:t>
                </a:r>
                <a:r>
                  <a:rPr lang="fr-FR" dirty="0" smtClean="0"/>
                  <a:t> </a:t>
                </a:r>
                <a:r>
                  <a:rPr lang="fr-FR" dirty="0" err="1" smtClean="0"/>
                  <a:t>field</a:t>
                </a:r>
                <a:r>
                  <a:rPr lang="fr-FR" dirty="0" smtClean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d>
                      <m:dPr>
                        <m:ctrlPr>
                          <a:rPr lang="fr-FR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fr-FR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FR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fr-FR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FR" b="0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fr-FR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𝛻</m:t>
                        </m:r>
                      </m:e>
                    </m:acc>
                    <m:r>
                      <a:rPr lang="fr-FR" b="0" i="1" dirty="0" smtClean="0"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fr-FR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b="0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fr-FR" b="0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fr-FR" dirty="0" smtClean="0">
                    <a:solidFill>
                      <a:schemeClr val="tx1"/>
                    </a:solidFill>
                  </a:rPr>
                  <a:t> </a:t>
                </a:r>
                <a:r>
                  <a:rPr lang="fr-FR" dirty="0" err="1" smtClean="0">
                    <a:solidFill>
                      <a:schemeClr val="tx1"/>
                    </a:solidFill>
                  </a:rPr>
                  <a:t>induces</a:t>
                </a:r>
                <a:r>
                  <a:rPr lang="fr-FR" dirty="0" smtClean="0">
                    <a:solidFill>
                      <a:schemeClr val="tx1"/>
                    </a:solidFill>
                  </a:rPr>
                  <a:t> </a:t>
                </a:r>
                <a:r>
                  <a:rPr lang="fr-FR" dirty="0" err="1" smtClean="0">
                    <a:solidFill>
                      <a:schemeClr val="tx1"/>
                    </a:solidFill>
                  </a:rPr>
                  <a:t>that</a:t>
                </a:r>
                <a:r>
                  <a:rPr lang="fr-FR" dirty="0" smtClean="0">
                    <a:solidFill>
                      <a:schemeClr val="tx1"/>
                    </a:solidFill>
                  </a:rPr>
                  <a:t> </a:t>
                </a:r>
                <a:r>
                  <a:rPr lang="fr-FR" dirty="0" smtClean="0"/>
                  <a:t>flow </a:t>
                </a:r>
                <a:r>
                  <a:rPr lang="fr-FR" dirty="0" err="1" smtClean="0"/>
                  <a:t>density</a:t>
                </a:r>
                <a:r>
                  <a:rPr lang="fr-FR" dirty="0" smtClean="0"/>
                  <a:t> of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lang="fr-FR" dirty="0"/>
                  <a:t> </a:t>
                </a:r>
                <a:r>
                  <a:rPr lang="fr-FR" dirty="0" err="1" smtClean="0"/>
                  <a:t>is</a:t>
                </a:r>
                <a:r>
                  <a:rPr lang="fr-FR" dirty="0" smtClean="0"/>
                  <a:t> constant.</a:t>
                </a:r>
                <a:endParaRPr lang="fr-F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06E9F4CE-BB25-6548-40D4-F586151E4E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565" y="1447086"/>
                <a:ext cx="11211339" cy="956929"/>
              </a:xfrm>
              <a:prstGeom prst="rect">
                <a:avLst/>
              </a:prstGeom>
              <a:blipFill>
                <a:blip r:embed="rId2"/>
                <a:stretch>
                  <a:fillRect l="-326" t="-3185" b="-891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Espace réservé du pied de page 3">
            <a:extLst>
              <a:ext uri="{FF2B5EF4-FFF2-40B4-BE49-F238E27FC236}">
                <a16:creationId xmlns:a16="http://schemas.microsoft.com/office/drawing/2014/main" id="{DE5413C3-A740-272F-FF1E-667AE7900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4212" y="6172200"/>
            <a:ext cx="7543800" cy="365125"/>
          </a:xfrm>
        </p:spPr>
        <p:txBody>
          <a:bodyPr/>
          <a:lstStyle/>
          <a:p>
            <a:r>
              <a:rPr lang="fr-FR" dirty="0" err="1" smtClean="0"/>
              <a:t>Aerodynamics</a:t>
            </a:r>
            <a:r>
              <a:rPr lang="fr-FR" dirty="0" smtClean="0"/>
              <a:t>  </a:t>
            </a:r>
            <a:r>
              <a:rPr lang="fr-FR" dirty="0"/>
              <a:t>- </a:t>
            </a:r>
            <a:r>
              <a:rPr lang="fr-FR" dirty="0" err="1"/>
              <a:t>Chapter</a:t>
            </a:r>
            <a:r>
              <a:rPr lang="fr-FR" dirty="0"/>
              <a:t> 1 – </a:t>
            </a:r>
            <a:r>
              <a:rPr lang="fr-FR" dirty="0" err="1"/>
              <a:t>Mathematical</a:t>
            </a:r>
            <a:r>
              <a:rPr lang="fr-FR" dirty="0"/>
              <a:t> </a:t>
            </a:r>
            <a:r>
              <a:rPr lang="fr-FR" dirty="0" err="1"/>
              <a:t>tools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ZoneTexte 2"/>
              <p:cNvSpPr txBox="1"/>
              <p:nvPr/>
            </p:nvSpPr>
            <p:spPr>
              <a:xfrm>
                <a:off x="397565" y="2470035"/>
                <a:ext cx="9180544" cy="404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b="1" dirty="0" smtClean="0"/>
                  <a:t>Ex : </a:t>
                </a:r>
                <a:r>
                  <a:rPr lang="fr-FR" dirty="0" err="1" smtClean="0"/>
                  <a:t>Calculate</a:t>
                </a:r>
                <a:r>
                  <a:rPr lang="fr-FR" dirty="0" smtClean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>
                            <a:latin typeface="Cambria Math" panose="02040503050406030204" pitchFamily="18" charset="0"/>
                          </a:rPr>
                          <m:t>𝛻</m:t>
                        </m:r>
                      </m:e>
                    </m:acc>
                    <m:r>
                      <a:rPr lang="fr-FR" i="1" dirty="0"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fr-FR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i="1" dirty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lang="fr-FR" dirty="0" smtClean="0"/>
                  <a:t>  for the </a:t>
                </a:r>
                <a:r>
                  <a:rPr lang="fr-FR" dirty="0" err="1" smtClean="0"/>
                  <a:t>following</a:t>
                </a:r>
                <a:r>
                  <a:rPr lang="fr-FR" dirty="0" smtClean="0"/>
                  <a:t> </a:t>
                </a:r>
                <a:r>
                  <a:rPr lang="fr-FR" dirty="0" err="1" smtClean="0"/>
                  <a:t>vectorial</a:t>
                </a:r>
                <a:r>
                  <a:rPr lang="fr-FR" dirty="0" smtClean="0"/>
                  <a:t> </a:t>
                </a:r>
                <a:r>
                  <a:rPr lang="fr-FR" dirty="0" err="1" smtClean="0"/>
                  <a:t>fields</a:t>
                </a:r>
                <a:r>
                  <a:rPr lang="fr-FR" dirty="0"/>
                  <a:t> </a:t>
                </a:r>
                <a:r>
                  <a:rPr lang="fr-FR" dirty="0" smtClean="0"/>
                  <a:t>:</a:t>
                </a:r>
                <a:r>
                  <a:rPr lang="fr-FR" b="1" dirty="0" smtClean="0"/>
                  <a:t> </a:t>
                </a:r>
                <a:endParaRPr lang="fr-FR" b="1" dirty="0"/>
              </a:p>
            </p:txBody>
          </p:sp>
        </mc:Choice>
        <mc:Fallback xmlns="">
          <p:sp>
            <p:nvSpPr>
              <p:cNvPr id="3" name="ZoneTexte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565" y="2470035"/>
                <a:ext cx="9180544" cy="404663"/>
              </a:xfrm>
              <a:prstGeom prst="rect">
                <a:avLst/>
              </a:prstGeom>
              <a:blipFill>
                <a:blip r:embed="rId3"/>
                <a:stretch>
                  <a:fillRect l="-531" b="-2089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ZoneTexte 6"/>
              <p:cNvSpPr txBox="1"/>
              <p:nvPr/>
            </p:nvSpPr>
            <p:spPr>
              <a:xfrm>
                <a:off x="498763" y="2929621"/>
                <a:ext cx="4147127" cy="3912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𝑘𝑥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⃗"/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</m:acc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𝑘𝑦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⃗"/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7" name="ZoneTexte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763" y="2929621"/>
                <a:ext cx="4147127" cy="391261"/>
              </a:xfrm>
              <a:prstGeom prst="rect">
                <a:avLst/>
              </a:prstGeom>
              <a:blipFill>
                <a:blip r:embed="rId4"/>
                <a:stretch>
                  <a:fillRect b="-781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ZoneTexte 10"/>
              <p:cNvSpPr txBox="1"/>
              <p:nvPr/>
            </p:nvSpPr>
            <p:spPr>
              <a:xfrm>
                <a:off x="5084588" y="2929621"/>
                <a:ext cx="4147127" cy="3912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𝑘𝑦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⃗"/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</m:acc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𝑘𝑥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⃗"/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1" name="ZoneTexte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4588" y="2929621"/>
                <a:ext cx="4147127" cy="391261"/>
              </a:xfrm>
              <a:prstGeom prst="rect">
                <a:avLst/>
              </a:prstGeom>
              <a:blipFill>
                <a:blip r:embed="rId5"/>
                <a:stretch>
                  <a:fillRect b="-781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1646905" y="3306657"/>
                <a:ext cx="2110834" cy="404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>
                            <a:latin typeface="Cambria Math" panose="02040503050406030204" pitchFamily="18" charset="0"/>
                          </a:rPr>
                          <m:t>𝛻</m:t>
                        </m:r>
                      </m:e>
                    </m:acc>
                    <m:r>
                      <a:rPr lang="fr-FR" i="1" dirty="0"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fr-FR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i="1" dirty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fr-FR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b="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fr-FR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fr-FR" b="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fr-FR" b="0" i="1" dirty="0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fr-FR" b="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fr-FR" dirty="0" smtClean="0"/>
                  <a:t> </a:t>
                </a:r>
                <a:endParaRPr lang="fr-FR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6905" y="3306657"/>
                <a:ext cx="2110834" cy="40466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6102092" y="3320882"/>
                <a:ext cx="1967205" cy="404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>
                            <a:latin typeface="Cambria Math" panose="02040503050406030204" pitchFamily="18" charset="0"/>
                          </a:rPr>
                          <m:t>𝛻</m:t>
                        </m:r>
                      </m:e>
                    </m:acc>
                    <m:r>
                      <a:rPr lang="fr-FR" i="1" dirty="0"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fr-FR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i="1" dirty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fr-FR" b="0" i="1" dirty="0" smtClean="0">
                        <a:latin typeface="Cambria Math" panose="02040503050406030204" pitchFamily="18" charset="0"/>
                      </a:rPr>
                      <m:t>=0+0=0</m:t>
                    </m:r>
                  </m:oMath>
                </a14:m>
                <a:r>
                  <a:rPr lang="fr-FR" dirty="0" smtClean="0"/>
                  <a:t> </a:t>
                </a:r>
                <a:endParaRPr lang="fr-FR" dirty="0"/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2092" y="3320882"/>
                <a:ext cx="1967205" cy="40466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Image 1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322" y="3671509"/>
            <a:ext cx="3240000" cy="2430000"/>
          </a:xfrm>
          <a:prstGeom prst="rect">
            <a:avLst/>
          </a:prstGeom>
        </p:spPr>
      </p:pic>
      <p:pic>
        <p:nvPicPr>
          <p:cNvPr id="15" name="Image 14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8151" y="3733872"/>
            <a:ext cx="3240000" cy="24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883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nip Diagonal Corner Rectangle 6">
            <a:extLst>
              <a:ext uri="{FF2B5EF4-FFF2-40B4-BE49-F238E27FC236}">
                <a16:creationId xmlns:a16="http://schemas.microsoft.com/office/drawing/2014/main" id="{AD2D45C7-2E37-44FD-AC77-116CD14B9ED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25" y="2"/>
            <a:ext cx="12191075" cy="6857998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002">
            <a:schemeClr val="dk2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30" name="Snip Single Corner Rectangle 17">
            <a:extLst>
              <a:ext uri="{FF2B5EF4-FFF2-40B4-BE49-F238E27FC236}">
                <a16:creationId xmlns:a16="http://schemas.microsoft.com/office/drawing/2014/main" id="{1FF88480-2CF1-4C54-8CE3-2CA9CD9FF89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1"/>
            <a:ext cx="12188825" cy="6857999"/>
          </a:xfrm>
          <a:prstGeom prst="snip1Rect">
            <a:avLst>
              <a:gd name="adj" fmla="val 5000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8AD032B-4A83-065B-9888-6166E18B2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179592"/>
            <a:ext cx="10924692" cy="1507067"/>
          </a:xfrm>
        </p:spPr>
        <p:txBody>
          <a:bodyPr>
            <a:normAutofit/>
          </a:bodyPr>
          <a:lstStyle/>
          <a:p>
            <a:r>
              <a:rPr lang="fr-FR" sz="4000" dirty="0" err="1" smtClean="0">
                <a:solidFill>
                  <a:schemeClr val="tx2"/>
                </a:solidFill>
              </a:rPr>
              <a:t>Operators</a:t>
            </a:r>
            <a:r>
              <a:rPr lang="fr-FR" sz="4000" dirty="0" smtClean="0">
                <a:solidFill>
                  <a:schemeClr val="tx2"/>
                </a:solidFill>
              </a:rPr>
              <a:t> – divergence for matrices</a:t>
            </a:r>
            <a:endParaRPr lang="fr-FR" sz="4000" dirty="0">
              <a:solidFill>
                <a:schemeClr val="tx2"/>
              </a:solidFill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3B03BD6-2501-5717-B1C6-15952A328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19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06E9F4CE-BB25-6548-40D4-F586151E4E68}"/>
                  </a:ext>
                </a:extLst>
              </p:cNvPr>
              <p:cNvSpPr txBox="1"/>
              <p:nvPr/>
            </p:nvSpPr>
            <p:spPr>
              <a:xfrm>
                <a:off x="397565" y="1447086"/>
                <a:ext cx="11211339" cy="777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fr-FR" dirty="0" smtClean="0"/>
                  <a:t>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𝑑𝑖𝑣</m:t>
                    </m:r>
                    <m:r>
                      <a:rPr lang="fr-FR" b="0" i="1" dirty="0" smtClean="0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fr-FR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acc>
                          <m:accPr>
                            <m:chr m:val="⃗"/>
                            <m:ctrlPr>
                              <a:rPr lang="fr-FR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b="0" i="1" dirty="0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</m:acc>
                    <m:r>
                      <a:rPr lang="fr-FR" b="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fr-FR" b="0" i="1" dirty="0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>
                            <a:latin typeface="Cambria Math" panose="02040503050406030204" pitchFamily="18" charset="0"/>
                          </a:rPr>
                          <m:t>𝛻</m:t>
                        </m:r>
                      </m:e>
                    </m:acc>
                    <m:r>
                      <a:rPr lang="fr-FR" b="0" i="1" smtClean="0"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fr-FR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acc>
                          <m:accPr>
                            <m:chr m:val="⃗"/>
                            <m:ctrlPr>
                              <a:rPr lang="fr-FR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i="1" dirty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</m:acc>
                  </m:oMath>
                </a14:m>
                <a:r>
                  <a:rPr lang="fr-FR" dirty="0"/>
                  <a:t>	[</a:t>
                </a:r>
                <a:r>
                  <a:rPr lang="fr-FR" dirty="0" smtClean="0">
                    <a:solidFill>
                      <a:srgbClr val="0070C0"/>
                    </a:solidFill>
                  </a:rPr>
                  <a:t>Matrix </a:t>
                </a:r>
                <a:r>
                  <a:rPr lang="fr-FR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 </a:t>
                </a:r>
                <a:r>
                  <a:rPr lang="fr-FR" dirty="0" err="1" smtClean="0">
                    <a:solidFill>
                      <a:srgbClr val="00B050"/>
                    </a:solidFill>
                    <a:sym typeface="Wingdings" panose="05000000000000000000" pitchFamily="2" charset="2"/>
                  </a:rPr>
                  <a:t>V</a:t>
                </a:r>
                <a:r>
                  <a:rPr lang="fr-FR" dirty="0" err="1" smtClean="0">
                    <a:solidFill>
                      <a:srgbClr val="00B050"/>
                    </a:solidFill>
                  </a:rPr>
                  <a:t>ector</a:t>
                </a:r>
                <a:r>
                  <a:rPr lang="fr-FR" dirty="0"/>
                  <a:t>] : </a:t>
                </a:r>
                <a:r>
                  <a:rPr lang="fr-FR" dirty="0" smtClean="0"/>
                  <a:t>It </a:t>
                </a:r>
                <a:r>
                  <a:rPr lang="fr-FR" dirty="0" err="1" smtClean="0"/>
                  <a:t>consists</a:t>
                </a:r>
                <a:r>
                  <a:rPr lang="fr-FR" dirty="0" smtClean="0"/>
                  <a:t> on </a:t>
                </a:r>
                <a:r>
                  <a:rPr lang="fr-FR" dirty="0" err="1" smtClean="0"/>
                  <a:t>applying</a:t>
                </a:r>
                <a:r>
                  <a:rPr lang="fr-FR" dirty="0" smtClean="0"/>
                  <a:t> the </a:t>
                </a:r>
                <a:r>
                  <a:rPr lang="fr-FR" dirty="0" err="1" smtClean="0"/>
                  <a:t>operator</a:t>
                </a:r>
                <a:r>
                  <a:rPr lang="fr-FR" dirty="0" smtClean="0"/>
                  <a:t> of divergence of a </a:t>
                </a:r>
                <a:r>
                  <a:rPr lang="fr-FR" dirty="0" err="1" smtClean="0"/>
                  <a:t>vector</a:t>
                </a:r>
                <a:r>
                  <a:rPr lang="fr-FR" dirty="0" smtClean="0"/>
                  <a:t> on </a:t>
                </a:r>
                <a:r>
                  <a:rPr lang="fr-FR" dirty="0" err="1" smtClean="0"/>
                  <a:t>every</a:t>
                </a:r>
                <a:r>
                  <a:rPr lang="fr-FR" dirty="0" smtClean="0"/>
                  <a:t> </a:t>
                </a:r>
                <a:r>
                  <a:rPr lang="fr-FR" dirty="0" err="1" smtClean="0"/>
                  <a:t>lines</a:t>
                </a:r>
                <a:r>
                  <a:rPr lang="fr-FR" dirty="0" smtClean="0"/>
                  <a:t> of the matrix. </a:t>
                </a:r>
                <a:r>
                  <a:rPr lang="fr-FR" dirty="0" smtClean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 </a:t>
                </a:r>
                <a:endParaRPr lang="fr-FR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06E9F4CE-BB25-6548-40D4-F586151E4E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565" y="1447086"/>
                <a:ext cx="11211339" cy="777329"/>
              </a:xfrm>
              <a:prstGeom prst="rect">
                <a:avLst/>
              </a:prstGeom>
              <a:blipFill>
                <a:blip r:embed="rId2"/>
                <a:stretch>
                  <a:fillRect l="-326" b="-781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2CF68895-4530-B5A8-27BE-8F96FA2F2CC9}"/>
                  </a:ext>
                </a:extLst>
              </p:cNvPr>
              <p:cNvSpPr txBox="1"/>
              <p:nvPr/>
            </p:nvSpPr>
            <p:spPr>
              <a:xfrm>
                <a:off x="4090669" y="2169994"/>
                <a:ext cx="4010662" cy="30246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endParaRPr lang="fr-FR" b="1" dirty="0">
                  <a:latin typeface="Cambria Math" panose="02040503050406030204" pitchFamily="18" charset="0"/>
                </a:endParaRPr>
              </a:p>
              <a:p>
                <a:pPr algn="ctr"/>
                <a:r>
                  <a:rPr lang="fr-FR" b="1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Cartesian</a:t>
                </a:r>
                <a:endParaRPr lang="fr-FR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endParaRPr lang="fr-FR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>
                              <a:latin typeface="Cambria Math" panose="02040503050406030204" pitchFamily="18" charset="0"/>
                            </a:rPr>
                            <m:t>𝛻</m:t>
                          </m:r>
                        </m:e>
                      </m:acc>
                      <m:r>
                        <a:rPr lang="fr-FR" i="1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fr-FR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acc>
                            <m:accPr>
                              <m:chr m:val="⃗"/>
                              <m:ctrlPr>
                                <a:rPr lang="fr-FR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i="1" dirty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</m:acc>
                      <m:r>
                        <a:rPr lang="fr-FR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fr-FR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  <m:sub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  <m:t>𝑥𝑥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den>
                                </m:f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  <m:sub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den>
                                </m:f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  <m:sub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𝑧𝑥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  <m:sub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𝑥𝑦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den>
                                </m:f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  <m:sub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𝑦𝑦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den>
                                </m:f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  <m:sub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𝑦𝑧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  <m:sub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den>
                                </m:f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  <m:sub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den>
                                </m:f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  <m:sub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fr-FR" b="0" dirty="0"/>
              </a:p>
              <a:p>
                <a:pPr algn="ctr"/>
                <a:endParaRPr lang="fr-FR" dirty="0"/>
              </a:p>
            </p:txBody>
          </p:sp>
        </mc:Choice>
        <mc:Fallback xmlns="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2CF68895-4530-B5A8-27BE-8F96FA2F2C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0669" y="2169994"/>
                <a:ext cx="4010662" cy="302467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4474404" y="5030222"/>
                <a:ext cx="3344313" cy="55451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fr-FR" dirty="0" smtClean="0"/>
                  <a:t>Einstein notation </a:t>
                </a:r>
                <a:r>
                  <a:rPr lang="fr-FR" dirty="0"/>
                  <a:t>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a:rPr lang="fr-FR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𝜕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endParaRPr lang="fr-FR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4404" y="5030222"/>
                <a:ext cx="3344313" cy="554511"/>
              </a:xfrm>
              <a:prstGeom prst="rect">
                <a:avLst/>
              </a:prstGeom>
              <a:blipFill>
                <a:blip r:embed="rId4"/>
                <a:stretch>
                  <a:fillRect l="-109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Espace réservé du pied de page 3">
            <a:extLst>
              <a:ext uri="{FF2B5EF4-FFF2-40B4-BE49-F238E27FC236}">
                <a16:creationId xmlns:a16="http://schemas.microsoft.com/office/drawing/2014/main" id="{DE5413C3-A740-272F-FF1E-667AE7900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4212" y="6172200"/>
            <a:ext cx="7543800" cy="365125"/>
          </a:xfrm>
        </p:spPr>
        <p:txBody>
          <a:bodyPr/>
          <a:lstStyle/>
          <a:p>
            <a:r>
              <a:rPr lang="fr-FR" dirty="0" err="1" smtClean="0"/>
              <a:t>Aerodynamics</a:t>
            </a:r>
            <a:r>
              <a:rPr lang="fr-FR" dirty="0" smtClean="0"/>
              <a:t>  </a:t>
            </a:r>
            <a:r>
              <a:rPr lang="fr-FR" dirty="0"/>
              <a:t>- </a:t>
            </a:r>
            <a:r>
              <a:rPr lang="fr-FR" dirty="0" err="1"/>
              <a:t>Chapter</a:t>
            </a:r>
            <a:r>
              <a:rPr lang="fr-FR" dirty="0"/>
              <a:t> 1 – </a:t>
            </a:r>
            <a:r>
              <a:rPr lang="fr-FR" dirty="0" err="1"/>
              <a:t>Mathematical</a:t>
            </a:r>
            <a:r>
              <a:rPr lang="fr-FR" dirty="0"/>
              <a:t> </a:t>
            </a:r>
            <a:r>
              <a:rPr lang="fr-FR" dirty="0" err="1"/>
              <a:t>tools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38746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nip Diagonal Corner Rectangle 6">
            <a:extLst>
              <a:ext uri="{FF2B5EF4-FFF2-40B4-BE49-F238E27FC236}">
                <a16:creationId xmlns:a16="http://schemas.microsoft.com/office/drawing/2014/main" id="{AD2D45C7-2E37-44FD-AC77-116CD14B9ED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25" y="2"/>
            <a:ext cx="12191075" cy="6857998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002">
            <a:schemeClr val="dk2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30" name="Snip Single Corner Rectangle 17">
            <a:extLst>
              <a:ext uri="{FF2B5EF4-FFF2-40B4-BE49-F238E27FC236}">
                <a16:creationId xmlns:a16="http://schemas.microsoft.com/office/drawing/2014/main" id="{1FF88480-2CF1-4C54-8CE3-2CA9CD9FF89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1"/>
            <a:ext cx="12188825" cy="6857999"/>
          </a:xfrm>
          <a:prstGeom prst="snip1Rect">
            <a:avLst>
              <a:gd name="adj" fmla="val 5000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8AD032B-4A83-065B-9888-6166E18B2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179592"/>
            <a:ext cx="10924692" cy="1507067"/>
          </a:xfrm>
        </p:spPr>
        <p:txBody>
          <a:bodyPr>
            <a:normAutofit/>
          </a:bodyPr>
          <a:lstStyle/>
          <a:p>
            <a:r>
              <a:rPr lang="fr-FR" sz="4000" dirty="0" err="1" smtClean="0">
                <a:solidFill>
                  <a:schemeClr val="tx2"/>
                </a:solidFill>
              </a:rPr>
              <a:t>Operators</a:t>
            </a:r>
            <a:r>
              <a:rPr lang="fr-FR" sz="4000" dirty="0" smtClean="0">
                <a:solidFill>
                  <a:schemeClr val="tx2"/>
                </a:solidFill>
              </a:rPr>
              <a:t> -</a:t>
            </a:r>
            <a:r>
              <a:rPr lang="fr-FR" sz="4000" dirty="0" err="1" smtClean="0">
                <a:solidFill>
                  <a:schemeClr val="tx2"/>
                </a:solidFill>
              </a:rPr>
              <a:t>rotational</a:t>
            </a:r>
            <a:endParaRPr lang="fr-FR" sz="4000" dirty="0">
              <a:solidFill>
                <a:schemeClr val="tx2"/>
              </a:solidFill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3B03BD6-2501-5717-B1C6-15952A328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20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06E9F4CE-BB25-6548-40D4-F586151E4E68}"/>
                  </a:ext>
                </a:extLst>
              </p:cNvPr>
              <p:cNvSpPr txBox="1"/>
              <p:nvPr/>
            </p:nvSpPr>
            <p:spPr>
              <a:xfrm>
                <a:off x="397565" y="1447086"/>
                <a:ext cx="11211339" cy="4029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𝑟𝑜𝑡</m:t>
                        </m:r>
                      </m:e>
                    </m:acc>
                    <m:d>
                      <m:dPr>
                        <m:ctrlPr>
                          <a:rPr lang="fr-FR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fr-FR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b="0" i="1" dirty="0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acc>
                      </m:e>
                    </m:d>
                    <m:r>
                      <a:rPr lang="fr-FR" b="0" i="1" dirty="0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>
                            <a:latin typeface="Cambria Math" panose="02040503050406030204" pitchFamily="18" charset="0"/>
                          </a:rPr>
                          <m:t>𝛻</m:t>
                        </m:r>
                      </m:e>
                    </m:acc>
                    <m:r>
                      <a:rPr lang="fr-FR" b="0" i="1" smtClean="0">
                        <a:latin typeface="Cambria Math" panose="02040503050406030204" pitchFamily="18" charset="0"/>
                      </a:rPr>
                      <m:t>∧</m:t>
                    </m:r>
                    <m:acc>
                      <m:accPr>
                        <m:chr m:val="⃗"/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lang="fr-FR" dirty="0">
                    <a:solidFill>
                      <a:schemeClr val="tx1"/>
                    </a:solidFill>
                  </a:rPr>
                  <a:t> </a:t>
                </a:r>
                <a:r>
                  <a:rPr lang="fr-FR" dirty="0"/>
                  <a:t>	[</a:t>
                </a:r>
                <a:r>
                  <a:rPr lang="fr-FR" dirty="0">
                    <a:solidFill>
                      <a:srgbClr val="00B050"/>
                    </a:solidFill>
                  </a:rPr>
                  <a:t>vecteur</a:t>
                </a:r>
                <a:r>
                  <a:rPr lang="fr-FR" dirty="0"/>
                  <a:t> </a:t>
                </a:r>
                <a:r>
                  <a:rPr lang="fr-FR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 </a:t>
                </a:r>
                <a:r>
                  <a:rPr lang="fr-FR" dirty="0">
                    <a:solidFill>
                      <a:srgbClr val="00B050"/>
                    </a:solidFill>
                  </a:rPr>
                  <a:t>vecteur</a:t>
                </a:r>
                <a:r>
                  <a:rPr lang="fr-FR" dirty="0"/>
                  <a:t>]</a:t>
                </a:r>
                <a:r>
                  <a:rPr lang="fr-FR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 </a:t>
                </a:r>
                <a:endParaRPr lang="fr-F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06E9F4CE-BB25-6548-40D4-F586151E4E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565" y="1447086"/>
                <a:ext cx="11211339" cy="402931"/>
              </a:xfrm>
              <a:prstGeom prst="rect">
                <a:avLst/>
              </a:prstGeom>
              <a:blipFill>
                <a:blip r:embed="rId2"/>
                <a:stretch>
                  <a:fillRect l="-326" b="-2424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2CF68895-4530-B5A8-27BE-8F96FA2F2CC9}"/>
                  </a:ext>
                </a:extLst>
              </p:cNvPr>
              <p:cNvSpPr txBox="1"/>
              <p:nvPr/>
            </p:nvSpPr>
            <p:spPr>
              <a:xfrm>
                <a:off x="104291" y="1850017"/>
                <a:ext cx="5564866" cy="32467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endParaRPr lang="fr-FR" b="1" dirty="0">
                  <a:latin typeface="Cambria Math" panose="02040503050406030204" pitchFamily="18" charset="0"/>
                </a:endParaRPr>
              </a:p>
              <a:p>
                <a:pPr algn="ctr"/>
                <a:r>
                  <a:rPr lang="fr-FR" b="1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Cartesian</a:t>
                </a:r>
                <a:endParaRPr lang="fr-FR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endParaRPr lang="fr-FR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>
                              <a:latin typeface="Cambria Math" panose="02040503050406030204" pitchFamily="18" charset="0"/>
                            </a:rPr>
                            <m:t>𝛻</m:t>
                          </m:r>
                        </m:e>
                      </m:acc>
                      <m:r>
                        <a:rPr lang="fr-FR" i="1">
                          <a:latin typeface="Cambria Math" panose="02040503050406030204" pitchFamily="18" charset="0"/>
                        </a:rPr>
                        <m:t>∧</m:t>
                      </m:r>
                      <m:acc>
                        <m:accPr>
                          <m:chr m:val="⃗"/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fr-FR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fr-FR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den>
                                </m:f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fr-FR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den>
                                </m:f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den>
                                </m:f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fr-FR" b="0" dirty="0"/>
              </a:p>
              <a:p>
                <a:pPr algn="ctr"/>
                <a:endParaRPr lang="fr-FR" dirty="0"/>
              </a:p>
              <a:p>
                <a:pPr algn="ctr"/>
                <a:r>
                  <a:rPr lang="fr-FR" dirty="0" smtClean="0"/>
                  <a:t> </a:t>
                </a:r>
                <a:endParaRPr lang="fr-FR" dirty="0"/>
              </a:p>
            </p:txBody>
          </p:sp>
        </mc:Choice>
        <mc:Fallback xmlns="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2CF68895-4530-B5A8-27BE-8F96FA2F2C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291" y="1850017"/>
                <a:ext cx="5564866" cy="32467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F0390C66-680F-18AE-90E5-8A931147F10E}"/>
                  </a:ext>
                </a:extLst>
              </p:cNvPr>
              <p:cNvSpPr txBox="1"/>
              <p:nvPr/>
            </p:nvSpPr>
            <p:spPr>
              <a:xfrm>
                <a:off x="5874729" y="1982221"/>
                <a:ext cx="4010662" cy="26297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endParaRPr lang="fr-FR" b="1" dirty="0">
                  <a:latin typeface="Cambria Math" panose="02040503050406030204" pitchFamily="18" charset="0"/>
                </a:endParaRPr>
              </a:p>
              <a:p>
                <a:pPr algn="ctr"/>
                <a:r>
                  <a:rPr lang="fr-FR" b="1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Cylindrical</a:t>
                </a:r>
                <a:endParaRPr lang="fr-FR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endParaRPr lang="fr-FR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>
                              <a:latin typeface="Cambria Math" panose="02040503050406030204" pitchFamily="18" charset="0"/>
                            </a:rPr>
                            <m:t>𝛻</m:t>
                          </m:r>
                        </m:e>
                      </m:acc>
                      <m:r>
                        <a:rPr lang="fr-FR" i="1">
                          <a:latin typeface="Cambria Math" panose="02040503050406030204" pitchFamily="18" charset="0"/>
                        </a:rPr>
                        <m:t>∧</m:t>
                      </m:r>
                      <m:acc>
                        <m:accPr>
                          <m:chr m:val="⃗"/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fr-FR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brk m:alnAt="7"/>
                                      </m:r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m:rPr>
                                        <m:brk m:alnAt="7"/>
                                      </m:r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den>
                                </m:f>
                                <m:f>
                                  <m:f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den>
                                </m:f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den>
                                </m:f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den>
                                </m:f>
                                <m:f>
                                  <m:f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𝑟𝑢</m:t>
                                        </m:r>
                                      </m:e>
                                      <m:sub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sub>
                                    </m:s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num>
                                  <m:den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den>
                                </m:f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den>
                                </m:f>
                                <m:f>
                                  <m:f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sSub>
                                      <m:sSubPr>
                                        <m:ctrlP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i="1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e>
                                      <m:sub>
                                        <m:r>
                                          <a:rPr lang="fr-FR" b="0" i="1" smtClean="0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F0390C66-680F-18AE-90E5-8A931147F1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4729" y="1982221"/>
                <a:ext cx="4010662" cy="262975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235729" y="4503189"/>
                <a:ext cx="6096000" cy="1716624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algn="ctr"/>
                <a:r>
                  <a:rPr lang="fr-FR" dirty="0" smtClean="0"/>
                  <a:t>Einstein notation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𝑖𝑗𝑘</m:t>
                        </m:r>
                      </m:sub>
                    </m:sSub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𝜕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fr-FR" dirty="0"/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𝑖𝑗𝑘</m:t>
                        </m:r>
                      </m:sub>
                    </m:sSub>
                  </m:oMath>
                </a14:m>
                <a:r>
                  <a:rPr lang="fr-FR" dirty="0"/>
                  <a:t> : </a:t>
                </a:r>
                <a:r>
                  <a:rPr lang="fr-FR" dirty="0" smtClean="0"/>
                  <a:t>Levi-Civita </a:t>
                </a:r>
                <a:r>
                  <a:rPr lang="fr-FR" dirty="0" err="1" smtClean="0"/>
                  <a:t>symbol</a:t>
                </a:r>
                <a:endParaRPr lang="fr-FR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𝑖𝑗𝑘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"/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d>
                                <m:d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1,2,3</m:t>
                                  </m:r>
                                </m:e>
                              </m:d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𝑜𝑟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2,3,1</m:t>
                                  </m:r>
                                </m:e>
                              </m:d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𝑜𝑟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 (3,1,2)</m:t>
                              </m:r>
                            </m:e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−1 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d>
                                <m:d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3,2,1</m:t>
                                  </m:r>
                                </m:e>
                              </m:d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𝑜𝑟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2,1,3</m:t>
                                  </m:r>
                                </m:e>
                              </m:d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𝑜𝑟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 (1,3,2)</m:t>
                              </m:r>
                            </m:e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0 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𝑜𝑟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𝑜𝑟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729" y="4503189"/>
                <a:ext cx="6096000" cy="1716624"/>
              </a:xfrm>
              <a:prstGeom prst="rect">
                <a:avLst/>
              </a:prstGeom>
              <a:blipFill>
                <a:blip r:embed="rId5"/>
                <a:stretch>
                  <a:fillRect t="-249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Espace réservé du pied de page 3">
            <a:extLst>
              <a:ext uri="{FF2B5EF4-FFF2-40B4-BE49-F238E27FC236}">
                <a16:creationId xmlns:a16="http://schemas.microsoft.com/office/drawing/2014/main" id="{DE5413C3-A740-272F-FF1E-667AE7900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4212" y="6172200"/>
            <a:ext cx="7543800" cy="365125"/>
          </a:xfrm>
        </p:spPr>
        <p:txBody>
          <a:bodyPr/>
          <a:lstStyle/>
          <a:p>
            <a:r>
              <a:rPr lang="fr-FR" dirty="0" err="1" smtClean="0"/>
              <a:t>Aerodynamics</a:t>
            </a:r>
            <a:r>
              <a:rPr lang="fr-FR" dirty="0" smtClean="0"/>
              <a:t>  </a:t>
            </a:r>
            <a:r>
              <a:rPr lang="fr-FR" dirty="0"/>
              <a:t>- </a:t>
            </a:r>
            <a:r>
              <a:rPr lang="fr-FR" dirty="0" err="1"/>
              <a:t>Chapter</a:t>
            </a:r>
            <a:r>
              <a:rPr lang="fr-FR" dirty="0"/>
              <a:t> 1 – </a:t>
            </a:r>
            <a:r>
              <a:rPr lang="fr-FR" dirty="0" err="1"/>
              <a:t>Mathematical</a:t>
            </a:r>
            <a:r>
              <a:rPr lang="fr-FR" dirty="0"/>
              <a:t> </a:t>
            </a:r>
            <a:r>
              <a:rPr lang="fr-FR" dirty="0" err="1"/>
              <a:t>tools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62524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nip Diagonal Corner Rectangle 6">
            <a:extLst>
              <a:ext uri="{FF2B5EF4-FFF2-40B4-BE49-F238E27FC236}">
                <a16:creationId xmlns:a16="http://schemas.microsoft.com/office/drawing/2014/main" id="{AD2D45C7-2E37-44FD-AC77-116CD14B9ED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25" y="2"/>
            <a:ext cx="12191075" cy="6857998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002">
            <a:schemeClr val="dk2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30" name="Snip Single Corner Rectangle 17">
            <a:extLst>
              <a:ext uri="{FF2B5EF4-FFF2-40B4-BE49-F238E27FC236}">
                <a16:creationId xmlns:a16="http://schemas.microsoft.com/office/drawing/2014/main" id="{1FF88480-2CF1-4C54-8CE3-2CA9CD9FF89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1"/>
            <a:ext cx="12188825" cy="6857999"/>
          </a:xfrm>
          <a:prstGeom prst="snip1Rect">
            <a:avLst>
              <a:gd name="adj" fmla="val 5000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8AD032B-4A83-065B-9888-6166E18B2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179592"/>
            <a:ext cx="10924692" cy="1507067"/>
          </a:xfrm>
        </p:spPr>
        <p:txBody>
          <a:bodyPr>
            <a:normAutofit/>
          </a:bodyPr>
          <a:lstStyle/>
          <a:p>
            <a:r>
              <a:rPr lang="fr-FR" sz="4000" dirty="0" err="1" smtClean="0">
                <a:solidFill>
                  <a:schemeClr val="tx2"/>
                </a:solidFill>
              </a:rPr>
              <a:t>Operators</a:t>
            </a:r>
            <a:r>
              <a:rPr lang="fr-FR" sz="4000" dirty="0" smtClean="0">
                <a:solidFill>
                  <a:schemeClr val="tx2"/>
                </a:solidFill>
              </a:rPr>
              <a:t> - </a:t>
            </a:r>
            <a:r>
              <a:rPr lang="fr-FR" sz="4000" dirty="0" err="1" smtClean="0">
                <a:solidFill>
                  <a:schemeClr val="tx2"/>
                </a:solidFill>
              </a:rPr>
              <a:t>rotational</a:t>
            </a:r>
            <a:endParaRPr lang="fr-FR" sz="4000" dirty="0">
              <a:solidFill>
                <a:schemeClr val="tx2"/>
              </a:solidFill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3B03BD6-2501-5717-B1C6-15952A328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21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06E9F4CE-BB25-6548-40D4-F586151E4E68}"/>
                  </a:ext>
                </a:extLst>
              </p:cNvPr>
              <p:cNvSpPr txBox="1"/>
              <p:nvPr/>
            </p:nvSpPr>
            <p:spPr>
              <a:xfrm>
                <a:off x="397565" y="1447086"/>
                <a:ext cx="1121133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fr-FR" dirty="0" smtClean="0"/>
                  <a:t>As </a:t>
                </a:r>
                <a:r>
                  <a:rPr lang="fr-FR" dirty="0" err="1" smtClean="0"/>
                  <a:t>its</a:t>
                </a:r>
                <a:r>
                  <a:rPr lang="fr-FR" dirty="0" smtClean="0"/>
                  <a:t> </a:t>
                </a:r>
                <a:r>
                  <a:rPr lang="fr-FR" dirty="0" err="1" smtClean="0"/>
                  <a:t>name</a:t>
                </a:r>
                <a:r>
                  <a:rPr lang="fr-FR" dirty="0" smtClean="0"/>
                  <a:t> shows, </a:t>
                </a:r>
                <a:r>
                  <a:rPr lang="fr-FR" dirty="0" err="1" smtClean="0"/>
                  <a:t>rotational</a:t>
                </a:r>
                <a:r>
                  <a:rPr lang="fr-FR" dirty="0" smtClean="0"/>
                  <a:t> </a:t>
                </a:r>
                <a:r>
                  <a:rPr lang="fr-FR" dirty="0" err="1" smtClean="0"/>
                  <a:t>measures</a:t>
                </a:r>
                <a:r>
                  <a:rPr lang="fr-FR" dirty="0"/>
                  <a:t> </a:t>
                </a:r>
                <a:r>
                  <a:rPr lang="fr-FR" dirty="0" smtClean="0"/>
                  <a:t>the local rotation of the </a:t>
                </a:r>
                <a:r>
                  <a:rPr lang="fr-FR" dirty="0" err="1" smtClean="0"/>
                  <a:t>vector</a:t>
                </a:r>
                <a:r>
                  <a:rPr lang="fr-FR" dirty="0" smtClean="0"/>
                  <a:t> </a:t>
                </a:r>
                <a:r>
                  <a:rPr lang="fr-FR" dirty="0" err="1" smtClean="0"/>
                  <a:t>field</a:t>
                </a:r>
                <a:r>
                  <a:rPr lang="fr-FR" dirty="0" smtClean="0"/>
                  <a:t> at point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fr-FR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fr-FR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06E9F4CE-BB25-6548-40D4-F586151E4E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565" y="1447086"/>
                <a:ext cx="11211339" cy="369332"/>
              </a:xfrm>
              <a:prstGeom prst="rect">
                <a:avLst/>
              </a:prstGeom>
              <a:blipFill>
                <a:blip r:embed="rId2"/>
                <a:stretch>
                  <a:fillRect l="-326" t="-8197" b="-2459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Espace réservé du pied de page 3">
            <a:extLst>
              <a:ext uri="{FF2B5EF4-FFF2-40B4-BE49-F238E27FC236}">
                <a16:creationId xmlns:a16="http://schemas.microsoft.com/office/drawing/2014/main" id="{DE5413C3-A740-272F-FF1E-667AE7900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4212" y="6172200"/>
            <a:ext cx="7543800" cy="365125"/>
          </a:xfrm>
        </p:spPr>
        <p:txBody>
          <a:bodyPr/>
          <a:lstStyle/>
          <a:p>
            <a:r>
              <a:rPr lang="fr-FR" dirty="0" err="1" smtClean="0"/>
              <a:t>Aerodynamics</a:t>
            </a:r>
            <a:r>
              <a:rPr lang="fr-FR" dirty="0" smtClean="0"/>
              <a:t>  </a:t>
            </a:r>
            <a:r>
              <a:rPr lang="fr-FR" dirty="0"/>
              <a:t>- </a:t>
            </a:r>
            <a:r>
              <a:rPr lang="fr-FR" dirty="0" err="1"/>
              <a:t>Chapter</a:t>
            </a:r>
            <a:r>
              <a:rPr lang="fr-FR" dirty="0"/>
              <a:t> 1 – </a:t>
            </a:r>
            <a:r>
              <a:rPr lang="fr-FR" dirty="0" err="1"/>
              <a:t>Mathematical</a:t>
            </a:r>
            <a:r>
              <a:rPr lang="fr-FR" dirty="0"/>
              <a:t> </a:t>
            </a:r>
            <a:r>
              <a:rPr lang="fr-FR" dirty="0" err="1"/>
              <a:t>tools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ZoneTexte 11"/>
              <p:cNvSpPr txBox="1"/>
              <p:nvPr/>
            </p:nvSpPr>
            <p:spPr>
              <a:xfrm>
                <a:off x="397565" y="2470035"/>
                <a:ext cx="9180544" cy="404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b="1" dirty="0" smtClean="0"/>
                  <a:t>Ex : </a:t>
                </a:r>
                <a:r>
                  <a:rPr lang="fr-FR" dirty="0" err="1" smtClean="0"/>
                  <a:t>Calculate</a:t>
                </a:r>
                <a:r>
                  <a:rPr lang="fr-FR" dirty="0" smtClean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>
                            <a:latin typeface="Cambria Math" panose="02040503050406030204" pitchFamily="18" charset="0"/>
                          </a:rPr>
                          <m:t>𝛻</m:t>
                        </m:r>
                      </m:e>
                    </m:acc>
                    <m:r>
                      <a:rPr lang="fr-FR" b="0" i="1" smtClean="0">
                        <a:latin typeface="Cambria Math" panose="02040503050406030204" pitchFamily="18" charset="0"/>
                      </a:rPr>
                      <m:t>∧</m:t>
                    </m:r>
                    <m:acc>
                      <m:accPr>
                        <m:chr m:val="⃗"/>
                        <m:ctrlPr>
                          <a:rPr lang="fr-FR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i="1" dirty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lang="fr-FR" dirty="0" smtClean="0"/>
                  <a:t>  for the </a:t>
                </a:r>
                <a:r>
                  <a:rPr lang="fr-FR" dirty="0" err="1" smtClean="0"/>
                  <a:t>following</a:t>
                </a:r>
                <a:r>
                  <a:rPr lang="fr-FR" dirty="0" smtClean="0"/>
                  <a:t> </a:t>
                </a:r>
                <a:r>
                  <a:rPr lang="fr-FR" dirty="0" err="1" smtClean="0"/>
                  <a:t>vectorial</a:t>
                </a:r>
                <a:r>
                  <a:rPr lang="fr-FR" dirty="0" smtClean="0"/>
                  <a:t> </a:t>
                </a:r>
                <a:r>
                  <a:rPr lang="fr-FR" dirty="0" err="1" smtClean="0"/>
                  <a:t>fields</a:t>
                </a:r>
                <a:r>
                  <a:rPr lang="fr-FR" dirty="0"/>
                  <a:t> </a:t>
                </a:r>
                <a:r>
                  <a:rPr lang="fr-FR" dirty="0" smtClean="0"/>
                  <a:t>:</a:t>
                </a:r>
                <a:r>
                  <a:rPr lang="fr-FR" b="1" dirty="0" smtClean="0"/>
                  <a:t> </a:t>
                </a:r>
                <a:endParaRPr lang="fr-FR" b="1" dirty="0"/>
              </a:p>
            </p:txBody>
          </p:sp>
        </mc:Choice>
        <mc:Fallback xmlns="">
          <p:sp>
            <p:nvSpPr>
              <p:cNvPr id="12" name="ZoneTexte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565" y="2470035"/>
                <a:ext cx="9180544" cy="404663"/>
              </a:xfrm>
              <a:prstGeom prst="rect">
                <a:avLst/>
              </a:prstGeom>
              <a:blipFill>
                <a:blip r:embed="rId3"/>
                <a:stretch>
                  <a:fillRect l="-531" b="-2089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ZoneTexte 12"/>
              <p:cNvSpPr txBox="1"/>
              <p:nvPr/>
            </p:nvSpPr>
            <p:spPr>
              <a:xfrm>
                <a:off x="498763" y="2929621"/>
                <a:ext cx="4147127" cy="3912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𝑘𝑥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⃗"/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</m:acc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𝑘𝑦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⃗"/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3" name="ZoneTexte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763" y="2929621"/>
                <a:ext cx="4147127" cy="391261"/>
              </a:xfrm>
              <a:prstGeom prst="rect">
                <a:avLst/>
              </a:prstGeom>
              <a:blipFill>
                <a:blip r:embed="rId4"/>
                <a:stretch>
                  <a:fillRect b="-781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ZoneTexte 13"/>
              <p:cNvSpPr txBox="1"/>
              <p:nvPr/>
            </p:nvSpPr>
            <p:spPr>
              <a:xfrm>
                <a:off x="5084588" y="2929621"/>
                <a:ext cx="4147127" cy="3912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𝑘𝑦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⃗"/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</m:acc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𝑘𝑥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⃗"/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4" name="ZoneTexte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4588" y="2929621"/>
                <a:ext cx="4147127" cy="391261"/>
              </a:xfrm>
              <a:prstGeom prst="rect">
                <a:avLst/>
              </a:prstGeom>
              <a:blipFill>
                <a:blip r:embed="rId5"/>
                <a:stretch>
                  <a:fillRect b="-781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1646905" y="3306657"/>
                <a:ext cx="1204176" cy="40479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>
                              <a:latin typeface="Cambria Math" panose="02040503050406030204" pitchFamily="18" charset="0"/>
                            </a:rPr>
                            <m:t>𝛻</m:t>
                          </m:r>
                        </m:e>
                      </m:acc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∧</m:t>
                      </m:r>
                      <m:acc>
                        <m:accPr>
                          <m:chr m:val="⃗"/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fr-FR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acc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6905" y="3306657"/>
                <a:ext cx="1204176" cy="40479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6102092" y="3320882"/>
                <a:ext cx="1650260" cy="404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>
                            <a:latin typeface="Cambria Math" panose="02040503050406030204" pitchFamily="18" charset="0"/>
                          </a:rPr>
                          <m:t>𝛻</m:t>
                        </m:r>
                      </m:e>
                    </m:acc>
                    <m:r>
                      <a:rPr lang="fr-FR" b="0" i="1" smtClean="0">
                        <a:latin typeface="Cambria Math" panose="02040503050406030204" pitchFamily="18" charset="0"/>
                      </a:rPr>
                      <m:t>∧</m:t>
                    </m:r>
                    <m:acc>
                      <m:accPr>
                        <m:chr m:val="⃗"/>
                        <m:ctrlPr>
                          <a:rPr lang="fr-FR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i="1" dirty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fr-FR" b="0" i="1" dirty="0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fr-FR" b="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fr-FR" b="0" i="1" dirty="0" smtClean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⃗"/>
                        <m:ctrlPr>
                          <a:rPr lang="fr-FR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FR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dirty="0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fr-FR" b="0" i="1" dirty="0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</m:sSub>
                      </m:e>
                    </m:acc>
                    <m:r>
                      <a:rPr lang="fr-FR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dirty="0" smtClean="0"/>
                  <a:t> </a:t>
                </a:r>
                <a:endParaRPr lang="fr-FR" dirty="0"/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2092" y="3320882"/>
                <a:ext cx="1650260" cy="40466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" name="Image 19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322" y="3671509"/>
            <a:ext cx="3240000" cy="2430000"/>
          </a:xfrm>
          <a:prstGeom prst="rect">
            <a:avLst/>
          </a:prstGeom>
        </p:spPr>
      </p:pic>
      <p:pic>
        <p:nvPicPr>
          <p:cNvPr id="21" name="Image 20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8151" y="3733872"/>
            <a:ext cx="3240000" cy="24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6153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nip Diagonal Corner Rectangle 6">
            <a:extLst>
              <a:ext uri="{FF2B5EF4-FFF2-40B4-BE49-F238E27FC236}">
                <a16:creationId xmlns:a16="http://schemas.microsoft.com/office/drawing/2014/main" id="{AD2D45C7-2E37-44FD-AC77-116CD14B9ED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25" y="2"/>
            <a:ext cx="12191075" cy="6857998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002">
            <a:schemeClr val="dk2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30" name="Snip Single Corner Rectangle 17">
            <a:extLst>
              <a:ext uri="{FF2B5EF4-FFF2-40B4-BE49-F238E27FC236}">
                <a16:creationId xmlns:a16="http://schemas.microsoft.com/office/drawing/2014/main" id="{1FF88480-2CF1-4C54-8CE3-2CA9CD9FF89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1"/>
            <a:ext cx="12188825" cy="6857999"/>
          </a:xfrm>
          <a:prstGeom prst="snip1Rect">
            <a:avLst>
              <a:gd name="adj" fmla="val 5000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8AD032B-4A83-065B-9888-6166E18B2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179592"/>
            <a:ext cx="10924692" cy="1507067"/>
          </a:xfrm>
        </p:spPr>
        <p:txBody>
          <a:bodyPr>
            <a:normAutofit/>
          </a:bodyPr>
          <a:lstStyle/>
          <a:p>
            <a:r>
              <a:rPr lang="fr-FR" sz="4000" dirty="0" err="1" smtClean="0">
                <a:solidFill>
                  <a:schemeClr val="tx2"/>
                </a:solidFill>
              </a:rPr>
              <a:t>Operators</a:t>
            </a:r>
            <a:r>
              <a:rPr lang="fr-FR" sz="4000" dirty="0" smtClean="0">
                <a:solidFill>
                  <a:schemeClr val="tx2"/>
                </a:solidFill>
              </a:rPr>
              <a:t> – </a:t>
            </a:r>
            <a:r>
              <a:rPr lang="fr-FR" sz="4000" dirty="0" err="1" smtClean="0">
                <a:solidFill>
                  <a:schemeClr val="tx2"/>
                </a:solidFill>
              </a:rPr>
              <a:t>laplacian</a:t>
            </a:r>
            <a:endParaRPr lang="fr-FR" sz="4000" dirty="0">
              <a:solidFill>
                <a:schemeClr val="tx2"/>
              </a:solidFill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3B03BD6-2501-5717-B1C6-15952A328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22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06E9F4CE-BB25-6548-40D4-F586151E4E68}"/>
                  </a:ext>
                </a:extLst>
              </p:cNvPr>
              <p:cNvSpPr txBox="1"/>
              <p:nvPr/>
            </p:nvSpPr>
            <p:spPr>
              <a:xfrm>
                <a:off x="397565" y="1447086"/>
                <a:ext cx="11211339" cy="5068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fr-FR" dirty="0" smtClean="0"/>
                  <a:t> </a:t>
                </a:r>
                <a14:m>
                  <m:oMath xmlns:m="http://schemas.openxmlformats.org/officeDocument/2006/math">
                    <m:r>
                      <a:rPr lang="fr-FR" i="1">
                        <a:latin typeface="Cambria Math" panose="02040503050406030204" pitchFamily="18" charset="0"/>
                      </a:rPr>
                      <m:t>𝑑𝑖𝑣</m:t>
                    </m:r>
                    <m:d>
                      <m:dPr>
                        <m:ctrlPr>
                          <a:rPr lang="fr-FR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fr-FR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b="0" i="1" dirty="0" smtClean="0">
                                <a:latin typeface="Cambria Math" panose="02040503050406030204" pitchFamily="18" charset="0"/>
                              </a:rPr>
                              <m:t>𝑔𝑟𝑎𝑑</m:t>
                            </m:r>
                            <m:r>
                              <a:rPr lang="fr-FR" b="0" i="1" dirty="0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fr-FR" b="0" i="1" dirty="0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fr-FR" b="0" i="1" dirty="0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acc>
                      </m:e>
                    </m:d>
                    <m:r>
                      <a:rPr lang="fr-FR" i="1" dirty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fr-FR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b="0" i="0" dirty="0" smtClean="0">
                            <a:latin typeface="Cambria Math" panose="02040503050406030204" pitchFamily="18" charset="0"/>
                          </a:rPr>
                          <m:t>𝛻</m:t>
                        </m:r>
                      </m:e>
                    </m:acc>
                    <m:r>
                      <a:rPr lang="fr-FR" b="0" i="1" dirty="0" smtClean="0"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fr-FR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fr-FR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b="0" i="0" dirty="0" smtClean="0">
                                <a:latin typeface="Cambria Math" panose="02040503050406030204" pitchFamily="18" charset="0"/>
                              </a:rPr>
                              <m:t>𝛻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fr-FR" b="0" i="0" dirty="0" smtClean="0">
                            <a:latin typeface="Cambria Math" panose="02040503050406030204" pitchFamily="18" charset="0"/>
                          </a:rPr>
                          <m:t>f</m:t>
                        </m:r>
                      </m:e>
                    </m:d>
                    <m:r>
                      <a:rPr lang="fr-FR" b="0" i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fr-FR" b="0" i="0" dirty="0" smtClean="0">
                        <a:latin typeface="Cambria Math" panose="02040503050406030204" pitchFamily="18" charset="0"/>
                      </a:rPr>
                      <m:t>Δf</m:t>
                    </m:r>
                  </m:oMath>
                </a14:m>
                <a:r>
                  <a:rPr lang="fr-FR" dirty="0"/>
                  <a:t>	</a:t>
                </a:r>
                <a:r>
                  <a:rPr lang="fr-FR" dirty="0" smtClean="0"/>
                  <a:t>[</a:t>
                </a:r>
                <a:r>
                  <a:rPr lang="fr-FR" dirty="0" err="1" smtClean="0">
                    <a:solidFill>
                      <a:srgbClr val="FF0000"/>
                    </a:solidFill>
                  </a:rPr>
                  <a:t>Scalar</a:t>
                </a:r>
                <a:r>
                  <a:rPr lang="fr-FR" dirty="0" smtClean="0">
                    <a:solidFill>
                      <a:srgbClr val="0070C0"/>
                    </a:solidFill>
                  </a:rPr>
                  <a:t> </a:t>
                </a:r>
                <a:r>
                  <a:rPr lang="fr-FR" dirty="0">
                    <a:sym typeface="Wingdings" panose="05000000000000000000" pitchFamily="2" charset="2"/>
                  </a:rPr>
                  <a:t> </a:t>
                </a:r>
                <a:r>
                  <a:rPr lang="fr-FR" dirty="0" err="1" smtClean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Scalar</a:t>
                </a:r>
                <a:r>
                  <a:rPr lang="fr-FR" dirty="0" smtClean="0"/>
                  <a:t>]</a:t>
                </a:r>
                <a:endParaRPr lang="fr-FR" dirty="0"/>
              </a:p>
            </p:txBody>
          </p:sp>
        </mc:Choice>
        <mc:Fallback xmlns="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06E9F4CE-BB25-6548-40D4-F586151E4E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565" y="1447086"/>
                <a:ext cx="11211339" cy="506870"/>
              </a:xfrm>
              <a:prstGeom prst="rect">
                <a:avLst/>
              </a:prstGeom>
              <a:blipFill>
                <a:blip r:embed="rId2"/>
                <a:stretch>
                  <a:fillRect l="-326" b="-357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Espace réservé du pied de page 3">
            <a:extLst>
              <a:ext uri="{FF2B5EF4-FFF2-40B4-BE49-F238E27FC236}">
                <a16:creationId xmlns:a16="http://schemas.microsoft.com/office/drawing/2014/main" id="{DE5413C3-A740-272F-FF1E-667AE7900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4212" y="6172200"/>
            <a:ext cx="7543800" cy="365125"/>
          </a:xfrm>
        </p:spPr>
        <p:txBody>
          <a:bodyPr/>
          <a:lstStyle/>
          <a:p>
            <a:r>
              <a:rPr lang="fr-FR" dirty="0" err="1" smtClean="0"/>
              <a:t>Aerodynamics</a:t>
            </a:r>
            <a:r>
              <a:rPr lang="fr-FR" dirty="0" smtClean="0"/>
              <a:t>  </a:t>
            </a:r>
            <a:r>
              <a:rPr lang="fr-FR" dirty="0"/>
              <a:t>- </a:t>
            </a:r>
            <a:r>
              <a:rPr lang="fr-FR" dirty="0" err="1"/>
              <a:t>Chapter</a:t>
            </a:r>
            <a:r>
              <a:rPr lang="fr-FR" dirty="0"/>
              <a:t> 1 – </a:t>
            </a:r>
            <a:r>
              <a:rPr lang="fr-FR" dirty="0" err="1"/>
              <a:t>Mathematical</a:t>
            </a:r>
            <a:r>
              <a:rPr lang="fr-FR" dirty="0"/>
              <a:t> </a:t>
            </a:r>
            <a:r>
              <a:rPr lang="fr-FR" dirty="0" err="1"/>
              <a:t>tools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ZoneTexte 18">
                <a:extLst>
                  <a:ext uri="{FF2B5EF4-FFF2-40B4-BE49-F238E27FC236}">
                    <a16:creationId xmlns:a16="http://schemas.microsoft.com/office/drawing/2014/main" id="{2CF68895-4530-B5A8-27BE-8F96FA2F2CC9}"/>
                  </a:ext>
                </a:extLst>
              </p:cNvPr>
              <p:cNvSpPr txBox="1"/>
              <p:nvPr/>
            </p:nvSpPr>
            <p:spPr>
              <a:xfrm>
                <a:off x="397565" y="2169994"/>
                <a:ext cx="4010662" cy="19568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endParaRPr lang="fr-FR" b="1" dirty="0" smtClean="0">
                  <a:latin typeface="Cambria Math" panose="02040503050406030204" pitchFamily="18" charset="0"/>
                </a:endParaRPr>
              </a:p>
              <a:p>
                <a:pPr algn="ctr"/>
                <a:r>
                  <a:rPr lang="fr-FR" b="1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Cartesian</a:t>
                </a:r>
                <a:endParaRPr lang="fr-FR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endParaRPr lang="fr-FR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dirty="0">
                        <a:latin typeface="Cambria Math" panose="02040503050406030204" pitchFamily="18" charset="0"/>
                      </a:rPr>
                      <m:t>Δf</m:t>
                    </m:r>
                  </m:oMath>
                </a14:m>
                <a:r>
                  <a:rPr lang="fr-FR" b="0" dirty="0" smtClean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</m:e>
                          <m:sup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fr-FR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</m:e>
                          <m:sup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fr-FR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</m:e>
                          <m:sup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fr-FR" b="0" dirty="0" smtClean="0"/>
                  <a:t> </a:t>
                </a:r>
                <a:endParaRPr lang="fr-FR" b="0" dirty="0"/>
              </a:p>
              <a:p>
                <a:pPr algn="ctr"/>
                <a:endParaRPr lang="fr-FR" dirty="0"/>
              </a:p>
              <a:p>
                <a:pPr algn="ctr"/>
                <a:r>
                  <a:rPr lang="fr-FR" dirty="0"/>
                  <a:t>Einstein notation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𝜕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fr-FR" i="1">
                            <a:latin typeface="Cambria Math" panose="02040503050406030204" pitchFamily="18" charset="0"/>
                          </a:rPr>
                          <m:t>𝜕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endParaRPr lang="fr-FR" dirty="0"/>
              </a:p>
            </p:txBody>
          </p:sp>
        </mc:Choice>
        <mc:Fallback xmlns="">
          <p:sp>
            <p:nvSpPr>
              <p:cNvPr id="19" name="ZoneTexte 18">
                <a:extLst>
                  <a:ext uri="{FF2B5EF4-FFF2-40B4-BE49-F238E27FC236}">
                    <a16:creationId xmlns:a16="http://schemas.microsoft.com/office/drawing/2014/main" id="{2CF68895-4530-B5A8-27BE-8F96FA2F2C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565" y="2169994"/>
                <a:ext cx="4010662" cy="1956882"/>
              </a:xfrm>
              <a:prstGeom prst="rect">
                <a:avLst/>
              </a:prstGeom>
              <a:blipFill>
                <a:blip r:embed="rId3"/>
                <a:stretch>
                  <a:fillRect b="-311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ZoneTexte 19">
                <a:extLst>
                  <a:ext uri="{FF2B5EF4-FFF2-40B4-BE49-F238E27FC236}">
                    <a16:creationId xmlns:a16="http://schemas.microsoft.com/office/drawing/2014/main" id="{F0390C66-680F-18AE-90E5-8A931147F10E}"/>
                  </a:ext>
                </a:extLst>
              </p:cNvPr>
              <p:cNvSpPr txBox="1"/>
              <p:nvPr/>
            </p:nvSpPr>
            <p:spPr>
              <a:xfrm>
                <a:off x="6094412" y="2137460"/>
                <a:ext cx="4010662" cy="14791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endParaRPr lang="fr-FR" b="1" dirty="0" smtClean="0">
                  <a:latin typeface="Cambria Math" panose="02040503050406030204" pitchFamily="18" charset="0"/>
                </a:endParaRPr>
              </a:p>
              <a:p>
                <a:pPr algn="ctr"/>
                <a:r>
                  <a:rPr lang="fr-FR" b="1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Cylindrical</a:t>
                </a:r>
                <a:endParaRPr lang="fr-FR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endParaRPr lang="fr-FR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dirty="0">
                          <a:latin typeface="Cambria Math" panose="02040503050406030204" pitchFamily="18" charset="0"/>
                        </a:rPr>
                        <m:t>Δf</m:t>
                      </m:r>
                      <m:r>
                        <m:rPr>
                          <m:nor/>
                        </m:rPr>
                        <a:rPr lang="fr-FR" dirty="0"/>
                        <m:t> = </m:t>
                      </m:r>
                      <m:f>
                        <m:f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fr-FR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f>
                        <m:f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r>
                        <a:rPr lang="fr-FR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0" name="ZoneTexte 19">
                <a:extLst>
                  <a:ext uri="{FF2B5EF4-FFF2-40B4-BE49-F238E27FC236}">
                    <a16:creationId xmlns:a16="http://schemas.microsoft.com/office/drawing/2014/main" id="{F0390C66-680F-18AE-90E5-8A931147F1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4412" y="2137460"/>
                <a:ext cx="4010662" cy="14791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80157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nip Diagonal Corner Rectangle 6">
            <a:extLst>
              <a:ext uri="{FF2B5EF4-FFF2-40B4-BE49-F238E27FC236}">
                <a16:creationId xmlns:a16="http://schemas.microsoft.com/office/drawing/2014/main" id="{AD2D45C7-2E37-44FD-AC77-116CD14B9ED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25" y="2"/>
            <a:ext cx="12191075" cy="6857998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002">
            <a:schemeClr val="dk2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30" name="Snip Single Corner Rectangle 17">
            <a:extLst>
              <a:ext uri="{FF2B5EF4-FFF2-40B4-BE49-F238E27FC236}">
                <a16:creationId xmlns:a16="http://schemas.microsoft.com/office/drawing/2014/main" id="{1FF88480-2CF1-4C54-8CE3-2CA9CD9FF89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1"/>
            <a:ext cx="12188825" cy="6857999"/>
          </a:xfrm>
          <a:prstGeom prst="snip1Rect">
            <a:avLst>
              <a:gd name="adj" fmla="val 5000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8AD032B-4A83-065B-9888-6166E18B2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179592"/>
            <a:ext cx="10924692" cy="1507067"/>
          </a:xfrm>
        </p:spPr>
        <p:txBody>
          <a:bodyPr>
            <a:normAutofit/>
          </a:bodyPr>
          <a:lstStyle/>
          <a:p>
            <a:r>
              <a:rPr lang="fr-FR" sz="4000" dirty="0" err="1" smtClean="0">
                <a:solidFill>
                  <a:schemeClr val="tx2"/>
                </a:solidFill>
              </a:rPr>
              <a:t>Operators</a:t>
            </a:r>
            <a:r>
              <a:rPr lang="fr-FR" sz="4000" dirty="0" smtClean="0">
                <a:solidFill>
                  <a:schemeClr val="tx2"/>
                </a:solidFill>
              </a:rPr>
              <a:t> – </a:t>
            </a:r>
            <a:r>
              <a:rPr lang="fr-FR" sz="4000" dirty="0" err="1" smtClean="0">
                <a:solidFill>
                  <a:schemeClr val="tx2"/>
                </a:solidFill>
              </a:rPr>
              <a:t>laplacian</a:t>
            </a:r>
            <a:r>
              <a:rPr lang="fr-FR" sz="4000" dirty="0" smtClean="0">
                <a:solidFill>
                  <a:schemeClr val="tx2"/>
                </a:solidFill>
              </a:rPr>
              <a:t> for </a:t>
            </a:r>
            <a:r>
              <a:rPr lang="fr-FR" sz="4000" dirty="0" err="1" smtClean="0">
                <a:solidFill>
                  <a:schemeClr val="tx2"/>
                </a:solidFill>
              </a:rPr>
              <a:t>vectors</a:t>
            </a:r>
            <a:endParaRPr lang="fr-FR" sz="4000" dirty="0">
              <a:solidFill>
                <a:schemeClr val="tx2"/>
              </a:solidFill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3B03BD6-2501-5717-B1C6-15952A328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23</a:t>
            </a:fld>
            <a:endParaRPr lang="en-US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6E9F4CE-BB25-6548-40D4-F586151E4E68}"/>
              </a:ext>
            </a:extLst>
          </p:cNvPr>
          <p:cNvSpPr txBox="1"/>
          <p:nvPr/>
        </p:nvSpPr>
        <p:spPr>
          <a:xfrm>
            <a:off x="397565" y="1447086"/>
            <a:ext cx="112113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 smtClean="0"/>
              <a:t> It </a:t>
            </a:r>
            <a:r>
              <a:rPr lang="fr-FR" dirty="0" err="1" smtClean="0"/>
              <a:t>consists</a:t>
            </a:r>
            <a:r>
              <a:rPr lang="fr-FR" dirty="0" smtClean="0"/>
              <a:t> on </a:t>
            </a:r>
            <a:r>
              <a:rPr lang="fr-FR" dirty="0" err="1" smtClean="0"/>
              <a:t>applying</a:t>
            </a:r>
            <a:r>
              <a:rPr lang="fr-FR" dirty="0"/>
              <a:t> </a:t>
            </a:r>
            <a:r>
              <a:rPr lang="fr-FR" dirty="0" err="1" smtClean="0"/>
              <a:t>Laplacian</a:t>
            </a:r>
            <a:r>
              <a:rPr lang="fr-FR" dirty="0" smtClean="0"/>
              <a:t> for </a:t>
            </a:r>
            <a:r>
              <a:rPr lang="fr-FR" dirty="0" err="1" smtClean="0"/>
              <a:t>scalars</a:t>
            </a:r>
            <a:r>
              <a:rPr lang="fr-FR" dirty="0" smtClean="0"/>
              <a:t> for </a:t>
            </a:r>
            <a:r>
              <a:rPr lang="fr-FR" dirty="0" err="1" smtClean="0"/>
              <a:t>every</a:t>
            </a:r>
            <a:r>
              <a:rPr lang="fr-FR" dirty="0" smtClean="0"/>
              <a:t> components of the </a:t>
            </a:r>
            <a:r>
              <a:rPr lang="fr-FR" dirty="0" err="1" smtClean="0"/>
              <a:t>vectorial</a:t>
            </a:r>
            <a:r>
              <a:rPr lang="fr-FR" dirty="0" smtClean="0"/>
              <a:t> </a:t>
            </a:r>
            <a:r>
              <a:rPr lang="fr-FR" dirty="0" err="1" smtClean="0"/>
              <a:t>field</a:t>
            </a:r>
            <a:r>
              <a:rPr lang="fr-FR" dirty="0" smtClean="0"/>
              <a:t> to </a:t>
            </a:r>
            <a:r>
              <a:rPr lang="fr-FR" dirty="0" err="1" smtClean="0"/>
              <a:t>obtain</a:t>
            </a:r>
            <a:r>
              <a:rPr lang="fr-FR" dirty="0" smtClean="0"/>
              <a:t> a </a:t>
            </a:r>
            <a:r>
              <a:rPr lang="fr-FR" dirty="0" err="1" smtClean="0"/>
              <a:t>vector</a:t>
            </a:r>
            <a:r>
              <a:rPr lang="fr-FR" dirty="0" smtClean="0"/>
              <a:t>. [</a:t>
            </a:r>
            <a:r>
              <a:rPr lang="fr-FR" dirty="0" err="1" smtClean="0">
                <a:solidFill>
                  <a:srgbClr val="00B050"/>
                </a:solidFill>
              </a:rPr>
              <a:t>Vector</a:t>
            </a:r>
            <a:r>
              <a:rPr lang="fr-FR" dirty="0" smtClean="0">
                <a:solidFill>
                  <a:srgbClr val="00B050"/>
                </a:solidFill>
              </a:rPr>
              <a:t> </a:t>
            </a:r>
            <a:r>
              <a:rPr lang="fr-FR" dirty="0">
                <a:sym typeface="Wingdings" panose="05000000000000000000" pitchFamily="2" charset="2"/>
              </a:rPr>
              <a:t> </a:t>
            </a:r>
            <a:r>
              <a:rPr lang="fr-FR" dirty="0" err="1" smtClean="0">
                <a:solidFill>
                  <a:srgbClr val="00B050"/>
                </a:solidFill>
                <a:sym typeface="Wingdings" panose="05000000000000000000" pitchFamily="2" charset="2"/>
              </a:rPr>
              <a:t>Vector</a:t>
            </a:r>
            <a:r>
              <a:rPr lang="fr-FR" dirty="0"/>
              <a:t>]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fr-FR" dirty="0"/>
          </a:p>
        </p:txBody>
      </p:sp>
      <p:sp>
        <p:nvSpPr>
          <p:cNvPr id="11" name="Espace réservé du pied de page 3">
            <a:extLst>
              <a:ext uri="{FF2B5EF4-FFF2-40B4-BE49-F238E27FC236}">
                <a16:creationId xmlns:a16="http://schemas.microsoft.com/office/drawing/2014/main" id="{DE5413C3-A740-272F-FF1E-667AE7900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4212" y="6172200"/>
            <a:ext cx="7543800" cy="365125"/>
          </a:xfrm>
        </p:spPr>
        <p:txBody>
          <a:bodyPr/>
          <a:lstStyle/>
          <a:p>
            <a:r>
              <a:rPr lang="fr-FR" dirty="0" err="1" smtClean="0"/>
              <a:t>Aerodynamics</a:t>
            </a:r>
            <a:r>
              <a:rPr lang="fr-FR" dirty="0" smtClean="0"/>
              <a:t>  </a:t>
            </a:r>
            <a:r>
              <a:rPr lang="fr-FR" dirty="0"/>
              <a:t>- </a:t>
            </a:r>
            <a:r>
              <a:rPr lang="fr-FR" dirty="0" err="1"/>
              <a:t>Chapter</a:t>
            </a:r>
            <a:r>
              <a:rPr lang="fr-FR" dirty="0"/>
              <a:t> 1 – </a:t>
            </a:r>
            <a:r>
              <a:rPr lang="fr-FR" dirty="0" err="1"/>
              <a:t>Mathematical</a:t>
            </a:r>
            <a:r>
              <a:rPr lang="fr-FR" dirty="0"/>
              <a:t> </a:t>
            </a:r>
            <a:r>
              <a:rPr lang="fr-FR" dirty="0" err="1"/>
              <a:t>tools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06E9F4CE-BB25-6548-40D4-F586151E4E68}"/>
                  </a:ext>
                </a:extLst>
              </p:cNvPr>
              <p:cNvSpPr txBox="1"/>
              <p:nvPr/>
            </p:nvSpPr>
            <p:spPr>
              <a:xfrm>
                <a:off x="397565" y="2421781"/>
                <a:ext cx="11211339" cy="9840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b="0" i="0" dirty="0" smtClean="0">
                        <a:latin typeface="Cambria Math" panose="02040503050406030204" pitchFamily="18" charset="0"/>
                      </a:rPr>
                      <m:t>Δ</m:t>
                    </m:r>
                    <m:acc>
                      <m:accPr>
                        <m:chr m:val="⃗"/>
                        <m:ctrlPr>
                          <a:rPr lang="fr-FR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b="0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fr-FR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fr-FR" b="0" i="0" smtClean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sSub>
                                <m:sSub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fr-FR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sSub>
                                <m:sSub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fr-FR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sSub>
                                <m:sSub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fr-FR" dirty="0"/>
                  <a:t>	</a:t>
                </a:r>
              </a:p>
            </p:txBody>
          </p:sp>
        </mc:Choice>
        <mc:Fallback xmlns=""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06E9F4CE-BB25-6548-40D4-F586151E4E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565" y="2421781"/>
                <a:ext cx="11211339" cy="98405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86199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nip Diagonal Corner Rectangle 6">
            <a:extLst>
              <a:ext uri="{FF2B5EF4-FFF2-40B4-BE49-F238E27FC236}">
                <a16:creationId xmlns:a16="http://schemas.microsoft.com/office/drawing/2014/main" id="{AD2D45C7-2E37-44FD-AC77-116CD14B9ED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25" y="2"/>
            <a:ext cx="12191075" cy="6857998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002">
            <a:schemeClr val="dk2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30" name="Snip Single Corner Rectangle 17">
            <a:extLst>
              <a:ext uri="{FF2B5EF4-FFF2-40B4-BE49-F238E27FC236}">
                <a16:creationId xmlns:a16="http://schemas.microsoft.com/office/drawing/2014/main" id="{1FF88480-2CF1-4C54-8CE3-2CA9CD9FF89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1"/>
            <a:ext cx="12188825" cy="6857999"/>
          </a:xfrm>
          <a:prstGeom prst="snip1Rect">
            <a:avLst>
              <a:gd name="adj" fmla="val 5000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8AD032B-4A83-065B-9888-6166E18B2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179592"/>
            <a:ext cx="10924692" cy="1507067"/>
          </a:xfrm>
        </p:spPr>
        <p:txBody>
          <a:bodyPr>
            <a:normAutofit/>
          </a:bodyPr>
          <a:lstStyle/>
          <a:p>
            <a:r>
              <a:rPr lang="fr-FR" sz="4000" dirty="0" err="1" smtClean="0">
                <a:solidFill>
                  <a:schemeClr val="tx2"/>
                </a:solidFill>
              </a:rPr>
              <a:t>Operators</a:t>
            </a:r>
            <a:r>
              <a:rPr lang="fr-FR" sz="4000" dirty="0" smtClean="0">
                <a:solidFill>
                  <a:schemeClr val="tx2"/>
                </a:solidFill>
              </a:rPr>
              <a:t> – Relations</a:t>
            </a:r>
            <a:endParaRPr lang="fr-FR" sz="4000" dirty="0">
              <a:solidFill>
                <a:schemeClr val="tx2"/>
              </a:solidFill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3B03BD6-2501-5717-B1C6-15952A328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24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06E9F4CE-BB25-6548-40D4-F586151E4E68}"/>
                  </a:ext>
                </a:extLst>
              </p:cNvPr>
              <p:cNvSpPr txBox="1"/>
              <p:nvPr/>
            </p:nvSpPr>
            <p:spPr>
              <a:xfrm>
                <a:off x="294106" y="1484589"/>
                <a:ext cx="11211339" cy="16129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fr-FR" dirty="0" smtClean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𝑟𝑜𝑡</m:t>
                        </m:r>
                      </m:e>
                    </m:acc>
                    <m:d>
                      <m:dPr>
                        <m:ctrlPr>
                          <a:rPr lang="fr-FR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fr-FR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b="0" i="1" dirty="0" smtClean="0">
                                <a:latin typeface="Cambria Math" panose="02040503050406030204" pitchFamily="18" charset="0"/>
                              </a:rPr>
                              <m:t>𝑔𝑟𝑎𝑑</m:t>
                            </m:r>
                          </m:e>
                        </m:acc>
                        <m:d>
                          <m:dPr>
                            <m:ctrlPr>
                              <a:rPr lang="fr-FR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b="0" i="1" dirty="0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d>
                      </m:e>
                    </m:d>
                    <m:r>
                      <a:rPr lang="fr-FR" b="0" i="1" dirty="0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fr-FR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acc>
                  </m:oMath>
                </a14:m>
                <a:endParaRPr lang="fr-FR" dirty="0" smtClean="0"/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𝑑𝑖𝑣</m:t>
                    </m:r>
                    <m:d>
                      <m:d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𝑟𝑜𝑡</m:t>
                            </m:r>
                          </m:e>
                        </m:acc>
                        <m:d>
                          <m:d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</m:acc>
                          </m:e>
                        </m:d>
                      </m:e>
                    </m:d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b="0" i="0" smtClean="0">
                            <a:latin typeface="Cambria Math" panose="02040503050406030204" pitchFamily="18" charset="0"/>
                          </a:rPr>
                          <m:t>𝛻</m:t>
                        </m:r>
                      </m:e>
                    </m:acc>
                    <m:r>
                      <a:rPr lang="fr-FR" b="0" i="1" smtClean="0"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b="0" i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fr-FR" b="0" i="0" smtClean="0">
                            <a:latin typeface="Cambria Math" panose="02040503050406030204" pitchFamily="18" charset="0"/>
                          </a:rPr>
                          <m:t>𝛻</m:t>
                        </m:r>
                      </m:e>
                    </m:acc>
                    <m:r>
                      <a:rPr lang="fr-FR" b="0" i="1" smtClean="0">
                        <a:latin typeface="Cambria Math" panose="02040503050406030204" pitchFamily="18" charset="0"/>
                      </a:rPr>
                      <m:t>∧</m:t>
                    </m:r>
                    <m:acc>
                      <m:accPr>
                        <m:chr m:val="⃗"/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acc>
                    <m:r>
                      <a:rPr lang="fr-FR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fr-FR" b="0" dirty="0" smtClean="0"/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b="0" i="1" dirty="0" smtClean="0">
                            <a:latin typeface="Cambria Math" panose="02040503050406030204" pitchFamily="18" charset="0"/>
                          </a:rPr>
                          <m:t>𝑟𝑜𝑡</m:t>
                        </m:r>
                      </m:e>
                    </m:acc>
                    <m:d>
                      <m:d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𝑟𝑜𝑡</m:t>
                            </m:r>
                          </m:e>
                        </m:acc>
                        <m:d>
                          <m:d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</m:acc>
                          </m:e>
                        </m:d>
                      </m:e>
                    </m:d>
                    <m:r>
                      <a:rPr lang="fr-FR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>
                            <a:latin typeface="Cambria Math" panose="02040503050406030204" pitchFamily="18" charset="0"/>
                          </a:rPr>
                          <m:t>𝛻</m:t>
                        </m:r>
                      </m:e>
                    </m:acc>
                    <m:r>
                      <a:rPr lang="fr-FR" b="0" i="1" smtClean="0">
                        <a:latin typeface="Cambria Math" panose="02040503050406030204" pitchFamily="18" charset="0"/>
                      </a:rPr>
                      <m:t>∧</m:t>
                    </m:r>
                    <m:acc>
                      <m:accPr>
                        <m:chr m:val="⃗"/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fr-FR">
                            <a:latin typeface="Cambria Math" panose="02040503050406030204" pitchFamily="18" charset="0"/>
                          </a:rPr>
                          <m:t>𝛻</m:t>
                        </m:r>
                      </m:e>
                    </m:acc>
                    <m:r>
                      <a:rPr lang="fr-FR" i="1">
                        <a:latin typeface="Cambria Math" panose="02040503050406030204" pitchFamily="18" charset="0"/>
                      </a:rPr>
                      <m:t>∧</m:t>
                    </m:r>
                    <m:acc>
                      <m:accPr>
                        <m:chr m:val="⃗"/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acc>
                    <m:r>
                      <a:rPr lang="fr-FR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b="0" i="0" smtClean="0">
                            <a:latin typeface="Cambria Math" panose="02040503050406030204" pitchFamily="18" charset="0"/>
                          </a:rPr>
                          <m:t>𝛻</m:t>
                        </m:r>
                      </m:e>
                    </m:acc>
                    <m:d>
                      <m:d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b="0" i="0" smtClean="0">
                                <a:latin typeface="Cambria Math" panose="02040503050406030204" pitchFamily="18" charset="0"/>
                              </a:rPr>
                              <m:t>𝛻</m:t>
                            </m:r>
                          </m:e>
                        </m:acc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acc>
                      </m:e>
                    </m:d>
                    <m:r>
                      <a:rPr lang="fr-FR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fr-FR" b="0" i="0" smtClean="0">
                        <a:latin typeface="Cambria Math" panose="02040503050406030204" pitchFamily="18" charset="0"/>
                      </a:rPr>
                      <m:t>Δ</m:t>
                    </m:r>
                    <m:d>
                      <m:d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acc>
                      </m:e>
                    </m:d>
                  </m:oMath>
                </a14:m>
                <a:endParaRPr lang="fr-FR" dirty="0"/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endParaRPr lang="fr-FR" dirty="0"/>
              </a:p>
            </p:txBody>
          </p:sp>
        </mc:Choice>
        <mc:Fallback xmlns="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06E9F4CE-BB25-6548-40D4-F586151E4E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106" y="1484589"/>
                <a:ext cx="11211339" cy="1612942"/>
              </a:xfrm>
              <a:prstGeom prst="rect">
                <a:avLst/>
              </a:prstGeom>
              <a:blipFill>
                <a:blip r:embed="rId2"/>
                <a:stretch>
                  <a:fillRect l="-32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Espace réservé du pied de page 3">
            <a:extLst>
              <a:ext uri="{FF2B5EF4-FFF2-40B4-BE49-F238E27FC236}">
                <a16:creationId xmlns:a16="http://schemas.microsoft.com/office/drawing/2014/main" id="{DE5413C3-A740-272F-FF1E-667AE7900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4212" y="6172200"/>
            <a:ext cx="7543800" cy="365125"/>
          </a:xfrm>
        </p:spPr>
        <p:txBody>
          <a:bodyPr/>
          <a:lstStyle/>
          <a:p>
            <a:r>
              <a:rPr lang="fr-FR" dirty="0" err="1" smtClean="0"/>
              <a:t>Aerodynamics</a:t>
            </a:r>
            <a:r>
              <a:rPr lang="fr-FR" dirty="0" smtClean="0"/>
              <a:t>  </a:t>
            </a:r>
            <a:r>
              <a:rPr lang="fr-FR" dirty="0"/>
              <a:t>- </a:t>
            </a:r>
            <a:r>
              <a:rPr lang="fr-FR" dirty="0" err="1"/>
              <a:t>Chapter</a:t>
            </a:r>
            <a:r>
              <a:rPr lang="fr-FR" dirty="0"/>
              <a:t> 1 – </a:t>
            </a:r>
            <a:r>
              <a:rPr lang="fr-FR" dirty="0" err="1"/>
              <a:t>Mathematical</a:t>
            </a:r>
            <a:r>
              <a:rPr lang="fr-FR" dirty="0"/>
              <a:t> </a:t>
            </a:r>
            <a:r>
              <a:rPr lang="fr-FR" dirty="0" err="1"/>
              <a:t>tools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02715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nip Diagonal Corner Rectangle 6">
            <a:extLst>
              <a:ext uri="{FF2B5EF4-FFF2-40B4-BE49-F238E27FC236}">
                <a16:creationId xmlns:a16="http://schemas.microsoft.com/office/drawing/2014/main" id="{AD2D45C7-2E37-44FD-AC77-116CD14B9ED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25" y="2"/>
            <a:ext cx="12191075" cy="6857998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002">
            <a:schemeClr val="dk2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30" name="Snip Single Corner Rectangle 17">
            <a:extLst>
              <a:ext uri="{FF2B5EF4-FFF2-40B4-BE49-F238E27FC236}">
                <a16:creationId xmlns:a16="http://schemas.microsoft.com/office/drawing/2014/main" id="{1FF88480-2CF1-4C54-8CE3-2CA9CD9FF89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1"/>
            <a:ext cx="12188825" cy="6857999"/>
          </a:xfrm>
          <a:prstGeom prst="snip1Rect">
            <a:avLst>
              <a:gd name="adj" fmla="val 5000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8AD032B-4A83-065B-9888-6166E18B2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179592"/>
            <a:ext cx="10924692" cy="1507067"/>
          </a:xfrm>
        </p:spPr>
        <p:txBody>
          <a:bodyPr>
            <a:normAutofit/>
          </a:bodyPr>
          <a:lstStyle/>
          <a:p>
            <a:r>
              <a:rPr lang="fr-FR" sz="4000" dirty="0" err="1" smtClean="0">
                <a:solidFill>
                  <a:schemeClr val="tx2"/>
                </a:solidFill>
              </a:rPr>
              <a:t>Infinitesimal</a:t>
            </a:r>
            <a:r>
              <a:rPr lang="fr-FR" sz="4000" dirty="0" smtClean="0">
                <a:solidFill>
                  <a:schemeClr val="tx2"/>
                </a:solidFill>
              </a:rPr>
              <a:t> and </a:t>
            </a:r>
            <a:r>
              <a:rPr lang="fr-FR" sz="4000" dirty="0" err="1" smtClean="0">
                <a:solidFill>
                  <a:schemeClr val="tx2"/>
                </a:solidFill>
              </a:rPr>
              <a:t>integrals</a:t>
            </a:r>
            <a:endParaRPr lang="fr-FR" sz="4000" dirty="0">
              <a:solidFill>
                <a:schemeClr val="tx2"/>
              </a:solidFill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3B03BD6-2501-5717-B1C6-15952A328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25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06E9F4CE-BB25-6548-40D4-F586151E4E68}"/>
                  </a:ext>
                </a:extLst>
              </p:cNvPr>
              <p:cNvSpPr txBox="1"/>
              <p:nvPr/>
            </p:nvSpPr>
            <p:spPr>
              <a:xfrm>
                <a:off x="294106" y="1484589"/>
                <a:ext cx="11211339" cy="35210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fr-FR" dirty="0" smtClean="0"/>
                  <a:t>Integral in </a:t>
                </a:r>
                <a:r>
                  <a:rPr lang="fr-FR" dirty="0" err="1" smtClean="0"/>
                  <a:t>mathematics</a:t>
                </a:r>
                <a:r>
                  <a:rPr lang="fr-FR" dirty="0"/>
                  <a:t> </a:t>
                </a:r>
                <a:r>
                  <a:rPr lang="fr-FR" dirty="0" smtClean="0"/>
                  <a:t>: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fr-FR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  <m:d>
                          <m:d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  <m:d>
                          <m:d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</m:nary>
                  </m:oMath>
                </a14:m>
                <a:endParaRPr lang="fr-FR" dirty="0" smtClean="0"/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endParaRPr lang="fr-FR" dirty="0" smtClean="0"/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fr-FR" dirty="0" err="1" smtClean="0"/>
                  <a:t>Integral</a:t>
                </a:r>
                <a:r>
                  <a:rPr lang="fr-FR" dirty="0" smtClean="0"/>
                  <a:t> </a:t>
                </a:r>
                <a:r>
                  <a:rPr lang="fr-FR" dirty="0" err="1" smtClean="0"/>
                  <a:t>is</a:t>
                </a:r>
                <a:r>
                  <a:rPr lang="fr-FR" dirty="0" smtClean="0"/>
                  <a:t> </a:t>
                </a:r>
                <a:r>
                  <a:rPr lang="fr-FR" dirty="0" err="1" smtClean="0"/>
                  <a:t>linear</a:t>
                </a:r>
                <a:r>
                  <a:rPr lang="fr-FR" dirty="0" smtClean="0"/>
                  <a:t>. </a:t>
                </a:r>
                <a:r>
                  <a:rPr lang="fr-FR" dirty="0" err="1" smtClean="0"/>
                  <a:t>Quantities</a:t>
                </a:r>
                <a:r>
                  <a:rPr lang="fr-FR" dirty="0" smtClean="0"/>
                  <a:t> </a:t>
                </a:r>
                <a:r>
                  <a:rPr lang="fr-FR" dirty="0" err="1" smtClean="0"/>
                  <a:t>which</a:t>
                </a:r>
                <a:r>
                  <a:rPr lang="fr-FR" dirty="0" smtClean="0"/>
                  <a:t> </a:t>
                </a:r>
                <a:r>
                  <a:rPr lang="fr-FR" dirty="0" err="1" smtClean="0"/>
                  <a:t>does</a:t>
                </a:r>
                <a:r>
                  <a:rPr lang="fr-FR" dirty="0" smtClean="0"/>
                  <a:t> not </a:t>
                </a:r>
                <a:r>
                  <a:rPr lang="fr-FR" dirty="0" err="1" smtClean="0"/>
                  <a:t>depend</a:t>
                </a:r>
                <a:r>
                  <a:rPr lang="fr-FR" dirty="0" smtClean="0"/>
                  <a:t> on the variable </a:t>
                </a:r>
                <a:r>
                  <a:rPr lang="fr-FR" dirty="0" err="1" smtClean="0"/>
                  <a:t>can</a:t>
                </a:r>
                <a:r>
                  <a:rPr lang="fr-FR" dirty="0" smtClean="0"/>
                  <a:t> go « out » of the </a:t>
                </a:r>
                <a:r>
                  <a:rPr lang="fr-FR" dirty="0" err="1" smtClean="0"/>
                  <a:t>integral</a:t>
                </a:r>
                <a:r>
                  <a:rPr lang="fr-FR" dirty="0" smtClean="0"/>
                  <a:t>.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endParaRPr lang="fr-FR" dirty="0"/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fr-FR" dirty="0" err="1" smtClean="0"/>
                  <a:t>Some</a:t>
                </a:r>
                <a:r>
                  <a:rPr lang="fr-FR" dirty="0" smtClean="0"/>
                  <a:t> </a:t>
                </a:r>
                <a:r>
                  <a:rPr lang="fr-FR" dirty="0" err="1" smtClean="0"/>
                  <a:t>technics</a:t>
                </a:r>
                <a:r>
                  <a:rPr lang="fr-FR" dirty="0" smtClean="0"/>
                  <a:t> of </a:t>
                </a:r>
                <a:r>
                  <a:rPr lang="fr-FR" dirty="0" err="1" smtClean="0"/>
                  <a:t>resolution</a:t>
                </a:r>
                <a:r>
                  <a:rPr lang="fr-FR" dirty="0" smtClean="0"/>
                  <a:t> </a:t>
                </a:r>
                <a:r>
                  <a:rPr lang="fr-FR" dirty="0" err="1" smtClean="0"/>
                  <a:t>exist</a:t>
                </a:r>
                <a:r>
                  <a:rPr lang="fr-FR" dirty="0" smtClean="0"/>
                  <a:t> : </a:t>
                </a:r>
                <a:r>
                  <a:rPr lang="fr-FR" dirty="0" err="1" smtClean="0"/>
                  <a:t>Integrals</a:t>
                </a:r>
                <a:r>
                  <a:rPr lang="fr-FR" dirty="0" smtClean="0"/>
                  <a:t> by parts, modification of variables.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endParaRPr lang="fr-FR" dirty="0"/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fr-FR" dirty="0" err="1" smtClean="0"/>
                  <a:t>With</a:t>
                </a:r>
                <a:r>
                  <a:rPr lang="fr-FR" dirty="0" smtClean="0"/>
                  <a:t> </a:t>
                </a:r>
                <a:r>
                  <a:rPr lang="fr-FR" dirty="0" err="1" smtClean="0"/>
                  <a:t>several</a:t>
                </a:r>
                <a:r>
                  <a:rPr lang="fr-FR" dirty="0" smtClean="0"/>
                  <a:t> variables, </a:t>
                </a:r>
                <a:r>
                  <a:rPr lang="fr-FR" dirty="0" err="1" smtClean="0"/>
                  <a:t>beware</a:t>
                </a:r>
                <a:r>
                  <a:rPr lang="fr-FR" dirty="0" smtClean="0"/>
                  <a:t> ! </a:t>
                </a:r>
                <a:r>
                  <a:rPr lang="fr-FR" dirty="0" err="1" smtClean="0"/>
                  <a:t>Boundaries</a:t>
                </a:r>
                <a:r>
                  <a:rPr lang="fr-FR" dirty="0" smtClean="0"/>
                  <a:t> </a:t>
                </a:r>
                <a:r>
                  <a:rPr lang="fr-FR" dirty="0" err="1" smtClean="0"/>
                  <a:t>can</a:t>
                </a:r>
                <a:r>
                  <a:rPr lang="fr-FR" dirty="0" smtClean="0"/>
                  <a:t> </a:t>
                </a:r>
                <a:r>
                  <a:rPr lang="fr-FR" dirty="0" err="1" smtClean="0"/>
                  <a:t>depends</a:t>
                </a:r>
                <a:r>
                  <a:rPr lang="fr-FR" dirty="0" smtClean="0"/>
                  <a:t> on the variables.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endParaRPr lang="fr-FR" dirty="0"/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endParaRPr lang="fr-FR" dirty="0" smtClean="0"/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fr-FR" b="1" dirty="0" smtClean="0"/>
                  <a:t>Ex : 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endParaRPr lang="fr-FR" dirty="0"/>
              </a:p>
            </p:txBody>
          </p:sp>
        </mc:Choice>
        <mc:Fallback xmlns="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06E9F4CE-BB25-6548-40D4-F586151E4E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106" y="1484589"/>
                <a:ext cx="11211339" cy="3521029"/>
              </a:xfrm>
              <a:prstGeom prst="rect">
                <a:avLst/>
              </a:prstGeom>
              <a:blipFill>
                <a:blip r:embed="rId2"/>
                <a:stretch>
                  <a:fillRect l="-326" t="-1386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Espace réservé du pied de page 3">
            <a:extLst>
              <a:ext uri="{FF2B5EF4-FFF2-40B4-BE49-F238E27FC236}">
                <a16:creationId xmlns:a16="http://schemas.microsoft.com/office/drawing/2014/main" id="{DE5413C3-A740-272F-FF1E-667AE7900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4212" y="6172200"/>
            <a:ext cx="7543800" cy="365125"/>
          </a:xfrm>
        </p:spPr>
        <p:txBody>
          <a:bodyPr/>
          <a:lstStyle/>
          <a:p>
            <a:r>
              <a:rPr lang="fr-FR" dirty="0" err="1" smtClean="0"/>
              <a:t>Aerodynamics</a:t>
            </a:r>
            <a:r>
              <a:rPr lang="fr-FR" dirty="0" smtClean="0"/>
              <a:t>  </a:t>
            </a:r>
            <a:r>
              <a:rPr lang="fr-FR" dirty="0"/>
              <a:t>- </a:t>
            </a:r>
            <a:r>
              <a:rPr lang="fr-FR" dirty="0" err="1"/>
              <a:t>Chapter</a:t>
            </a:r>
            <a:r>
              <a:rPr lang="fr-FR" dirty="0"/>
              <a:t> 1 – </a:t>
            </a:r>
            <a:r>
              <a:rPr lang="fr-FR" dirty="0" err="1"/>
              <a:t>Mathematical</a:t>
            </a:r>
            <a:r>
              <a:rPr lang="fr-FR" dirty="0"/>
              <a:t> </a:t>
            </a:r>
            <a:r>
              <a:rPr lang="fr-FR" dirty="0" err="1"/>
              <a:t>tools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ZoneTexte 2"/>
              <p:cNvSpPr txBox="1"/>
              <p:nvPr/>
            </p:nvSpPr>
            <p:spPr>
              <a:xfrm>
                <a:off x="424873" y="4692073"/>
                <a:ext cx="1533236" cy="7190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fr-F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  <m:e>
                          <m:sSup>
                            <m:sSup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3" name="ZoneTexte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873" y="4692073"/>
                <a:ext cx="1533236" cy="7190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ZoneTexte 8"/>
              <p:cNvSpPr txBox="1"/>
              <p:nvPr/>
            </p:nvSpPr>
            <p:spPr>
              <a:xfrm>
                <a:off x="1864820" y="4644075"/>
                <a:ext cx="3353725" cy="8137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2</m:t>
                      </m:r>
                      <m:sSubSup>
                        <m:sSubSup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bSup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125−0</m:t>
                          </m:r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250</m:t>
                          </m:r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9" name="ZoneTexte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4820" y="4644075"/>
                <a:ext cx="3353725" cy="81374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62098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nip Diagonal Corner Rectangle 6">
            <a:extLst>
              <a:ext uri="{FF2B5EF4-FFF2-40B4-BE49-F238E27FC236}">
                <a16:creationId xmlns:a16="http://schemas.microsoft.com/office/drawing/2014/main" id="{AD2D45C7-2E37-44FD-AC77-116CD14B9ED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25" y="2"/>
            <a:ext cx="12191075" cy="6857998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002">
            <a:schemeClr val="dk2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30" name="Snip Single Corner Rectangle 17">
            <a:extLst>
              <a:ext uri="{FF2B5EF4-FFF2-40B4-BE49-F238E27FC236}">
                <a16:creationId xmlns:a16="http://schemas.microsoft.com/office/drawing/2014/main" id="{1FF88480-2CF1-4C54-8CE3-2CA9CD9FF89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1"/>
            <a:ext cx="12188825" cy="6857999"/>
          </a:xfrm>
          <a:prstGeom prst="snip1Rect">
            <a:avLst>
              <a:gd name="adj" fmla="val 5000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8AD032B-4A83-065B-9888-6166E18B2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179592"/>
            <a:ext cx="10924692" cy="1507067"/>
          </a:xfrm>
        </p:spPr>
        <p:txBody>
          <a:bodyPr>
            <a:normAutofit/>
          </a:bodyPr>
          <a:lstStyle/>
          <a:p>
            <a:r>
              <a:rPr lang="fr-FR" sz="4000" dirty="0" err="1" smtClean="0">
                <a:solidFill>
                  <a:schemeClr val="tx2"/>
                </a:solidFill>
              </a:rPr>
              <a:t>Infinitesimal</a:t>
            </a:r>
            <a:r>
              <a:rPr lang="fr-FR" sz="4000" dirty="0" smtClean="0">
                <a:solidFill>
                  <a:schemeClr val="tx2"/>
                </a:solidFill>
              </a:rPr>
              <a:t> and </a:t>
            </a:r>
            <a:r>
              <a:rPr lang="fr-FR" sz="4000" dirty="0" err="1" smtClean="0">
                <a:solidFill>
                  <a:schemeClr val="tx2"/>
                </a:solidFill>
              </a:rPr>
              <a:t>integrals</a:t>
            </a:r>
            <a:endParaRPr lang="fr-FR" sz="4000" dirty="0">
              <a:solidFill>
                <a:schemeClr val="tx2"/>
              </a:solidFill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3B03BD6-2501-5717-B1C6-15952A328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26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06E9F4CE-BB25-6548-40D4-F586151E4E68}"/>
                  </a:ext>
                </a:extLst>
              </p:cNvPr>
              <p:cNvSpPr txBox="1"/>
              <p:nvPr/>
            </p:nvSpPr>
            <p:spPr>
              <a:xfrm>
                <a:off x="294106" y="1484589"/>
                <a:ext cx="11211339" cy="8054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fr-FR" dirty="0" smtClean="0"/>
                  <a:t>Modification of variables :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fr-FR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  <m:d>
                              <m:d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  <m:f>
                          <m:f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𝑑𝑢</m:t>
                            </m:r>
                          </m:num>
                          <m:den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𝑑𝑥</m:t>
                            </m:r>
                          </m:den>
                        </m:f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= </m:t>
                        </m:r>
                        <m:nary>
                          <m:nary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b>
                          <m:sup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</m:d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𝑑𝑢</m:t>
                            </m:r>
                          </m:e>
                        </m:nary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nary>
                  </m:oMath>
                </a14:m>
                <a:endParaRPr lang="fr-FR" dirty="0" smtClean="0"/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endParaRPr lang="fr-FR" dirty="0" smtClean="0"/>
              </a:p>
            </p:txBody>
          </p:sp>
        </mc:Choice>
        <mc:Fallback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06E9F4CE-BB25-6548-40D4-F586151E4E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106" y="1484589"/>
                <a:ext cx="11211339" cy="805477"/>
              </a:xfrm>
              <a:prstGeom prst="rect">
                <a:avLst/>
              </a:prstGeom>
              <a:blipFill>
                <a:blip r:embed="rId2"/>
                <a:stretch>
                  <a:fillRect l="-326" t="-59848" b="-5833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Espace réservé du pied de page 3">
            <a:extLst>
              <a:ext uri="{FF2B5EF4-FFF2-40B4-BE49-F238E27FC236}">
                <a16:creationId xmlns:a16="http://schemas.microsoft.com/office/drawing/2014/main" id="{DE5413C3-A740-272F-FF1E-667AE7900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4212" y="6172200"/>
            <a:ext cx="7543800" cy="365125"/>
          </a:xfrm>
        </p:spPr>
        <p:txBody>
          <a:bodyPr/>
          <a:lstStyle/>
          <a:p>
            <a:r>
              <a:rPr lang="fr-FR" dirty="0" err="1" smtClean="0"/>
              <a:t>Aerodynamics</a:t>
            </a:r>
            <a:r>
              <a:rPr lang="fr-FR" dirty="0" smtClean="0"/>
              <a:t>  </a:t>
            </a:r>
            <a:r>
              <a:rPr lang="fr-FR" dirty="0"/>
              <a:t>- </a:t>
            </a:r>
            <a:r>
              <a:rPr lang="fr-FR" dirty="0" err="1"/>
              <a:t>Chapter</a:t>
            </a:r>
            <a:r>
              <a:rPr lang="fr-FR" dirty="0"/>
              <a:t> 1 – </a:t>
            </a:r>
            <a:r>
              <a:rPr lang="fr-FR" dirty="0" err="1"/>
              <a:t>Mathematical</a:t>
            </a:r>
            <a:r>
              <a:rPr lang="fr-FR" dirty="0"/>
              <a:t> </a:t>
            </a:r>
            <a:r>
              <a:rPr lang="fr-FR" dirty="0" err="1"/>
              <a:t>tools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35289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nip Diagonal Corner Rectangle 6">
            <a:extLst>
              <a:ext uri="{FF2B5EF4-FFF2-40B4-BE49-F238E27FC236}">
                <a16:creationId xmlns:a16="http://schemas.microsoft.com/office/drawing/2014/main" id="{AD2D45C7-2E37-44FD-AC77-116CD14B9ED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25" y="2"/>
            <a:ext cx="12191075" cy="6857998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002">
            <a:schemeClr val="dk2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30" name="Snip Single Corner Rectangle 17">
            <a:extLst>
              <a:ext uri="{FF2B5EF4-FFF2-40B4-BE49-F238E27FC236}">
                <a16:creationId xmlns:a16="http://schemas.microsoft.com/office/drawing/2014/main" id="{1FF88480-2CF1-4C54-8CE3-2CA9CD9FF89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1"/>
            <a:ext cx="12188825" cy="6857999"/>
          </a:xfrm>
          <a:prstGeom prst="snip1Rect">
            <a:avLst>
              <a:gd name="adj" fmla="val 5000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8AD032B-4A83-065B-9888-6166E18B2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179592"/>
            <a:ext cx="10924692" cy="1507067"/>
          </a:xfrm>
        </p:spPr>
        <p:txBody>
          <a:bodyPr>
            <a:normAutofit/>
          </a:bodyPr>
          <a:lstStyle/>
          <a:p>
            <a:r>
              <a:rPr lang="fr-FR" sz="4000" dirty="0" err="1" smtClean="0">
                <a:solidFill>
                  <a:schemeClr val="tx2"/>
                </a:solidFill>
              </a:rPr>
              <a:t>Infinitesimal</a:t>
            </a:r>
            <a:r>
              <a:rPr lang="fr-FR" sz="4000" dirty="0" smtClean="0">
                <a:solidFill>
                  <a:schemeClr val="tx2"/>
                </a:solidFill>
              </a:rPr>
              <a:t> and </a:t>
            </a:r>
            <a:r>
              <a:rPr lang="fr-FR" sz="4000" dirty="0" err="1" smtClean="0">
                <a:solidFill>
                  <a:schemeClr val="tx2"/>
                </a:solidFill>
              </a:rPr>
              <a:t>integrals</a:t>
            </a:r>
            <a:endParaRPr lang="fr-FR" sz="4000" dirty="0">
              <a:solidFill>
                <a:schemeClr val="tx2"/>
              </a:solidFill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3B03BD6-2501-5717-B1C6-15952A328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27</a:t>
            </a:fld>
            <a:endParaRPr lang="en-US"/>
          </a:p>
        </p:txBody>
      </p:sp>
      <p:sp>
        <p:nvSpPr>
          <p:cNvPr id="11" name="Espace réservé du pied de page 3">
            <a:extLst>
              <a:ext uri="{FF2B5EF4-FFF2-40B4-BE49-F238E27FC236}">
                <a16:creationId xmlns:a16="http://schemas.microsoft.com/office/drawing/2014/main" id="{DE5413C3-A740-272F-FF1E-667AE7900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4212" y="6172200"/>
            <a:ext cx="7543800" cy="365125"/>
          </a:xfrm>
        </p:spPr>
        <p:txBody>
          <a:bodyPr/>
          <a:lstStyle/>
          <a:p>
            <a:r>
              <a:rPr lang="fr-FR" dirty="0" err="1" smtClean="0"/>
              <a:t>Aerodynamics</a:t>
            </a:r>
            <a:r>
              <a:rPr lang="fr-FR" dirty="0" smtClean="0"/>
              <a:t>  </a:t>
            </a:r>
            <a:r>
              <a:rPr lang="fr-FR" dirty="0"/>
              <a:t>- </a:t>
            </a:r>
            <a:r>
              <a:rPr lang="fr-FR" dirty="0" err="1"/>
              <a:t>Chapter</a:t>
            </a:r>
            <a:r>
              <a:rPr lang="fr-FR" dirty="0"/>
              <a:t> 1 – </a:t>
            </a:r>
            <a:r>
              <a:rPr lang="fr-FR" dirty="0" err="1"/>
              <a:t>Mathematical</a:t>
            </a:r>
            <a:r>
              <a:rPr lang="fr-FR" dirty="0"/>
              <a:t> </a:t>
            </a:r>
            <a:r>
              <a:rPr lang="fr-FR" dirty="0" err="1"/>
              <a:t>tools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84212" y="1866249"/>
            <a:ext cx="10150763" cy="520832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ZoneTexte 12"/>
              <p:cNvSpPr txBox="1"/>
              <p:nvPr/>
            </p:nvSpPr>
            <p:spPr>
              <a:xfrm>
                <a:off x="3987583" y="2569034"/>
                <a:ext cx="6003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𝑑𝑥</m:t>
                      </m:r>
                    </m:oMath>
                  </m:oMathPara>
                </a14:m>
                <a:endParaRPr lang="fr-FR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ZoneTexte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7583" y="2569034"/>
                <a:ext cx="600364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/>
          <p:cNvSpPr/>
          <p:nvPr/>
        </p:nvSpPr>
        <p:spPr>
          <a:xfrm>
            <a:off x="4119418" y="1866249"/>
            <a:ext cx="336694" cy="52083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6" name="Connecteur droit avec flèche 15"/>
          <p:cNvCxnSpPr/>
          <p:nvPr/>
        </p:nvCxnSpPr>
        <p:spPr>
          <a:xfrm>
            <a:off x="4119418" y="2567709"/>
            <a:ext cx="336694" cy="0"/>
          </a:xfrm>
          <a:prstGeom prst="straightConnector1">
            <a:avLst/>
          </a:prstGeom>
          <a:ln>
            <a:solidFill>
              <a:srgbClr val="FF0000">
                <a:alpha val="60000"/>
              </a:srgb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avec flèche 7"/>
          <p:cNvCxnSpPr/>
          <p:nvPr/>
        </p:nvCxnSpPr>
        <p:spPr>
          <a:xfrm>
            <a:off x="452582" y="2126665"/>
            <a:ext cx="10880436" cy="0"/>
          </a:xfrm>
          <a:prstGeom prst="straightConnector1">
            <a:avLst/>
          </a:prstGeom>
          <a:ln w="76200">
            <a:solidFill>
              <a:schemeClr val="tx1">
                <a:alpha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ZoneTexte 18"/>
              <p:cNvSpPr txBox="1"/>
              <p:nvPr/>
            </p:nvSpPr>
            <p:spPr>
              <a:xfrm>
                <a:off x="11109780" y="1725067"/>
                <a:ext cx="6003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9" name="ZoneTexte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09780" y="1725067"/>
                <a:ext cx="60036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Connecteur droit avec flèche 17"/>
          <p:cNvCxnSpPr/>
          <p:nvPr/>
        </p:nvCxnSpPr>
        <p:spPr>
          <a:xfrm>
            <a:off x="684212" y="1686659"/>
            <a:ext cx="10150763" cy="0"/>
          </a:xfrm>
          <a:prstGeom prst="straightConnector1">
            <a:avLst/>
          </a:prstGeom>
          <a:ln>
            <a:solidFill>
              <a:srgbClr val="0070C0">
                <a:alpha val="60000"/>
              </a:srgb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ZoneTexte 22"/>
              <p:cNvSpPr txBox="1"/>
              <p:nvPr/>
            </p:nvSpPr>
            <p:spPr>
              <a:xfrm>
                <a:off x="5159229" y="1301194"/>
                <a:ext cx="60036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fr-FR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3" name="ZoneTexte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9229" y="1301194"/>
                <a:ext cx="60036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ZoneTexte 20"/>
              <p:cNvSpPr txBox="1"/>
              <p:nvPr/>
            </p:nvSpPr>
            <p:spPr>
              <a:xfrm>
                <a:off x="563418" y="3297382"/>
                <a:ext cx="10271557" cy="22299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fr-FR" dirty="0" smtClean="0">
                    <a:solidFill>
                      <a:srgbClr val="FF0000"/>
                    </a:solidFill>
                  </a:rPr>
                  <a:t>The </a:t>
                </a:r>
                <a:r>
                  <a:rPr lang="fr-FR" dirty="0" err="1" smtClean="0">
                    <a:solidFill>
                      <a:srgbClr val="FF0000"/>
                    </a:solidFill>
                  </a:rPr>
                  <a:t>red</a:t>
                </a:r>
                <a:r>
                  <a:rPr lang="fr-FR" dirty="0" smtClean="0">
                    <a:solidFill>
                      <a:srgbClr val="FF0000"/>
                    </a:solidFill>
                  </a:rPr>
                  <a:t> </a:t>
                </a:r>
                <a:r>
                  <a:rPr lang="fr-FR" dirty="0" err="1" smtClean="0">
                    <a:solidFill>
                      <a:srgbClr val="FF0000"/>
                    </a:solidFill>
                  </a:rPr>
                  <a:t>element</a:t>
                </a:r>
                <a:r>
                  <a:rPr lang="fr-FR" dirty="0" smtClean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fr-FR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𝑑𝑥</m:t>
                    </m:r>
                  </m:oMath>
                </a14:m>
                <a:r>
                  <a:rPr lang="fr-FR" dirty="0" smtClean="0"/>
                  <a:t> </a:t>
                </a:r>
                <a:r>
                  <a:rPr lang="fr-FR" dirty="0" err="1" smtClean="0"/>
                  <a:t>is</a:t>
                </a:r>
                <a:r>
                  <a:rPr lang="fr-FR" dirty="0" smtClean="0"/>
                  <a:t> </a:t>
                </a:r>
                <a:r>
                  <a:rPr lang="fr-FR" dirty="0" err="1" smtClean="0"/>
                  <a:t>small</a:t>
                </a:r>
                <a:r>
                  <a:rPr lang="fr-FR" dirty="0" smtClean="0"/>
                  <a:t> </a:t>
                </a:r>
                <a:r>
                  <a:rPr lang="fr-FR" dirty="0" err="1" smtClean="0"/>
                  <a:t>enough</a:t>
                </a:r>
                <a:r>
                  <a:rPr lang="fr-FR" dirty="0" smtClean="0"/>
                  <a:t> to </a:t>
                </a:r>
                <a:r>
                  <a:rPr lang="fr-FR" dirty="0" err="1" smtClean="0"/>
                  <a:t>be</a:t>
                </a:r>
                <a:r>
                  <a:rPr lang="fr-FR" dirty="0" smtClean="0"/>
                  <a:t> </a:t>
                </a:r>
                <a:r>
                  <a:rPr lang="fr-FR" dirty="0" err="1" smtClean="0"/>
                  <a:t>punctual</a:t>
                </a:r>
                <a:r>
                  <a:rPr lang="fr-FR" dirty="0" smtClean="0"/>
                  <a:t> </a:t>
                </a:r>
                <a:r>
                  <a:rPr lang="fr-FR" dirty="0" err="1" smtClean="0"/>
                  <a:t>so</a:t>
                </a:r>
                <a:r>
                  <a:rPr lang="fr-FR" dirty="0" smtClean="0"/>
                  <a:t> </a:t>
                </a:r>
                <a:r>
                  <a:rPr lang="fr-FR" dirty="0" err="1" smtClean="0"/>
                  <a:t>that</a:t>
                </a:r>
                <a:r>
                  <a:rPr lang="fr-FR" dirty="0"/>
                  <a:t> </a:t>
                </a:r>
                <a:r>
                  <a:rPr lang="fr-FR" dirty="0" err="1" smtClean="0"/>
                  <a:t>everything</a:t>
                </a:r>
                <a:r>
                  <a:rPr lang="fr-FR" dirty="0" smtClean="0"/>
                  <a:t> </a:t>
                </a:r>
                <a:r>
                  <a:rPr lang="fr-FR" dirty="0" err="1" smtClean="0"/>
                  <a:t>is</a:t>
                </a:r>
                <a:r>
                  <a:rPr lang="fr-FR" dirty="0" smtClean="0"/>
                  <a:t> constant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d>
                      <m:d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fr-FR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fr-FR" b="0" dirty="0" smtClean="0"/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fr-FR" dirty="0" smtClean="0"/>
                  <a:t>But </a:t>
                </a:r>
                <a:r>
                  <a:rPr lang="fr-FR" dirty="0" err="1" smtClean="0"/>
                  <a:t>tall</a:t>
                </a:r>
                <a:r>
                  <a:rPr lang="fr-FR" dirty="0" smtClean="0"/>
                  <a:t> </a:t>
                </a:r>
                <a:r>
                  <a:rPr lang="fr-FR" dirty="0" err="1" smtClean="0"/>
                  <a:t>enough</a:t>
                </a:r>
                <a:r>
                  <a:rPr lang="fr-FR" dirty="0" smtClean="0"/>
                  <a:t> to not </a:t>
                </a:r>
                <a:r>
                  <a:rPr lang="fr-FR" dirty="0" err="1" smtClean="0"/>
                  <a:t>be</a:t>
                </a:r>
                <a:r>
                  <a:rPr lang="fr-FR" dirty="0" smtClean="0"/>
                  <a:t> </a:t>
                </a:r>
                <a:r>
                  <a:rPr lang="fr-FR" dirty="0" err="1" smtClean="0"/>
                  <a:t>zero</a:t>
                </a:r>
                <a:r>
                  <a:rPr lang="fr-FR" dirty="0" smtClean="0"/>
                  <a:t>.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fr-FR" dirty="0" err="1" smtClean="0"/>
                  <a:t>Linked</a:t>
                </a:r>
                <a:r>
                  <a:rPr lang="fr-FR" dirty="0" smtClean="0"/>
                  <a:t> to the notion of </a:t>
                </a:r>
                <a:r>
                  <a:rPr lang="fr-FR" dirty="0" err="1" smtClean="0"/>
                  <a:t>limit</a:t>
                </a:r>
                <a:r>
                  <a:rPr lang="fr-FR" dirty="0" smtClean="0"/>
                  <a:t>.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endParaRPr lang="fr-FR" dirty="0"/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fr-FR" dirty="0" smtClean="0"/>
                  <a:t>The </a:t>
                </a:r>
                <a:r>
                  <a:rPr lang="fr-FR" dirty="0" err="1" smtClean="0"/>
                  <a:t>integral</a:t>
                </a:r>
                <a:r>
                  <a:rPr lang="fr-FR" dirty="0" smtClean="0"/>
                  <a:t> </a:t>
                </a:r>
                <a:r>
                  <a:rPr lang="fr-FR" dirty="0" err="1" smtClean="0"/>
                  <a:t>permits</a:t>
                </a:r>
                <a:r>
                  <a:rPr lang="fr-FR" dirty="0" smtClean="0"/>
                  <a:t> to go </a:t>
                </a:r>
                <a:r>
                  <a:rPr lang="fr-FR" dirty="0" err="1" smtClean="0"/>
                  <a:t>from</a:t>
                </a:r>
                <a:r>
                  <a:rPr lang="fr-FR" dirty="0" smtClean="0"/>
                  <a:t> local to global. </a:t>
                </a:r>
                <a:endParaRPr lang="fr-FR" dirty="0"/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nary>
                      <m:nary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fr-F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p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nary>
                  </m:oMath>
                </a14:m>
                <a:endParaRPr lang="fr-FR" dirty="0" smtClean="0"/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fr-FR" dirty="0" smtClean="0"/>
                  <a:t>For a </a:t>
                </a:r>
                <a:r>
                  <a:rPr lang="fr-FR" dirty="0" err="1" smtClean="0"/>
                  <a:t>quantity</a:t>
                </a:r>
                <a:r>
                  <a:rPr lang="fr-FR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fr-FR" b="0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b="0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acc>
                      </m:e>
                      <m:sub>
                        <m:r>
                          <a:rPr lang="fr-FR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𝑔𝑙𝑜𝑏𝑎𝑙</m:t>
                        </m:r>
                      </m:sub>
                    </m:sSub>
                    <m:r>
                      <a:rPr lang="fr-FR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fr-FR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fr-FR" i="1">
                            <a:latin typeface="Cambria Math" panose="02040503050406030204" pitchFamily="18" charset="0"/>
                          </a:rPr>
                          <m:t>𝐿</m:t>
                        </m:r>
                      </m:sup>
                      <m:e>
                        <m:acc>
                          <m:accPr>
                            <m:chr m:val="⃗"/>
                            <m:ctrlPr>
                              <a:rPr lang="fr-FR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acc>
                        <m:d>
                          <m:dPr>
                            <m:ctrlPr>
                              <a:rPr lang="fr-FR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fr-FR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endParaRPr lang="fr-FR" dirty="0"/>
              </a:p>
            </p:txBody>
          </p:sp>
        </mc:Choice>
        <mc:Fallback xmlns="">
          <p:sp>
            <p:nvSpPr>
              <p:cNvPr id="21" name="ZoneTexte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418" y="3297382"/>
                <a:ext cx="10271557" cy="2229969"/>
              </a:xfrm>
              <a:prstGeom prst="rect">
                <a:avLst/>
              </a:prstGeom>
              <a:blipFill>
                <a:blip r:embed="rId5"/>
                <a:stretch>
                  <a:fillRect l="-1187" t="-1639" b="-3497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ZoneTexte 24"/>
              <p:cNvSpPr txBox="1"/>
              <p:nvPr/>
            </p:nvSpPr>
            <p:spPr>
              <a:xfrm>
                <a:off x="3843615" y="1784806"/>
                <a:ext cx="88452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fr-F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ZoneTexte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3615" y="1784806"/>
                <a:ext cx="884526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ZoneTexte 25"/>
              <p:cNvSpPr txBox="1"/>
              <p:nvPr/>
            </p:nvSpPr>
            <p:spPr>
              <a:xfrm>
                <a:off x="4441753" y="1789964"/>
                <a:ext cx="88452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fr-F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F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𝑑𝑥</m:t>
                      </m:r>
                    </m:oMath>
                  </m:oMathPara>
                </a14:m>
                <a:endParaRPr lang="fr-F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ZoneTexte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1753" y="1789964"/>
                <a:ext cx="884526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31206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nip Diagonal Corner Rectangle 6">
            <a:extLst>
              <a:ext uri="{FF2B5EF4-FFF2-40B4-BE49-F238E27FC236}">
                <a16:creationId xmlns:a16="http://schemas.microsoft.com/office/drawing/2014/main" id="{AD2D45C7-2E37-44FD-AC77-116CD14B9ED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25" y="2"/>
            <a:ext cx="12191075" cy="6857998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002">
            <a:schemeClr val="dk2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30" name="Snip Single Corner Rectangle 17">
            <a:extLst>
              <a:ext uri="{FF2B5EF4-FFF2-40B4-BE49-F238E27FC236}">
                <a16:creationId xmlns:a16="http://schemas.microsoft.com/office/drawing/2014/main" id="{1FF88480-2CF1-4C54-8CE3-2CA9CD9FF89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1"/>
            <a:ext cx="12188825" cy="6857999"/>
          </a:xfrm>
          <a:prstGeom prst="snip1Rect">
            <a:avLst>
              <a:gd name="adj" fmla="val 5000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8AD032B-4A83-065B-9888-6166E18B2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179592"/>
            <a:ext cx="10924692" cy="1507067"/>
          </a:xfrm>
        </p:spPr>
        <p:txBody>
          <a:bodyPr>
            <a:normAutofit/>
          </a:bodyPr>
          <a:lstStyle/>
          <a:p>
            <a:r>
              <a:rPr lang="fr-FR" sz="4000" dirty="0" err="1" smtClean="0">
                <a:solidFill>
                  <a:schemeClr val="tx2"/>
                </a:solidFill>
              </a:rPr>
              <a:t>Infinitesimal</a:t>
            </a:r>
            <a:r>
              <a:rPr lang="fr-FR" sz="4000" dirty="0" smtClean="0">
                <a:solidFill>
                  <a:schemeClr val="tx2"/>
                </a:solidFill>
              </a:rPr>
              <a:t> and </a:t>
            </a:r>
            <a:r>
              <a:rPr lang="fr-FR" sz="4000" dirty="0" err="1" smtClean="0">
                <a:solidFill>
                  <a:schemeClr val="tx2"/>
                </a:solidFill>
              </a:rPr>
              <a:t>integrals</a:t>
            </a:r>
            <a:endParaRPr lang="fr-FR" sz="4000" dirty="0">
              <a:solidFill>
                <a:schemeClr val="tx2"/>
              </a:solidFill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3B03BD6-2501-5717-B1C6-15952A328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28</a:t>
            </a:fld>
            <a:endParaRPr lang="en-US"/>
          </a:p>
        </p:txBody>
      </p:sp>
      <p:sp>
        <p:nvSpPr>
          <p:cNvPr id="11" name="Espace réservé du pied de page 3">
            <a:extLst>
              <a:ext uri="{FF2B5EF4-FFF2-40B4-BE49-F238E27FC236}">
                <a16:creationId xmlns:a16="http://schemas.microsoft.com/office/drawing/2014/main" id="{DE5413C3-A740-272F-FF1E-667AE7900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4212" y="6172200"/>
            <a:ext cx="7543800" cy="365125"/>
          </a:xfrm>
        </p:spPr>
        <p:txBody>
          <a:bodyPr/>
          <a:lstStyle/>
          <a:p>
            <a:r>
              <a:rPr lang="fr-FR" dirty="0" err="1" smtClean="0"/>
              <a:t>Aerodynamics</a:t>
            </a:r>
            <a:r>
              <a:rPr lang="fr-FR" dirty="0" smtClean="0"/>
              <a:t>  </a:t>
            </a:r>
            <a:r>
              <a:rPr lang="fr-FR" dirty="0"/>
              <a:t>- </a:t>
            </a:r>
            <a:r>
              <a:rPr lang="fr-FR" dirty="0" err="1"/>
              <a:t>Chapter</a:t>
            </a:r>
            <a:r>
              <a:rPr lang="fr-FR" dirty="0"/>
              <a:t> 1 – </a:t>
            </a:r>
            <a:r>
              <a:rPr lang="fr-FR" dirty="0" err="1"/>
              <a:t>Mathematical</a:t>
            </a:r>
            <a:r>
              <a:rPr lang="fr-FR" dirty="0"/>
              <a:t> </a:t>
            </a:r>
            <a:r>
              <a:rPr lang="fr-FR" dirty="0" err="1"/>
              <a:t>tools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84212" y="1866249"/>
            <a:ext cx="10150763" cy="2770406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ZoneTexte 12"/>
              <p:cNvSpPr txBox="1"/>
              <p:nvPr/>
            </p:nvSpPr>
            <p:spPr>
              <a:xfrm>
                <a:off x="2463583" y="3397937"/>
                <a:ext cx="6003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𝑑𝑥</m:t>
                      </m:r>
                    </m:oMath>
                  </m:oMathPara>
                </a14:m>
                <a:endParaRPr lang="fr-FR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ZoneTexte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3583" y="3397937"/>
                <a:ext cx="600364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/>
          <p:cNvSpPr/>
          <p:nvPr/>
        </p:nvSpPr>
        <p:spPr>
          <a:xfrm>
            <a:off x="2617066" y="2938366"/>
            <a:ext cx="336694" cy="31957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6" name="Connecteur droit avec flèche 15"/>
          <p:cNvCxnSpPr/>
          <p:nvPr/>
        </p:nvCxnSpPr>
        <p:spPr>
          <a:xfrm>
            <a:off x="2595418" y="3396612"/>
            <a:ext cx="336694" cy="0"/>
          </a:xfrm>
          <a:prstGeom prst="straightConnector1">
            <a:avLst/>
          </a:prstGeom>
          <a:ln>
            <a:solidFill>
              <a:srgbClr val="FF0000">
                <a:alpha val="60000"/>
              </a:srgb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avec flèche 7"/>
          <p:cNvCxnSpPr/>
          <p:nvPr/>
        </p:nvCxnSpPr>
        <p:spPr>
          <a:xfrm>
            <a:off x="452582" y="4509646"/>
            <a:ext cx="10880436" cy="0"/>
          </a:xfrm>
          <a:prstGeom prst="straightConnector1">
            <a:avLst/>
          </a:prstGeom>
          <a:ln w="76200">
            <a:solidFill>
              <a:schemeClr val="tx1">
                <a:alpha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ZoneTexte 18"/>
              <p:cNvSpPr txBox="1"/>
              <p:nvPr/>
            </p:nvSpPr>
            <p:spPr>
              <a:xfrm>
                <a:off x="10844211" y="4037009"/>
                <a:ext cx="6003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9" name="ZoneTexte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44211" y="4037009"/>
                <a:ext cx="60036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Connecteur droit avec flèche 17"/>
          <p:cNvCxnSpPr/>
          <p:nvPr/>
        </p:nvCxnSpPr>
        <p:spPr>
          <a:xfrm>
            <a:off x="684212" y="1686659"/>
            <a:ext cx="10150763" cy="0"/>
          </a:xfrm>
          <a:prstGeom prst="straightConnector1">
            <a:avLst/>
          </a:prstGeom>
          <a:ln>
            <a:solidFill>
              <a:srgbClr val="0070C0">
                <a:alpha val="60000"/>
              </a:srgb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ZoneTexte 22"/>
              <p:cNvSpPr txBox="1"/>
              <p:nvPr/>
            </p:nvSpPr>
            <p:spPr>
              <a:xfrm>
                <a:off x="5159229" y="1301194"/>
                <a:ext cx="60036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fr-FR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fr-FR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3" name="ZoneTexte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9229" y="1301194"/>
                <a:ext cx="60036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ZoneTexte 20"/>
              <p:cNvSpPr txBox="1"/>
              <p:nvPr/>
            </p:nvSpPr>
            <p:spPr>
              <a:xfrm>
                <a:off x="452582" y="5158976"/>
                <a:ext cx="10271557" cy="11464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fr-FR" dirty="0" smtClean="0"/>
                  <a:t>2D </a:t>
                </a:r>
                <a:r>
                  <a:rPr lang="fr-FR" dirty="0" err="1" smtClean="0"/>
                  <a:t>cartesian</a:t>
                </a:r>
                <a:r>
                  <a:rPr lang="fr-FR" dirty="0" smtClean="0"/>
                  <a:t> :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𝑑𝑆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𝑑𝑥𝑑𝑦</m:t>
                    </m:r>
                  </m:oMath>
                </a14:m>
                <a:endParaRPr lang="fr-FR" b="0" dirty="0" smtClean="0"/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nary>
                      <m:naryPr>
                        <m:supHide m:val="on"/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  <m:sup/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𝑑𝑆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fr-FR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sSub>
                              <m:sSub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b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</m:sup>
                          <m:e>
                            <m:nary>
                              <m:nary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fr-FR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sSub>
                                  <m:sSub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sup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𝑑𝑥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𝑑𝑦</m:t>
                                </m:r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</m:e>
                            </m:nary>
                          </m:e>
                        </m:nary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= </m:t>
                        </m:r>
                        <m:nary>
                          <m:nary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fr-FR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sSub>
                              <m:sSub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</m:sup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𝑑𝑥</m:t>
                            </m:r>
                            <m:nary>
                              <m:nary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fr-FR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sSub>
                                  <m:sSubPr>
                                    <m:ctrlP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i="1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sup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nary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</m:e>
                        </m:nary>
                      </m:e>
                    </m:nary>
                  </m:oMath>
                </a14:m>
                <a:endParaRPr lang="fr-FR" dirty="0"/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fr-FR" dirty="0"/>
                  <a:t>For a </a:t>
                </a:r>
                <a:r>
                  <a:rPr lang="fr-FR" dirty="0" err="1"/>
                  <a:t>quantity</a:t>
                </a:r>
                <a:r>
                  <a:rPr lang="fr-FR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fr-FR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acc>
                      </m:e>
                      <m:sub>
                        <m:r>
                          <a:rPr lang="fr-FR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𝑔𝑙𝑜𝑏𝑎𝑙</m:t>
                        </m:r>
                      </m:sub>
                    </m:sSub>
                    <m:r>
                      <a:rPr lang="fr-FR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fr-FR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sSub>
                          <m:sSub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sup>
                      <m:e>
                        <m:nary>
                          <m:naryPr>
                            <m:ctrlPr>
                              <a:rPr lang="fr-FR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fr-FR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sSub>
                              <m:sSub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b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</m:sup>
                          <m:e>
                            <m:acc>
                              <m:accPr>
                                <m:chr m:val="⃗"/>
                                <m:ctrlPr>
                                  <a:rPr lang="fr-FR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fr-FR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</m:acc>
                            <m:d>
                              <m:dPr>
                                <m:ctrlPr>
                                  <a:rPr lang="fr-FR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fr-FR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fr-FR" b="0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fr-FR" b="0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d>
                            <m:r>
                              <a:rPr lang="fr-FR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fr-FR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𝑑𝑥</m:t>
                            </m:r>
                          </m:e>
                        </m:nary>
                      </m:e>
                    </m:nary>
                    <m:r>
                      <a:rPr lang="fr-FR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𝑑𝑦</m:t>
                    </m:r>
                  </m:oMath>
                </a14:m>
                <a:endParaRPr lang="fr-FR" dirty="0"/>
              </a:p>
            </p:txBody>
          </p:sp>
        </mc:Choice>
        <mc:Fallback>
          <p:sp>
            <p:nvSpPr>
              <p:cNvPr id="21" name="ZoneTexte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582" y="5158976"/>
                <a:ext cx="10271557" cy="1146404"/>
              </a:xfrm>
              <a:prstGeom prst="rect">
                <a:avLst/>
              </a:prstGeom>
              <a:blipFill>
                <a:blip r:embed="rId5"/>
                <a:stretch>
                  <a:fillRect l="-1187" t="-19149" b="-6702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ZoneTexte 24"/>
              <p:cNvSpPr txBox="1"/>
              <p:nvPr/>
            </p:nvSpPr>
            <p:spPr>
              <a:xfrm>
                <a:off x="2340778" y="2896700"/>
                <a:ext cx="88452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fr-F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fr-F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fr-F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ZoneTexte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0778" y="2896700"/>
                <a:ext cx="884526" cy="369332"/>
              </a:xfrm>
              <a:prstGeom prst="rect">
                <a:avLst/>
              </a:prstGeom>
              <a:blipFill>
                <a:blip r:embed="rId6"/>
                <a:stretch>
                  <a:fillRect b="-983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Connecteur droit avec flèche 19"/>
          <p:cNvCxnSpPr/>
          <p:nvPr/>
        </p:nvCxnSpPr>
        <p:spPr>
          <a:xfrm flipV="1">
            <a:off x="835891" y="1233692"/>
            <a:ext cx="0" cy="3664124"/>
          </a:xfrm>
          <a:prstGeom prst="straightConnector1">
            <a:avLst/>
          </a:prstGeom>
          <a:ln w="76200">
            <a:solidFill>
              <a:schemeClr val="tx1">
                <a:alpha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ZoneTexte 21"/>
              <p:cNvSpPr txBox="1"/>
              <p:nvPr/>
            </p:nvSpPr>
            <p:spPr>
              <a:xfrm>
                <a:off x="300902" y="1186971"/>
                <a:ext cx="6003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2" name="ZoneTexte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902" y="1186971"/>
                <a:ext cx="600364" cy="369332"/>
              </a:xfrm>
              <a:prstGeom prst="rect">
                <a:avLst/>
              </a:prstGeom>
              <a:blipFill>
                <a:blip r:embed="rId7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Connecteur droit avec flèche 23"/>
          <p:cNvCxnSpPr/>
          <p:nvPr/>
        </p:nvCxnSpPr>
        <p:spPr>
          <a:xfrm flipV="1">
            <a:off x="10986654" y="1866249"/>
            <a:ext cx="0" cy="2770406"/>
          </a:xfrm>
          <a:prstGeom prst="straightConnector1">
            <a:avLst/>
          </a:prstGeom>
          <a:ln>
            <a:solidFill>
              <a:srgbClr val="0070C0">
                <a:alpha val="60000"/>
              </a:srgb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ZoneTexte 26"/>
              <p:cNvSpPr txBox="1"/>
              <p:nvPr/>
            </p:nvSpPr>
            <p:spPr>
              <a:xfrm>
                <a:off x="10986654" y="2938366"/>
                <a:ext cx="600364" cy="3912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fr-FR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fr-FR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7" name="ZoneTexte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86654" y="2938366"/>
                <a:ext cx="600364" cy="391261"/>
              </a:xfrm>
              <a:prstGeom prst="rect">
                <a:avLst/>
              </a:prstGeom>
              <a:blipFill>
                <a:blip r:embed="rId8"/>
                <a:stretch>
                  <a:fillRect b="-468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ZoneTexte 28"/>
              <p:cNvSpPr txBox="1"/>
              <p:nvPr/>
            </p:nvSpPr>
            <p:spPr>
              <a:xfrm rot="16200000">
                <a:off x="2953759" y="2926260"/>
                <a:ext cx="6003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𝑑𝑦</m:t>
                      </m:r>
                    </m:oMath>
                  </m:oMathPara>
                </a14:m>
                <a:endParaRPr lang="fr-FR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9" name="ZoneTexte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2953759" y="2926260"/>
                <a:ext cx="600364" cy="369332"/>
              </a:xfrm>
              <a:prstGeom prst="rect">
                <a:avLst/>
              </a:prstGeom>
              <a:blipFill>
                <a:blip r:embed="rId9"/>
                <a:stretch>
                  <a:fillRect r="-1639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Connecteur droit avec flèche 30"/>
          <p:cNvCxnSpPr/>
          <p:nvPr/>
        </p:nvCxnSpPr>
        <p:spPr>
          <a:xfrm rot="16200000">
            <a:off x="2895600" y="3084938"/>
            <a:ext cx="336694" cy="0"/>
          </a:xfrm>
          <a:prstGeom prst="straightConnector1">
            <a:avLst/>
          </a:prstGeom>
          <a:ln>
            <a:solidFill>
              <a:srgbClr val="FF0000">
                <a:alpha val="60000"/>
              </a:srgb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93797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nip Diagonal Corner Rectangle 6">
            <a:extLst>
              <a:ext uri="{FF2B5EF4-FFF2-40B4-BE49-F238E27FC236}">
                <a16:creationId xmlns:a16="http://schemas.microsoft.com/office/drawing/2014/main" id="{AD2D45C7-2E37-44FD-AC77-116CD14B9ED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25" y="2"/>
            <a:ext cx="12191075" cy="6857998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002">
            <a:schemeClr val="dk2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30" name="Snip Single Corner Rectangle 17">
            <a:extLst>
              <a:ext uri="{FF2B5EF4-FFF2-40B4-BE49-F238E27FC236}">
                <a16:creationId xmlns:a16="http://schemas.microsoft.com/office/drawing/2014/main" id="{1FF88480-2CF1-4C54-8CE3-2CA9CD9FF89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1"/>
            <a:ext cx="12188825" cy="6857999"/>
          </a:xfrm>
          <a:prstGeom prst="snip1Rect">
            <a:avLst>
              <a:gd name="adj" fmla="val 5000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8AD032B-4A83-065B-9888-6166E18B2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179592"/>
            <a:ext cx="10924692" cy="1507067"/>
          </a:xfrm>
        </p:spPr>
        <p:txBody>
          <a:bodyPr>
            <a:normAutofit/>
          </a:bodyPr>
          <a:lstStyle/>
          <a:p>
            <a:r>
              <a:rPr lang="fr-FR" sz="4000" dirty="0" err="1" smtClean="0">
                <a:solidFill>
                  <a:schemeClr val="tx2"/>
                </a:solidFill>
              </a:rPr>
              <a:t>Infinitesimal</a:t>
            </a:r>
            <a:r>
              <a:rPr lang="fr-FR" sz="4000" dirty="0" smtClean="0">
                <a:solidFill>
                  <a:schemeClr val="tx2"/>
                </a:solidFill>
              </a:rPr>
              <a:t> and </a:t>
            </a:r>
            <a:r>
              <a:rPr lang="fr-FR" sz="4000" dirty="0" err="1" smtClean="0">
                <a:solidFill>
                  <a:schemeClr val="tx2"/>
                </a:solidFill>
              </a:rPr>
              <a:t>integrals</a:t>
            </a:r>
            <a:endParaRPr lang="fr-FR" sz="4000" dirty="0">
              <a:solidFill>
                <a:schemeClr val="tx2"/>
              </a:solidFill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3B03BD6-2501-5717-B1C6-15952A328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29</a:t>
            </a:fld>
            <a:endParaRPr lang="en-US"/>
          </a:p>
        </p:txBody>
      </p:sp>
      <p:sp>
        <p:nvSpPr>
          <p:cNvPr id="11" name="Espace réservé du pied de page 3">
            <a:extLst>
              <a:ext uri="{FF2B5EF4-FFF2-40B4-BE49-F238E27FC236}">
                <a16:creationId xmlns:a16="http://schemas.microsoft.com/office/drawing/2014/main" id="{DE5413C3-A740-272F-FF1E-667AE7900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4212" y="6172200"/>
            <a:ext cx="7543800" cy="365125"/>
          </a:xfrm>
        </p:spPr>
        <p:txBody>
          <a:bodyPr/>
          <a:lstStyle/>
          <a:p>
            <a:r>
              <a:rPr lang="fr-FR" dirty="0" err="1" smtClean="0"/>
              <a:t>Aerodynamics</a:t>
            </a:r>
            <a:r>
              <a:rPr lang="fr-FR" dirty="0" smtClean="0"/>
              <a:t>  </a:t>
            </a:r>
            <a:r>
              <a:rPr lang="fr-FR" dirty="0"/>
              <a:t>- </a:t>
            </a:r>
            <a:r>
              <a:rPr lang="fr-FR" dirty="0" err="1"/>
              <a:t>Chapter</a:t>
            </a:r>
            <a:r>
              <a:rPr lang="fr-FR" dirty="0"/>
              <a:t> 1 – </a:t>
            </a:r>
            <a:r>
              <a:rPr lang="fr-FR" dirty="0" err="1"/>
              <a:t>Mathematical</a:t>
            </a:r>
            <a:r>
              <a:rPr lang="fr-FR" dirty="0"/>
              <a:t> </a:t>
            </a:r>
            <a:r>
              <a:rPr lang="fr-FR" dirty="0" err="1"/>
              <a:t>tools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ZoneTexte 20"/>
              <p:cNvSpPr txBox="1"/>
              <p:nvPr/>
            </p:nvSpPr>
            <p:spPr>
              <a:xfrm>
                <a:off x="452582" y="5158976"/>
                <a:ext cx="10271557" cy="11464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fr-FR" dirty="0" smtClean="0"/>
                  <a:t>2D polar :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𝑑𝑆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𝑑𝑟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𝑟𝑑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lang="fr-FR" b="0" dirty="0" smtClean="0"/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nary>
                      <m:naryPr>
                        <m:supHide m:val="on"/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  <m:sup/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𝑑𝑆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fr-FR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p>
                          <m:e>
                            <m:nary>
                              <m:nary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fr-FR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sup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</m:e>
                            </m:nary>
                          </m:e>
                        </m:nary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= </m:t>
                        </m:r>
                        <m:nary>
                          <m:nary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fr-FR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p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𝑟𝑑𝑟</m:t>
                            </m:r>
                            <m:nary>
                              <m:naryPr>
                                <m:ctrlPr>
                                  <a:rPr lang="fr-FR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fr-FR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sup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nary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sSup>
                              <m:sSup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p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e>
                    </m:nary>
                  </m:oMath>
                </a14:m>
                <a:endParaRPr lang="fr-FR" dirty="0"/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fr-FR" dirty="0"/>
                  <a:t>For a </a:t>
                </a:r>
                <a:r>
                  <a:rPr lang="fr-FR" dirty="0" err="1"/>
                  <a:t>quantity</a:t>
                </a:r>
                <a:r>
                  <a:rPr lang="fr-FR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fr-FR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acc>
                      </m:e>
                      <m:sub>
                        <m:r>
                          <a:rPr lang="fr-FR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𝑔𝑙𝑜𝑏𝑎𝑙</m:t>
                        </m:r>
                      </m:sub>
                    </m:sSub>
                    <m:r>
                      <a:rPr lang="fr-FR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fr-FR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p>
                      <m:e>
                        <m:nary>
                          <m:naryPr>
                            <m:ctrlPr>
                              <a:rPr lang="fr-FR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fr-FR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p>
                          <m:e>
                            <m:acc>
                              <m:accPr>
                                <m:chr m:val="⃗"/>
                                <m:ctrlPr>
                                  <a:rPr lang="fr-FR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fr-FR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</m:acc>
                            <m:d>
                              <m:dPr>
                                <m:ctrlPr>
                                  <a:rPr lang="fr-FR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fr-FR" b="0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fr-FR" b="0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fr-FR" b="0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  <m:r>
                              <a:rPr lang="fr-FR" b="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fr-FR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fr-FR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fr-FR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fr-FR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nary>
                      </m:e>
                    </m:nary>
                    <m:r>
                      <a:rPr lang="fr-FR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fr-FR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lang="fr-FR" dirty="0"/>
              </a:p>
            </p:txBody>
          </p:sp>
        </mc:Choice>
        <mc:Fallback xmlns="">
          <p:sp>
            <p:nvSpPr>
              <p:cNvPr id="21" name="ZoneTexte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582" y="5158976"/>
                <a:ext cx="10271557" cy="1146404"/>
              </a:xfrm>
              <a:prstGeom prst="rect">
                <a:avLst/>
              </a:prstGeom>
              <a:blipFill>
                <a:blip r:embed="rId2"/>
                <a:stretch>
                  <a:fillRect l="-1187" t="-19149" b="-6702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Ellipse 2"/>
          <p:cNvSpPr/>
          <p:nvPr/>
        </p:nvSpPr>
        <p:spPr>
          <a:xfrm>
            <a:off x="4429132" y="1989000"/>
            <a:ext cx="2880000" cy="288000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Secteurs 5"/>
          <p:cNvSpPr/>
          <p:nvPr/>
        </p:nvSpPr>
        <p:spPr>
          <a:xfrm rot="2338707">
            <a:off x="4429131" y="1988999"/>
            <a:ext cx="2880000" cy="2880000"/>
          </a:xfrm>
          <a:prstGeom prst="pie">
            <a:avLst>
              <a:gd name="adj1" fmla="val 15511591"/>
              <a:gd name="adj2" fmla="val 16200000"/>
            </a:avLst>
          </a:prstGeom>
          <a:solidFill>
            <a:srgbClr val="FF0000"/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26" name="Secteurs 25"/>
          <p:cNvSpPr/>
          <p:nvPr/>
        </p:nvSpPr>
        <p:spPr>
          <a:xfrm rot="2338707">
            <a:off x="4789130" y="2350273"/>
            <a:ext cx="2160000" cy="2160000"/>
          </a:xfrm>
          <a:prstGeom prst="pie">
            <a:avLst>
              <a:gd name="adj1" fmla="val 15511591"/>
              <a:gd name="adj2" fmla="val 16200000"/>
            </a:avLst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9" name="Connecteur droit avec flèche 8"/>
          <p:cNvCxnSpPr>
            <a:endCxn id="3" idx="7"/>
          </p:cNvCxnSpPr>
          <p:nvPr/>
        </p:nvCxnSpPr>
        <p:spPr>
          <a:xfrm flipV="1">
            <a:off x="6646301" y="2410766"/>
            <a:ext cx="241065" cy="273872"/>
          </a:xfrm>
          <a:prstGeom prst="straightConnector1">
            <a:avLst/>
          </a:prstGeom>
          <a:ln>
            <a:solidFill>
              <a:srgbClr val="FF0000">
                <a:alpha val="60000"/>
              </a:srgb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ZoneTexte 14"/>
              <p:cNvSpPr txBox="1"/>
              <p:nvPr/>
            </p:nvSpPr>
            <p:spPr>
              <a:xfrm>
                <a:off x="6669082" y="2431279"/>
                <a:ext cx="52788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𝑑𝑟</m:t>
                      </m:r>
                    </m:oMath>
                  </m:oMathPara>
                </a14:m>
                <a:endParaRPr lang="fr-FR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ZoneTexte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9082" y="2431279"/>
                <a:ext cx="527889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ZoneTexte 31"/>
              <p:cNvSpPr txBox="1"/>
              <p:nvPr/>
            </p:nvSpPr>
            <p:spPr>
              <a:xfrm>
                <a:off x="6556760" y="1770870"/>
                <a:ext cx="52788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𝑟𝑑</m:t>
                      </m:r>
                      <m:r>
                        <a:rPr lang="fr-FR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fr-FR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2" name="ZoneTexte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6760" y="1770870"/>
                <a:ext cx="527889" cy="369332"/>
              </a:xfrm>
              <a:prstGeom prst="rect">
                <a:avLst/>
              </a:prstGeom>
              <a:blipFill>
                <a:blip r:embed="rId4"/>
                <a:stretch>
                  <a:fillRect r="-465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Connecteur droit avec flèche 32"/>
          <p:cNvCxnSpPr/>
          <p:nvPr/>
        </p:nvCxnSpPr>
        <p:spPr>
          <a:xfrm flipV="1">
            <a:off x="5869130" y="2394823"/>
            <a:ext cx="684070" cy="1034176"/>
          </a:xfrm>
          <a:prstGeom prst="straightConnector1">
            <a:avLst/>
          </a:prstGeom>
          <a:ln>
            <a:solidFill>
              <a:schemeClr val="tx1">
                <a:alpha val="6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ZoneTexte 33"/>
              <p:cNvSpPr txBox="1"/>
              <p:nvPr/>
            </p:nvSpPr>
            <p:spPr>
              <a:xfrm>
                <a:off x="5790208" y="2684638"/>
                <a:ext cx="52788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fr-FR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ZoneTexte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0208" y="2684638"/>
                <a:ext cx="527889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Connecteur droit avec flèche 47"/>
          <p:cNvCxnSpPr/>
          <p:nvPr/>
        </p:nvCxnSpPr>
        <p:spPr>
          <a:xfrm>
            <a:off x="6553200" y="2090091"/>
            <a:ext cx="267504" cy="175341"/>
          </a:xfrm>
          <a:prstGeom prst="straightConnector1">
            <a:avLst/>
          </a:prstGeom>
          <a:ln>
            <a:solidFill>
              <a:srgbClr val="FF0000">
                <a:alpha val="60000"/>
              </a:srgb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eur droit avec flèche 51"/>
          <p:cNvCxnSpPr/>
          <p:nvPr/>
        </p:nvCxnSpPr>
        <p:spPr>
          <a:xfrm flipV="1">
            <a:off x="5113198" y="3413752"/>
            <a:ext cx="755470" cy="1239422"/>
          </a:xfrm>
          <a:prstGeom prst="straightConnector1">
            <a:avLst/>
          </a:prstGeom>
          <a:ln>
            <a:solidFill>
              <a:schemeClr val="tx1">
                <a:alpha val="6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ZoneTexte 53"/>
              <p:cNvSpPr txBox="1"/>
              <p:nvPr/>
            </p:nvSpPr>
            <p:spPr>
              <a:xfrm>
                <a:off x="4792395" y="4618669"/>
                <a:ext cx="54126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54" name="ZoneTexte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2395" y="4618669"/>
                <a:ext cx="541266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373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nip Diagonal Corner Rectangle 6">
            <a:extLst>
              <a:ext uri="{FF2B5EF4-FFF2-40B4-BE49-F238E27FC236}">
                <a16:creationId xmlns:a16="http://schemas.microsoft.com/office/drawing/2014/main" id="{AD2D45C7-2E37-44FD-AC77-116CD14B9ED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25" y="2"/>
            <a:ext cx="12191075" cy="6857998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002">
            <a:schemeClr val="dk2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30" name="Snip Single Corner Rectangle 17">
            <a:extLst>
              <a:ext uri="{FF2B5EF4-FFF2-40B4-BE49-F238E27FC236}">
                <a16:creationId xmlns:a16="http://schemas.microsoft.com/office/drawing/2014/main" id="{1FF88480-2CF1-4C54-8CE3-2CA9CD9FF89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1"/>
            <a:ext cx="12188825" cy="6857999"/>
          </a:xfrm>
          <a:prstGeom prst="snip1Rect">
            <a:avLst>
              <a:gd name="adj" fmla="val 5000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8AD032B-4A83-065B-9888-6166E18B2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179592"/>
            <a:ext cx="10924692" cy="1507067"/>
          </a:xfrm>
        </p:spPr>
        <p:txBody>
          <a:bodyPr>
            <a:normAutofit/>
          </a:bodyPr>
          <a:lstStyle/>
          <a:p>
            <a:r>
              <a:rPr lang="fr-FR" sz="4000" dirty="0" err="1" smtClean="0">
                <a:solidFill>
                  <a:schemeClr val="tx2"/>
                </a:solidFill>
              </a:rPr>
              <a:t>Infinitesimal</a:t>
            </a:r>
            <a:r>
              <a:rPr lang="fr-FR" sz="4000" dirty="0" smtClean="0">
                <a:solidFill>
                  <a:schemeClr val="tx2"/>
                </a:solidFill>
              </a:rPr>
              <a:t> and </a:t>
            </a:r>
            <a:r>
              <a:rPr lang="fr-FR" sz="4000" dirty="0" err="1" smtClean="0">
                <a:solidFill>
                  <a:schemeClr val="tx2"/>
                </a:solidFill>
              </a:rPr>
              <a:t>integrals</a:t>
            </a:r>
            <a:endParaRPr lang="fr-FR" sz="4000" dirty="0">
              <a:solidFill>
                <a:schemeClr val="tx2"/>
              </a:solidFill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3B03BD6-2501-5717-B1C6-15952A328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30</a:t>
            </a:fld>
            <a:endParaRPr lang="en-US"/>
          </a:p>
        </p:txBody>
      </p:sp>
      <p:sp>
        <p:nvSpPr>
          <p:cNvPr id="11" name="Espace réservé du pied de page 3">
            <a:extLst>
              <a:ext uri="{FF2B5EF4-FFF2-40B4-BE49-F238E27FC236}">
                <a16:creationId xmlns:a16="http://schemas.microsoft.com/office/drawing/2014/main" id="{DE5413C3-A740-272F-FF1E-667AE7900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4212" y="6172200"/>
            <a:ext cx="7543800" cy="365125"/>
          </a:xfrm>
        </p:spPr>
        <p:txBody>
          <a:bodyPr/>
          <a:lstStyle/>
          <a:p>
            <a:r>
              <a:rPr lang="fr-FR" dirty="0" err="1" smtClean="0"/>
              <a:t>Aerodynamics</a:t>
            </a:r>
            <a:r>
              <a:rPr lang="fr-FR" dirty="0" smtClean="0"/>
              <a:t>  </a:t>
            </a:r>
            <a:r>
              <a:rPr lang="fr-FR" dirty="0"/>
              <a:t>- </a:t>
            </a:r>
            <a:r>
              <a:rPr lang="fr-FR" dirty="0" err="1"/>
              <a:t>Chapter</a:t>
            </a:r>
            <a:r>
              <a:rPr lang="fr-FR" dirty="0"/>
              <a:t> 1 – </a:t>
            </a:r>
            <a:r>
              <a:rPr lang="fr-FR" dirty="0" err="1"/>
              <a:t>Mathematical</a:t>
            </a:r>
            <a:r>
              <a:rPr lang="fr-FR" dirty="0"/>
              <a:t> </a:t>
            </a:r>
            <a:r>
              <a:rPr lang="fr-FR" dirty="0" err="1"/>
              <a:t>tools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ZoneTexte 3"/>
              <p:cNvSpPr txBox="1"/>
              <p:nvPr/>
            </p:nvSpPr>
            <p:spPr>
              <a:xfrm>
                <a:off x="190500" y="1501140"/>
                <a:ext cx="8869680" cy="29518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fr-FR" dirty="0" smtClean="0"/>
                  <a:t>Integrals over a </a:t>
                </a:r>
                <a:r>
                  <a:rPr lang="fr-FR" dirty="0" err="1" smtClean="0"/>
                  <a:t>closed</a:t>
                </a:r>
                <a:r>
                  <a:rPr lang="fr-FR" dirty="0"/>
                  <a:t> </a:t>
                </a:r>
                <a:r>
                  <a:rPr lang="fr-FR" dirty="0" err="1" smtClean="0"/>
                  <a:t>curve</a:t>
                </a:r>
                <a:r>
                  <a:rPr lang="fr-FR" dirty="0" smtClean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∮"/>
                        <m:limLoc m:val="undOvr"/>
                        <m:subHide m:val="on"/>
                        <m:supHide m:val="on"/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/>
                    </m:nary>
                    <m:r>
                      <a:rPr lang="fr-FR" b="0" i="1" smtClean="0"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endParaRPr lang="fr-FR" b="0" dirty="0" smtClean="0"/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endParaRPr lang="fr-FR" dirty="0"/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fr-FR" b="0" dirty="0" smtClean="0"/>
                  <a:t>Stockes </a:t>
                </a:r>
                <a:r>
                  <a:rPr lang="fr-FR" b="0" dirty="0" err="1" smtClean="0"/>
                  <a:t>theorem</a:t>
                </a:r>
                <a:r>
                  <a:rPr lang="fr-FR" b="0" dirty="0" smtClean="0"/>
                  <a:t> : </a:t>
                </a:r>
                <a14:m>
                  <m:oMath xmlns:m="http://schemas.openxmlformats.org/officeDocument/2006/math">
                    <m:nary>
                      <m:naryPr>
                        <m:chr m:val="∮"/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  <m:sup/>
                      <m:e>
                        <m:acc>
                          <m:accPr>
                            <m:chr m:val="⃗"/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acc>
                        <m:r>
                          <a:rPr lang="fr-FR" b="0" i="1" dirty="0" smtClean="0"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fr-FR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b="0" i="1" dirty="0" smtClean="0">
                                <a:latin typeface="Cambria Math" panose="02040503050406030204" pitchFamily="18" charset="0"/>
                              </a:rPr>
                              <m:t>𝑑𝑙</m:t>
                            </m:r>
                          </m:e>
                        </m:acc>
                        <m:r>
                          <a:rPr lang="fr-FR" b="0" i="1" dirty="0" smtClean="0">
                            <a:latin typeface="Cambria Math" panose="02040503050406030204" pitchFamily="18" charset="0"/>
                          </a:rPr>
                          <m:t>= </m:t>
                        </m:r>
                        <m:nary>
                          <m:naryPr>
                            <m:chr m:val="∬"/>
                            <m:ctrlPr>
                              <a:rPr lang="fr-FR" b="0" i="1" dirty="0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fr-FR" b="0" i="1" dirty="0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b>
                          <m:sup/>
                          <m:e>
                            <m:d>
                              <m:dPr>
                                <m:ctrlPr>
                                  <a:rPr lang="fr-FR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⃗"/>
                                    <m:ctrlPr>
                                      <a:rPr lang="fr-FR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fr-FR" b="0" i="0" dirty="0" smtClean="0">
                                        <a:latin typeface="Cambria Math" panose="02040503050406030204" pitchFamily="18" charset="0"/>
                                      </a:rPr>
                                      <m:t>𝛻</m:t>
                                    </m:r>
                                  </m:e>
                                </m:acc>
                                <m:r>
                                  <a:rPr lang="fr-FR" b="0" i="1" dirty="0" smtClean="0">
                                    <a:latin typeface="Cambria Math" panose="02040503050406030204" pitchFamily="18" charset="0"/>
                                  </a:rPr>
                                  <m:t>∧</m:t>
                                </m:r>
                                <m:acc>
                                  <m:accPr>
                                    <m:chr m:val="⃗"/>
                                    <m:ctrlPr>
                                      <a:rPr lang="fr-FR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fr-FR" b="0" i="1" dirty="0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</m:acc>
                              </m:e>
                            </m:d>
                            <m:r>
                              <a:rPr lang="fr-FR" b="0" i="1" dirty="0" smtClean="0">
                                <a:latin typeface="Cambria Math" panose="02040503050406030204" pitchFamily="18" charset="0"/>
                              </a:rPr>
                              <m:t>⋅</m:t>
                            </m:r>
                            <m:acc>
                              <m:accPr>
                                <m:chr m:val="⃗"/>
                                <m:ctrlPr>
                                  <a:rPr lang="fr-FR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fr-FR" b="0" i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acc>
                            <m:r>
                              <a:rPr lang="fr-FR" b="0" i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fr-FR" b="0" i="1" dirty="0" smtClean="0">
                                <a:latin typeface="Cambria Math" panose="02040503050406030204" pitchFamily="18" charset="0"/>
                              </a:rPr>
                              <m:t>𝑑𝑆</m:t>
                            </m:r>
                          </m:e>
                        </m:nary>
                      </m:e>
                    </m:nary>
                  </m:oMath>
                </a14:m>
                <a:endParaRPr lang="fr-FR" b="0" dirty="0" smtClean="0"/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endParaRPr lang="fr-FR" dirty="0" smtClean="0"/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fr-FR" dirty="0" err="1" smtClean="0"/>
                  <a:t>Integrals</a:t>
                </a:r>
                <a:r>
                  <a:rPr lang="fr-FR" dirty="0" smtClean="0"/>
                  <a:t> over a </a:t>
                </a:r>
                <a:r>
                  <a:rPr lang="fr-FR" dirty="0" err="1" smtClean="0"/>
                  <a:t>closed</a:t>
                </a:r>
                <a:r>
                  <a:rPr lang="fr-FR" dirty="0" smtClean="0"/>
                  <a:t> surface </a:t>
                </a:r>
                <a14:m>
                  <m:oMath xmlns:m="http://schemas.openxmlformats.org/officeDocument/2006/math">
                    <m:nary>
                      <m:naryPr>
                        <m:chr m:val="∯"/>
                        <m:limLoc m:val="undOvr"/>
                        <m:subHide m:val="on"/>
                        <m:supHide m:val="on"/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/>
                    </m:nary>
                    <m:r>
                      <a:rPr lang="fr-FR" b="0" i="1" smtClean="0"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endParaRPr lang="fr-FR" b="0" dirty="0" smtClean="0"/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endParaRPr lang="fr-FR" dirty="0"/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fr-FR" b="0" dirty="0" smtClean="0"/>
                  <a:t>Gauss-</a:t>
                </a:r>
                <a:r>
                  <a:rPr lang="fr-FR" b="0" dirty="0" err="1" smtClean="0"/>
                  <a:t>Ostrogradsky</a:t>
                </a:r>
                <a:r>
                  <a:rPr lang="fr-FR" b="0" dirty="0" smtClean="0"/>
                  <a:t> </a:t>
                </a:r>
                <a:r>
                  <a:rPr lang="fr-FR" b="0" dirty="0" err="1" smtClean="0"/>
                  <a:t>theorem</a:t>
                </a:r>
                <a:r>
                  <a:rPr lang="fr-FR" b="0" dirty="0" smtClean="0"/>
                  <a:t> :</a:t>
                </a:r>
                <a14:m>
                  <m:oMath xmlns:m="http://schemas.openxmlformats.org/officeDocument/2006/math">
                    <m:nary>
                      <m:naryPr>
                        <m:chr m:val="∯"/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  <m:sup/>
                      <m:e>
                        <m:acc>
                          <m:accPr>
                            <m:chr m:val="⃗"/>
                            <m:ctrlPr>
                              <a:rPr lang="fr-FR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b="0" i="1" dirty="0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acc>
                        <m:r>
                          <a:rPr lang="fr-FR" b="0" i="1" dirty="0" smtClean="0"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fr-FR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acc>
                        <m:r>
                          <a:rPr lang="fr-FR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b="0" i="1" dirty="0" smtClean="0">
                            <a:latin typeface="Cambria Math" panose="02040503050406030204" pitchFamily="18" charset="0"/>
                          </a:rPr>
                          <m:t>𝑑𝑆</m:t>
                        </m:r>
                        <m:r>
                          <a:rPr lang="fr-FR" b="0" i="1" dirty="0" smtClean="0">
                            <a:latin typeface="Cambria Math" panose="02040503050406030204" pitchFamily="18" charset="0"/>
                          </a:rPr>
                          <m:t>= </m:t>
                        </m:r>
                        <m:nary>
                          <m:naryPr>
                            <m:chr m:val="∭"/>
                            <m:ctrlPr>
                              <a:rPr lang="fr-FR" b="0" i="1" dirty="0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fr-FR" b="0" i="1" dirty="0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sub>
                          <m:sup/>
                          <m:e>
                            <m:acc>
                              <m:accPr>
                                <m:chr m:val="⃗"/>
                                <m:ctrlPr>
                                  <a:rPr lang="fr-FR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fr-FR" b="0" i="0" dirty="0" smtClean="0">
                                    <a:latin typeface="Cambria Math" panose="02040503050406030204" pitchFamily="18" charset="0"/>
                                  </a:rPr>
                                  <m:t>𝛻</m:t>
                                </m:r>
                              </m:e>
                            </m:acc>
                            <m:r>
                              <a:rPr lang="fr-FR" b="0" i="1" dirty="0" smtClean="0">
                                <a:latin typeface="Cambria Math" panose="02040503050406030204" pitchFamily="18" charset="0"/>
                              </a:rPr>
                              <m:t>⋅</m:t>
                            </m:r>
                            <m:acc>
                              <m:accPr>
                                <m:chr m:val="⃗"/>
                                <m:ctrlPr>
                                  <a:rPr lang="fr-FR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fr-FR" b="0" i="1" dirty="0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</m:acc>
                            <m:r>
                              <a:rPr lang="fr-FR" b="0" i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fr-FR" b="0" i="1" dirty="0" smtClean="0">
                                <a:latin typeface="Cambria Math" panose="02040503050406030204" pitchFamily="18" charset="0"/>
                              </a:rPr>
                              <m:t>𝑑𝑉</m:t>
                            </m:r>
                          </m:e>
                        </m:nary>
                      </m:e>
                    </m:nary>
                  </m:oMath>
                </a14:m>
                <a:endParaRPr lang="fr-FR" b="0" dirty="0" smtClean="0"/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endParaRPr lang="fr-FR" dirty="0" smtClean="0"/>
              </a:p>
              <a:p>
                <a:endParaRPr lang="fr-FR" dirty="0"/>
              </a:p>
            </p:txBody>
          </p:sp>
        </mc:Choice>
        <mc:Fallback xmlns="">
          <p:sp>
            <p:nvSpPr>
              <p:cNvPr id="4" name="ZoneText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" y="1501140"/>
                <a:ext cx="8869680" cy="2951898"/>
              </a:xfrm>
              <a:prstGeom prst="rect">
                <a:avLst/>
              </a:prstGeom>
              <a:blipFill>
                <a:blip r:embed="rId2"/>
                <a:stretch>
                  <a:fillRect l="-412" t="-18388" b="-640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797968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ecteur">
  <a:themeElements>
    <a:clrScheme name="Secteur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ecteur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ecteur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535</TotalTime>
  <Words>3738</Words>
  <Application>Microsoft Office PowerPoint</Application>
  <PresentationFormat>Grand écran</PresentationFormat>
  <Paragraphs>307</Paragraphs>
  <Slides>30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30</vt:i4>
      </vt:variant>
    </vt:vector>
  </HeadingPairs>
  <TitlesOfParts>
    <vt:vector size="39" baseType="lpstr">
      <vt:lpstr>Arial</vt:lpstr>
      <vt:lpstr>Calibri</vt:lpstr>
      <vt:lpstr>Cambria Math</vt:lpstr>
      <vt:lpstr>Century Gothic</vt:lpstr>
      <vt:lpstr>Inter</vt:lpstr>
      <vt:lpstr>Times New Roman</vt:lpstr>
      <vt:lpstr>Wingdings</vt:lpstr>
      <vt:lpstr>Wingdings 3</vt:lpstr>
      <vt:lpstr>Secteur</vt:lpstr>
      <vt:lpstr>Aerodynamics</vt:lpstr>
      <vt:lpstr>Plan</vt:lpstr>
      <vt:lpstr>Modelisation of quantities</vt:lpstr>
      <vt:lpstr>Einstein notation</vt:lpstr>
      <vt:lpstr>Derivatives</vt:lpstr>
      <vt:lpstr>Derivatives</vt:lpstr>
      <vt:lpstr>Derivatives - Partial derivatives</vt:lpstr>
      <vt:lpstr>Derivatives - Partial derivatives</vt:lpstr>
      <vt:lpstr>DERIVATIVES - DIFFERENTIAL</vt:lpstr>
      <vt:lpstr>Derivatives – Vectorial functions</vt:lpstr>
      <vt:lpstr>Derivatives – Matrix function</vt:lpstr>
      <vt:lpstr>Operators</vt:lpstr>
      <vt:lpstr>Operators - Nabla</vt:lpstr>
      <vt:lpstr>Operators - Gradient</vt:lpstr>
      <vt:lpstr>Operators - Gradient</vt:lpstr>
      <vt:lpstr>Operators - Gradient</vt:lpstr>
      <vt:lpstr>Operators - divergence</vt:lpstr>
      <vt:lpstr>Operators - divergence</vt:lpstr>
      <vt:lpstr>Operators – divergence for matrices</vt:lpstr>
      <vt:lpstr>Operators -rotational</vt:lpstr>
      <vt:lpstr>Operators - rotational</vt:lpstr>
      <vt:lpstr>Operators – laplacian</vt:lpstr>
      <vt:lpstr>Operators – laplacian for vectors</vt:lpstr>
      <vt:lpstr>Operators – Relations</vt:lpstr>
      <vt:lpstr>Infinitesimal and integrals</vt:lpstr>
      <vt:lpstr>Infinitesimal and integrals</vt:lpstr>
      <vt:lpstr>Infinitesimal and integrals</vt:lpstr>
      <vt:lpstr>Infinitesimal and integrals</vt:lpstr>
      <vt:lpstr>Infinitesimal and integrals</vt:lpstr>
      <vt:lpstr>Infinitesimal and integrals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Aérodynamique</dc:title>
  <dc:creator>Nicolas VAUCHEL</dc:creator>
  <cp:lastModifiedBy>Vauchel Nicolas</cp:lastModifiedBy>
  <cp:revision>156</cp:revision>
  <dcterms:created xsi:type="dcterms:W3CDTF">2023-11-04T15:22:55Z</dcterms:created>
  <dcterms:modified xsi:type="dcterms:W3CDTF">2024-01-17T16:57:17Z</dcterms:modified>
</cp:coreProperties>
</file>